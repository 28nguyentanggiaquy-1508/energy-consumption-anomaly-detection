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Noto Sans Bold" charset="1" panose="020B0802040504020204"/>
      <p:regular r:id="rId23"/>
    </p:embeddedFont>
    <p:embeddedFont>
      <p:font typeface="Noto Sans" charset="1" panose="020B0502040504020204"/>
      <p:regular r:id="rId24"/>
    </p:embeddedFont>
    <p:embeddedFont>
      <p:font typeface="Times New Roman Bold" charset="1" panose="02020803070505020304"/>
      <p:regular r:id="rId25"/>
    </p:embeddedFont>
    <p:embeddedFont>
      <p:font typeface="Times New Roman" charset="1" panose="020206030504050203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7.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8.png" Type="http://schemas.openxmlformats.org/officeDocument/2006/relationships/image"/><Relationship Id="rId4" Target="../media/image19.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028700" y="1315441"/>
            <a:ext cx="9341192" cy="7701883"/>
            <a:chOff x="0" y="0"/>
            <a:chExt cx="3407692" cy="2809668"/>
          </a:xfrm>
        </p:grpSpPr>
        <p:sp>
          <p:nvSpPr>
            <p:cNvPr name="Freeform 4" id="4"/>
            <p:cNvSpPr/>
            <p:nvPr/>
          </p:nvSpPr>
          <p:spPr>
            <a:xfrm flipH="false" flipV="false" rot="0">
              <a:off x="0" y="0"/>
              <a:ext cx="3407692" cy="2809668"/>
            </a:xfrm>
            <a:custGeom>
              <a:avLst/>
              <a:gdLst/>
              <a:ahLst/>
              <a:cxnLst/>
              <a:rect r="r" b="b" t="t" l="l"/>
              <a:pathLst>
                <a:path h="2809668" w="3407692">
                  <a:moveTo>
                    <a:pt x="0" y="0"/>
                  </a:moveTo>
                  <a:lnTo>
                    <a:pt x="3407692" y="0"/>
                  </a:lnTo>
                  <a:lnTo>
                    <a:pt x="3407692" y="2809668"/>
                  </a:lnTo>
                  <a:lnTo>
                    <a:pt x="0" y="2809668"/>
                  </a:lnTo>
                  <a:close/>
                </a:path>
              </a:pathLst>
            </a:custGeom>
            <a:solidFill>
              <a:srgbClr val="FFFFFF"/>
            </a:solidFill>
          </p:spPr>
        </p:sp>
      </p:grpSp>
      <p:sp>
        <p:nvSpPr>
          <p:cNvPr name="TextBox 5" id="5"/>
          <p:cNvSpPr txBox="true"/>
          <p:nvPr/>
        </p:nvSpPr>
        <p:spPr>
          <a:xfrm rot="0">
            <a:off x="1231897" y="2473328"/>
            <a:ext cx="9144000" cy="727072"/>
          </a:xfrm>
          <a:prstGeom prst="rect">
            <a:avLst/>
          </a:prstGeom>
        </p:spPr>
        <p:txBody>
          <a:bodyPr anchor="t" rtlCol="false" tIns="0" lIns="0" bIns="0" rIns="0">
            <a:spAutoFit/>
          </a:bodyPr>
          <a:lstStyle/>
          <a:p>
            <a:pPr algn="l">
              <a:lnSpc>
                <a:spcPts val="4317"/>
              </a:lnSpc>
            </a:pPr>
            <a:r>
              <a:rPr lang="en-US" sz="2998" b="true">
                <a:solidFill>
                  <a:srgbClr val="0643A6"/>
                </a:solidFill>
                <a:latin typeface="Noto Sans Bold"/>
                <a:ea typeface="Noto Sans Bold"/>
                <a:cs typeface="Noto Sans Bold"/>
                <a:sym typeface="Noto Sans Bold"/>
              </a:rPr>
              <a:t>ĐỒ ÁN KHAI PHÁ DỮ LIỆU</a:t>
            </a:r>
          </a:p>
        </p:txBody>
      </p:sp>
      <p:sp>
        <p:nvSpPr>
          <p:cNvPr name="TextBox 6" id="6"/>
          <p:cNvSpPr txBox="true"/>
          <p:nvPr/>
        </p:nvSpPr>
        <p:spPr>
          <a:xfrm rot="0">
            <a:off x="1231897" y="3543300"/>
            <a:ext cx="9842497" cy="3302003"/>
          </a:xfrm>
          <a:prstGeom prst="rect">
            <a:avLst/>
          </a:prstGeom>
        </p:spPr>
        <p:txBody>
          <a:bodyPr anchor="t" rtlCol="false" tIns="0" lIns="0" bIns="0" rIns="0">
            <a:spAutoFit/>
          </a:bodyPr>
          <a:lstStyle/>
          <a:p>
            <a:pPr algn="l">
              <a:lnSpc>
                <a:spcPts val="7199"/>
              </a:lnSpc>
            </a:pPr>
            <a:r>
              <a:rPr lang="en-US" sz="4999" b="true">
                <a:solidFill>
                  <a:srgbClr val="0643A6"/>
                </a:solidFill>
                <a:latin typeface="Noto Sans Bold"/>
                <a:ea typeface="Noto Sans Bold"/>
                <a:cs typeface="Noto Sans Bold"/>
                <a:sym typeface="Noto Sans Bold"/>
              </a:rPr>
              <a:t>DỰ BÁO ĐIỆN NĂNG</a:t>
            </a:r>
          </a:p>
          <a:p>
            <a:pPr algn="l">
              <a:lnSpc>
                <a:spcPts val="7199"/>
              </a:lnSpc>
            </a:pPr>
            <a:r>
              <a:rPr lang="en-US" sz="4999" b="true">
                <a:solidFill>
                  <a:srgbClr val="0643A6"/>
                </a:solidFill>
                <a:latin typeface="Noto Sans Bold"/>
                <a:ea typeface="Noto Sans Bold"/>
                <a:cs typeface="Noto Sans Bold"/>
                <a:sym typeface="Noto Sans Bold"/>
              </a:rPr>
              <a:t>VÀ PHÁT HIỆN</a:t>
            </a:r>
          </a:p>
          <a:p>
            <a:pPr algn="l">
              <a:lnSpc>
                <a:spcPts val="7199"/>
              </a:lnSpc>
            </a:pPr>
            <a:r>
              <a:rPr lang="en-US" sz="4999" b="true">
                <a:solidFill>
                  <a:srgbClr val="0643A6"/>
                </a:solidFill>
                <a:latin typeface="Noto Sans Bold"/>
                <a:ea typeface="Noto Sans Bold"/>
                <a:cs typeface="Noto Sans Bold"/>
                <a:sym typeface="Noto Sans Bold"/>
              </a:rPr>
              <a:t>BẤT THƯỜNG</a:t>
            </a:r>
          </a:p>
        </p:txBody>
      </p:sp>
      <p:sp>
        <p:nvSpPr>
          <p:cNvPr name="AutoShape 7" id="7"/>
          <p:cNvSpPr/>
          <p:nvPr/>
        </p:nvSpPr>
        <p:spPr>
          <a:xfrm rot="28020">
            <a:off x="1225420" y="6996112"/>
            <a:ext cx="7785364" cy="0"/>
          </a:xfrm>
          <a:prstGeom prst="line">
            <a:avLst/>
          </a:prstGeom>
          <a:ln cap="rnd" w="28575">
            <a:solidFill>
              <a:srgbClr val="0643A6"/>
            </a:solidFill>
            <a:prstDash val="solid"/>
            <a:headEnd type="none" len="sm" w="sm"/>
            <a:tailEnd type="none" len="sm" w="sm"/>
          </a:ln>
        </p:spPr>
      </p:sp>
      <p:sp>
        <p:nvSpPr>
          <p:cNvPr name="TextBox 8" id="8"/>
          <p:cNvSpPr txBox="true"/>
          <p:nvPr/>
        </p:nvSpPr>
        <p:spPr>
          <a:xfrm rot="0">
            <a:off x="1225549" y="7465990"/>
            <a:ext cx="14097000" cy="784222"/>
          </a:xfrm>
          <a:prstGeom prst="rect">
            <a:avLst/>
          </a:prstGeom>
        </p:spPr>
        <p:txBody>
          <a:bodyPr anchor="t" rtlCol="false" tIns="0" lIns="0" bIns="0" rIns="0">
            <a:spAutoFit/>
          </a:bodyPr>
          <a:lstStyle/>
          <a:p>
            <a:pPr algn="l">
              <a:lnSpc>
                <a:spcPts val="3021"/>
              </a:lnSpc>
            </a:pPr>
            <a:r>
              <a:rPr lang="en-US" sz="2098">
                <a:solidFill>
                  <a:srgbClr val="53637A"/>
                </a:solidFill>
                <a:latin typeface="Noto Sans"/>
                <a:ea typeface="Noto Sans"/>
                <a:cs typeface="Noto Sans"/>
                <a:sym typeface="Noto Sans"/>
              </a:rPr>
              <a:t>NHÓM 7  ·  Nguyễn Tăng Gia Quý  ·  Văn Phước Nhật Phi  ·  Chu Văn Nam</a:t>
            </a:r>
          </a:p>
        </p:txBody>
      </p:sp>
      <p:sp>
        <p:nvSpPr>
          <p:cNvPr name="Freeform 9" id="9"/>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10369892" y="1315441"/>
            <a:ext cx="6978279" cy="7701883"/>
            <a:chOff x="0" y="0"/>
            <a:chExt cx="2545695" cy="2809668"/>
          </a:xfrm>
        </p:grpSpPr>
        <p:sp>
          <p:nvSpPr>
            <p:cNvPr name="Freeform 11" id="11"/>
            <p:cNvSpPr/>
            <p:nvPr/>
          </p:nvSpPr>
          <p:spPr>
            <a:xfrm flipH="false" flipV="false" rot="0">
              <a:off x="0" y="0"/>
              <a:ext cx="2545695" cy="2809668"/>
            </a:xfrm>
            <a:custGeom>
              <a:avLst/>
              <a:gdLst/>
              <a:ahLst/>
              <a:cxnLst/>
              <a:rect r="r" b="b" t="t" l="l"/>
              <a:pathLst>
                <a:path h="2809668" w="2545695">
                  <a:moveTo>
                    <a:pt x="0" y="0"/>
                  </a:moveTo>
                  <a:lnTo>
                    <a:pt x="2545695" y="0"/>
                  </a:lnTo>
                  <a:lnTo>
                    <a:pt x="2545695" y="2809668"/>
                  </a:lnTo>
                  <a:lnTo>
                    <a:pt x="0" y="2809668"/>
                  </a:lnTo>
                  <a:close/>
                </a:path>
              </a:pathLst>
            </a:custGeom>
            <a:solidFill>
              <a:srgbClr val="FFFFFF"/>
            </a:solidFill>
          </p:spPr>
        </p:sp>
      </p:grpSp>
      <p:sp>
        <p:nvSpPr>
          <p:cNvPr name="Freeform 12" id="12"/>
          <p:cNvSpPr/>
          <p:nvPr/>
        </p:nvSpPr>
        <p:spPr>
          <a:xfrm flipH="false" flipV="false" rot="0">
            <a:off x="10692016" y="4401714"/>
            <a:ext cx="6225288" cy="3893634"/>
          </a:xfrm>
          <a:custGeom>
            <a:avLst/>
            <a:gdLst/>
            <a:ahLst/>
            <a:cxnLst/>
            <a:rect r="r" b="b" t="t" l="l"/>
            <a:pathLst>
              <a:path h="3893634" w="6225288">
                <a:moveTo>
                  <a:pt x="0" y="0"/>
                </a:moveTo>
                <a:lnTo>
                  <a:pt x="6225288" y="0"/>
                </a:lnTo>
                <a:lnTo>
                  <a:pt x="6225288" y="3893634"/>
                </a:lnTo>
                <a:lnTo>
                  <a:pt x="0" y="38936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false" flipV="false" rot="0">
            <a:off x="16100246" y="3001723"/>
            <a:ext cx="441616" cy="633141"/>
          </a:xfrm>
          <a:custGeom>
            <a:avLst/>
            <a:gdLst/>
            <a:ahLst/>
            <a:cxnLst/>
            <a:rect r="r" b="b" t="t" l="l"/>
            <a:pathLst>
              <a:path h="633141" w="441616">
                <a:moveTo>
                  <a:pt x="0" y="0"/>
                </a:moveTo>
                <a:lnTo>
                  <a:pt x="441616" y="0"/>
                </a:lnTo>
                <a:lnTo>
                  <a:pt x="441616" y="633141"/>
                </a:lnTo>
                <a:lnTo>
                  <a:pt x="0" y="6331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4" id="14"/>
          <p:cNvSpPr/>
          <p:nvPr/>
        </p:nvSpPr>
        <p:spPr>
          <a:xfrm flipH="false" flipV="false" rot="-203414">
            <a:off x="11173930" y="3499519"/>
            <a:ext cx="321948" cy="461574"/>
          </a:xfrm>
          <a:custGeom>
            <a:avLst/>
            <a:gdLst/>
            <a:ahLst/>
            <a:cxnLst/>
            <a:rect r="r" b="b" t="t" l="l"/>
            <a:pathLst>
              <a:path h="461574" w="321948">
                <a:moveTo>
                  <a:pt x="0" y="0"/>
                </a:moveTo>
                <a:lnTo>
                  <a:pt x="321948" y="0"/>
                </a:lnTo>
                <a:lnTo>
                  <a:pt x="321948" y="461574"/>
                </a:lnTo>
                <a:lnTo>
                  <a:pt x="0" y="461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2690344" y="1991652"/>
            <a:ext cx="2228632" cy="1815322"/>
          </a:xfrm>
          <a:custGeom>
            <a:avLst/>
            <a:gdLst/>
            <a:ahLst/>
            <a:cxnLst/>
            <a:rect r="r" b="b" t="t" l="l"/>
            <a:pathLst>
              <a:path h="1815322" w="2228632">
                <a:moveTo>
                  <a:pt x="0" y="0"/>
                </a:moveTo>
                <a:lnTo>
                  <a:pt x="2228632" y="0"/>
                </a:lnTo>
                <a:lnTo>
                  <a:pt x="2228632" y="1815322"/>
                </a:lnTo>
                <a:lnTo>
                  <a:pt x="0" y="181532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1066364" y="2479225"/>
            <a:ext cx="16205197" cy="6201240"/>
            <a:chOff x="0" y="0"/>
            <a:chExt cx="5911700" cy="2262229"/>
          </a:xfrm>
        </p:grpSpPr>
        <p:sp>
          <p:nvSpPr>
            <p:cNvPr name="Freeform 4" id="4"/>
            <p:cNvSpPr/>
            <p:nvPr/>
          </p:nvSpPr>
          <p:spPr>
            <a:xfrm flipH="false" flipV="false" rot="0">
              <a:off x="0" y="0"/>
              <a:ext cx="5911700" cy="2262229"/>
            </a:xfrm>
            <a:custGeom>
              <a:avLst/>
              <a:gdLst/>
              <a:ahLst/>
              <a:cxnLst/>
              <a:rect r="r" b="b" t="t" l="l"/>
              <a:pathLst>
                <a:path h="2262229" w="5911700">
                  <a:moveTo>
                    <a:pt x="0" y="0"/>
                  </a:moveTo>
                  <a:lnTo>
                    <a:pt x="5911700" y="0"/>
                  </a:lnTo>
                  <a:lnTo>
                    <a:pt x="5911700" y="2262229"/>
                  </a:lnTo>
                  <a:lnTo>
                    <a:pt x="0" y="2262229"/>
                  </a:lnTo>
                  <a:close/>
                </a:path>
              </a:pathLst>
            </a:custGeom>
            <a:solidFill>
              <a:srgbClr val="FFFFFF"/>
            </a:solidFill>
          </p:spPr>
        </p:sp>
      </p:grpSp>
      <p:sp>
        <p:nvSpPr>
          <p:cNvPr name="TextBox 5" id="5"/>
          <p:cNvSpPr txBox="true"/>
          <p:nvPr/>
        </p:nvSpPr>
        <p:spPr>
          <a:xfrm rot="0">
            <a:off x="990600" y="717547"/>
            <a:ext cx="16306800" cy="1606553"/>
          </a:xfrm>
          <a:prstGeom prst="rect">
            <a:avLst/>
          </a:prstGeom>
        </p:spPr>
        <p:txBody>
          <a:bodyPr anchor="t" rtlCol="false" tIns="0" lIns="0" bIns="0" rIns="0">
            <a:spAutoFit/>
          </a:bodyPr>
          <a:lstStyle/>
          <a:p>
            <a:pPr algn="l">
              <a:lnSpc>
                <a:spcPts val="8637"/>
              </a:lnSpc>
            </a:pPr>
            <a:r>
              <a:rPr lang="en-US" sz="5998" b="true">
                <a:solidFill>
                  <a:srgbClr val="0643A6"/>
                </a:solidFill>
                <a:latin typeface="Noto Sans Bold"/>
                <a:ea typeface="Noto Sans Bold"/>
                <a:cs typeface="Noto Sans Bold"/>
                <a:sym typeface="Noto Sans Bold"/>
              </a:rPr>
              <a:t>NỘI DUNG THUYẾT TRÌNH</a:t>
            </a:r>
          </a:p>
        </p:txBody>
      </p:sp>
      <p:sp>
        <p:nvSpPr>
          <p:cNvPr name="TextBox 6" id="6"/>
          <p:cNvSpPr txBox="true"/>
          <p:nvPr/>
        </p:nvSpPr>
        <p:spPr>
          <a:xfrm rot="0">
            <a:off x="1206503" y="3432172"/>
            <a:ext cx="1168403" cy="1216028"/>
          </a:xfrm>
          <a:prstGeom prst="rect">
            <a:avLst/>
          </a:prstGeom>
        </p:spPr>
        <p:txBody>
          <a:bodyPr anchor="t" rtlCol="false" tIns="0" lIns="0" bIns="0" rIns="0">
            <a:spAutoFit/>
          </a:bodyPr>
          <a:lstStyle/>
          <a:p>
            <a:pPr algn="l">
              <a:lnSpc>
                <a:spcPts val="7773"/>
              </a:lnSpc>
            </a:pPr>
            <a:r>
              <a:rPr lang="en-US" sz="5398" b="true">
                <a:solidFill>
                  <a:srgbClr val="0643A6"/>
                </a:solidFill>
                <a:latin typeface="Noto Sans Bold"/>
                <a:ea typeface="Noto Sans Bold"/>
                <a:cs typeface="Noto Sans Bold"/>
                <a:sym typeface="Noto Sans Bold"/>
              </a:rPr>
              <a:t>01</a:t>
            </a:r>
          </a:p>
        </p:txBody>
      </p:sp>
      <p:sp>
        <p:nvSpPr>
          <p:cNvPr name="TextBox 7" id="7"/>
          <p:cNvSpPr txBox="true"/>
          <p:nvPr/>
        </p:nvSpPr>
        <p:spPr>
          <a:xfrm rot="0">
            <a:off x="2476500" y="3568703"/>
            <a:ext cx="6096000" cy="698497"/>
          </a:xfrm>
          <a:prstGeom prst="rect">
            <a:avLst/>
          </a:prstGeom>
        </p:spPr>
        <p:txBody>
          <a:bodyPr anchor="t" rtlCol="false" tIns="0" lIns="0" bIns="0" rIns="0">
            <a:spAutoFit/>
          </a:bodyPr>
          <a:lstStyle/>
          <a:p>
            <a:pPr algn="l">
              <a:lnSpc>
                <a:spcPts val="4607"/>
              </a:lnSpc>
            </a:pPr>
            <a:r>
              <a:rPr lang="en-US" sz="3199" b="true">
                <a:solidFill>
                  <a:srgbClr val="1B293E"/>
                </a:solidFill>
                <a:latin typeface="Noto Sans Bold"/>
                <a:ea typeface="Noto Sans Bold"/>
                <a:cs typeface="Noto Sans Bold"/>
                <a:sym typeface="Noto Sans Bold"/>
              </a:rPr>
              <a:t>DỮ LIỆU BDG2</a:t>
            </a:r>
          </a:p>
        </p:txBody>
      </p:sp>
      <p:sp>
        <p:nvSpPr>
          <p:cNvPr name="TextBox 8" id="8"/>
          <p:cNvSpPr txBox="true"/>
          <p:nvPr/>
        </p:nvSpPr>
        <p:spPr>
          <a:xfrm rot="0">
            <a:off x="2476500" y="4257675"/>
            <a:ext cx="6413497" cy="809625"/>
          </a:xfrm>
          <a:prstGeom prst="rect">
            <a:avLst/>
          </a:prstGeom>
        </p:spPr>
        <p:txBody>
          <a:bodyPr anchor="t" rtlCol="false" tIns="0" lIns="0" bIns="0" rIns="0">
            <a:spAutoFit/>
          </a:bodyPr>
          <a:lstStyle/>
          <a:p>
            <a:pPr algn="l">
              <a:lnSpc>
                <a:spcPts val="3453"/>
              </a:lnSpc>
            </a:pPr>
            <a:r>
              <a:rPr lang="en-US" sz="2398">
                <a:solidFill>
                  <a:srgbClr val="53637A"/>
                </a:solidFill>
                <a:latin typeface="Noto Sans"/>
                <a:ea typeface="Noto Sans"/>
                <a:cs typeface="Noto Sans"/>
                <a:sym typeface="Noto Sans"/>
              </a:rPr>
              <a:t>Nguồn và các bảng dữ liệu</a:t>
            </a:r>
          </a:p>
        </p:txBody>
      </p:sp>
      <p:sp>
        <p:nvSpPr>
          <p:cNvPr name="TextBox 9" id="9"/>
          <p:cNvSpPr txBox="true"/>
          <p:nvPr/>
        </p:nvSpPr>
        <p:spPr>
          <a:xfrm rot="0">
            <a:off x="1206503" y="5718172"/>
            <a:ext cx="1168403" cy="1216028"/>
          </a:xfrm>
          <a:prstGeom prst="rect">
            <a:avLst/>
          </a:prstGeom>
        </p:spPr>
        <p:txBody>
          <a:bodyPr anchor="t" rtlCol="false" tIns="0" lIns="0" bIns="0" rIns="0">
            <a:spAutoFit/>
          </a:bodyPr>
          <a:lstStyle/>
          <a:p>
            <a:pPr algn="l">
              <a:lnSpc>
                <a:spcPts val="7773"/>
              </a:lnSpc>
            </a:pPr>
            <a:r>
              <a:rPr lang="en-US" sz="5398" b="true">
                <a:solidFill>
                  <a:srgbClr val="0643A6"/>
                </a:solidFill>
                <a:latin typeface="Noto Sans Bold"/>
                <a:ea typeface="Noto Sans Bold"/>
                <a:cs typeface="Noto Sans Bold"/>
                <a:sym typeface="Noto Sans Bold"/>
              </a:rPr>
              <a:t>02</a:t>
            </a:r>
          </a:p>
        </p:txBody>
      </p:sp>
      <p:sp>
        <p:nvSpPr>
          <p:cNvPr name="TextBox 10" id="10"/>
          <p:cNvSpPr txBox="true"/>
          <p:nvPr/>
        </p:nvSpPr>
        <p:spPr>
          <a:xfrm rot="0">
            <a:off x="2476500" y="5854703"/>
            <a:ext cx="6096000" cy="698497"/>
          </a:xfrm>
          <a:prstGeom prst="rect">
            <a:avLst/>
          </a:prstGeom>
        </p:spPr>
        <p:txBody>
          <a:bodyPr anchor="t" rtlCol="false" tIns="0" lIns="0" bIns="0" rIns="0">
            <a:spAutoFit/>
          </a:bodyPr>
          <a:lstStyle/>
          <a:p>
            <a:pPr algn="l">
              <a:lnSpc>
                <a:spcPts val="4607"/>
              </a:lnSpc>
            </a:pPr>
            <a:r>
              <a:rPr lang="en-US" sz="3199" b="true">
                <a:solidFill>
                  <a:srgbClr val="1B293E"/>
                </a:solidFill>
                <a:latin typeface="Noto Sans Bold"/>
                <a:ea typeface="Noto Sans Bold"/>
                <a:cs typeface="Noto Sans Bold"/>
                <a:sym typeface="Noto Sans Bold"/>
              </a:rPr>
              <a:t>KHẢO SÁT &amp; XỬ LÝ</a:t>
            </a:r>
          </a:p>
        </p:txBody>
      </p:sp>
      <p:sp>
        <p:nvSpPr>
          <p:cNvPr name="TextBox 11" id="11"/>
          <p:cNvSpPr txBox="true"/>
          <p:nvPr/>
        </p:nvSpPr>
        <p:spPr>
          <a:xfrm rot="0">
            <a:off x="2476500" y="6543675"/>
            <a:ext cx="6413497" cy="809625"/>
          </a:xfrm>
          <a:prstGeom prst="rect">
            <a:avLst/>
          </a:prstGeom>
        </p:spPr>
        <p:txBody>
          <a:bodyPr anchor="t" rtlCol="false" tIns="0" lIns="0" bIns="0" rIns="0">
            <a:spAutoFit/>
          </a:bodyPr>
          <a:lstStyle/>
          <a:p>
            <a:pPr algn="l">
              <a:lnSpc>
                <a:spcPts val="3453"/>
              </a:lnSpc>
            </a:pPr>
            <a:r>
              <a:rPr lang="en-US" sz="2398">
                <a:solidFill>
                  <a:srgbClr val="53637A"/>
                </a:solidFill>
                <a:latin typeface="Noto Sans"/>
                <a:ea typeface="Noto Sans"/>
                <a:cs typeface="Noto Sans"/>
                <a:sym typeface="Noto Sans"/>
              </a:rPr>
              <a:t>Thiếu, trùng, ngoại lệ, ghép bảng</a:t>
            </a:r>
          </a:p>
        </p:txBody>
      </p:sp>
      <p:sp>
        <p:nvSpPr>
          <p:cNvPr name="TextBox 12" id="12"/>
          <p:cNvSpPr txBox="true"/>
          <p:nvPr/>
        </p:nvSpPr>
        <p:spPr>
          <a:xfrm rot="0">
            <a:off x="9550403" y="3432172"/>
            <a:ext cx="1168403" cy="1216028"/>
          </a:xfrm>
          <a:prstGeom prst="rect">
            <a:avLst/>
          </a:prstGeom>
        </p:spPr>
        <p:txBody>
          <a:bodyPr anchor="t" rtlCol="false" tIns="0" lIns="0" bIns="0" rIns="0">
            <a:spAutoFit/>
          </a:bodyPr>
          <a:lstStyle/>
          <a:p>
            <a:pPr algn="l">
              <a:lnSpc>
                <a:spcPts val="7773"/>
              </a:lnSpc>
            </a:pPr>
            <a:r>
              <a:rPr lang="en-US" sz="5398" b="true">
                <a:solidFill>
                  <a:srgbClr val="0643A6"/>
                </a:solidFill>
                <a:latin typeface="Noto Sans Bold"/>
                <a:ea typeface="Noto Sans Bold"/>
                <a:cs typeface="Noto Sans Bold"/>
                <a:sym typeface="Noto Sans Bold"/>
              </a:rPr>
              <a:t>03</a:t>
            </a:r>
          </a:p>
        </p:txBody>
      </p:sp>
      <p:sp>
        <p:nvSpPr>
          <p:cNvPr name="TextBox 13" id="13"/>
          <p:cNvSpPr txBox="true"/>
          <p:nvPr/>
        </p:nvSpPr>
        <p:spPr>
          <a:xfrm rot="0">
            <a:off x="10820400" y="3568703"/>
            <a:ext cx="6096000" cy="698497"/>
          </a:xfrm>
          <a:prstGeom prst="rect">
            <a:avLst/>
          </a:prstGeom>
        </p:spPr>
        <p:txBody>
          <a:bodyPr anchor="t" rtlCol="false" tIns="0" lIns="0" bIns="0" rIns="0">
            <a:spAutoFit/>
          </a:bodyPr>
          <a:lstStyle/>
          <a:p>
            <a:pPr algn="l">
              <a:lnSpc>
                <a:spcPts val="4607"/>
              </a:lnSpc>
            </a:pPr>
            <a:r>
              <a:rPr lang="en-US" sz="3199" b="true">
                <a:solidFill>
                  <a:srgbClr val="1B293E"/>
                </a:solidFill>
                <a:latin typeface="Noto Sans Bold"/>
                <a:ea typeface="Noto Sans Bold"/>
                <a:cs typeface="Noto Sans Bold"/>
                <a:sym typeface="Noto Sans Bold"/>
              </a:rPr>
              <a:t>XÂY DỰNG ĐẶC TRƯNG</a:t>
            </a:r>
          </a:p>
        </p:txBody>
      </p:sp>
      <p:sp>
        <p:nvSpPr>
          <p:cNvPr name="TextBox 14" id="14"/>
          <p:cNvSpPr txBox="true"/>
          <p:nvPr/>
        </p:nvSpPr>
        <p:spPr>
          <a:xfrm rot="0">
            <a:off x="10820400" y="4257675"/>
            <a:ext cx="6413497" cy="809625"/>
          </a:xfrm>
          <a:prstGeom prst="rect">
            <a:avLst/>
          </a:prstGeom>
        </p:spPr>
        <p:txBody>
          <a:bodyPr anchor="t" rtlCol="false" tIns="0" lIns="0" bIns="0" rIns="0">
            <a:spAutoFit/>
          </a:bodyPr>
          <a:lstStyle/>
          <a:p>
            <a:pPr algn="l">
              <a:lnSpc>
                <a:spcPts val="3453"/>
              </a:lnSpc>
            </a:pPr>
            <a:r>
              <a:rPr lang="en-US" sz="2398">
                <a:solidFill>
                  <a:srgbClr val="53637A"/>
                </a:solidFill>
                <a:latin typeface="Noto Sans"/>
                <a:ea typeface="Noto Sans"/>
                <a:cs typeface="Noto Sans"/>
                <a:sym typeface="Noto Sans"/>
              </a:rPr>
              <a:t>10 biến và kiểm soát tương lai</a:t>
            </a:r>
          </a:p>
        </p:txBody>
      </p:sp>
      <p:sp>
        <p:nvSpPr>
          <p:cNvPr name="TextBox 15" id="15"/>
          <p:cNvSpPr txBox="true"/>
          <p:nvPr/>
        </p:nvSpPr>
        <p:spPr>
          <a:xfrm rot="0">
            <a:off x="9550403" y="5718172"/>
            <a:ext cx="1168403" cy="1216028"/>
          </a:xfrm>
          <a:prstGeom prst="rect">
            <a:avLst/>
          </a:prstGeom>
        </p:spPr>
        <p:txBody>
          <a:bodyPr anchor="t" rtlCol="false" tIns="0" lIns="0" bIns="0" rIns="0">
            <a:spAutoFit/>
          </a:bodyPr>
          <a:lstStyle/>
          <a:p>
            <a:pPr algn="l">
              <a:lnSpc>
                <a:spcPts val="7773"/>
              </a:lnSpc>
            </a:pPr>
            <a:r>
              <a:rPr lang="en-US" sz="5398" b="true">
                <a:solidFill>
                  <a:srgbClr val="0643A6"/>
                </a:solidFill>
                <a:latin typeface="Noto Sans Bold"/>
                <a:ea typeface="Noto Sans Bold"/>
                <a:cs typeface="Noto Sans Bold"/>
                <a:sym typeface="Noto Sans Bold"/>
              </a:rPr>
              <a:t>04</a:t>
            </a:r>
          </a:p>
        </p:txBody>
      </p:sp>
      <p:sp>
        <p:nvSpPr>
          <p:cNvPr name="TextBox 16" id="16"/>
          <p:cNvSpPr txBox="true"/>
          <p:nvPr/>
        </p:nvSpPr>
        <p:spPr>
          <a:xfrm rot="0">
            <a:off x="10820400" y="5854703"/>
            <a:ext cx="6096000" cy="698497"/>
          </a:xfrm>
          <a:prstGeom prst="rect">
            <a:avLst/>
          </a:prstGeom>
        </p:spPr>
        <p:txBody>
          <a:bodyPr anchor="t" rtlCol="false" tIns="0" lIns="0" bIns="0" rIns="0">
            <a:spAutoFit/>
          </a:bodyPr>
          <a:lstStyle/>
          <a:p>
            <a:pPr algn="l">
              <a:lnSpc>
                <a:spcPts val="4607"/>
              </a:lnSpc>
            </a:pPr>
            <a:r>
              <a:rPr lang="en-US" sz="3199" b="true">
                <a:solidFill>
                  <a:srgbClr val="1B293E"/>
                </a:solidFill>
                <a:latin typeface="Noto Sans Bold"/>
                <a:ea typeface="Noto Sans Bold"/>
                <a:cs typeface="Noto Sans Bold"/>
                <a:sym typeface="Noto Sans Bold"/>
              </a:rPr>
              <a:t>THỰC NGHIỆM</a:t>
            </a:r>
          </a:p>
        </p:txBody>
      </p:sp>
      <p:sp>
        <p:nvSpPr>
          <p:cNvPr name="TextBox 17" id="17"/>
          <p:cNvSpPr txBox="true"/>
          <p:nvPr/>
        </p:nvSpPr>
        <p:spPr>
          <a:xfrm rot="0">
            <a:off x="10820400" y="6543675"/>
            <a:ext cx="6413497" cy="809625"/>
          </a:xfrm>
          <a:prstGeom prst="rect">
            <a:avLst/>
          </a:prstGeom>
        </p:spPr>
        <p:txBody>
          <a:bodyPr anchor="t" rtlCol="false" tIns="0" lIns="0" bIns="0" rIns="0">
            <a:spAutoFit/>
          </a:bodyPr>
          <a:lstStyle/>
          <a:p>
            <a:pPr algn="l">
              <a:lnSpc>
                <a:spcPts val="3453"/>
              </a:lnSpc>
            </a:pPr>
            <a:r>
              <a:rPr lang="en-US" sz="2398">
                <a:solidFill>
                  <a:srgbClr val="53637A"/>
                </a:solidFill>
                <a:latin typeface="Noto Sans"/>
                <a:ea typeface="Noto Sans"/>
                <a:cs typeface="Noto Sans"/>
                <a:sym typeface="Noto Sans"/>
              </a:rPr>
              <a:t>Chia tập, lựa chọn, cảnh báo</a:t>
            </a:r>
          </a:p>
        </p:txBody>
      </p:sp>
      <p:grpSp>
        <p:nvGrpSpPr>
          <p:cNvPr name="Group 18" id="18"/>
          <p:cNvGrpSpPr/>
          <p:nvPr/>
        </p:nvGrpSpPr>
        <p:grpSpPr>
          <a:xfrm rot="0">
            <a:off x="13821430" y="6055702"/>
            <a:ext cx="4791997" cy="4775719"/>
            <a:chOff x="0" y="0"/>
            <a:chExt cx="6389330" cy="6367625"/>
          </a:xfrm>
        </p:grpSpPr>
        <p:sp>
          <p:nvSpPr>
            <p:cNvPr name="Freeform 19" id="19"/>
            <p:cNvSpPr/>
            <p:nvPr/>
          </p:nvSpPr>
          <p:spPr>
            <a:xfrm flipH="false" flipV="false" rot="0">
              <a:off x="0" y="338421"/>
              <a:ext cx="6389330" cy="6029204"/>
            </a:xfrm>
            <a:custGeom>
              <a:avLst/>
              <a:gdLst/>
              <a:ahLst/>
              <a:cxnLst/>
              <a:rect r="r" b="b" t="t" l="l"/>
              <a:pathLst>
                <a:path h="6029204" w="6389330">
                  <a:moveTo>
                    <a:pt x="0" y="0"/>
                  </a:moveTo>
                  <a:lnTo>
                    <a:pt x="6389330" y="0"/>
                  </a:lnTo>
                  <a:lnTo>
                    <a:pt x="6389330" y="6029204"/>
                  </a:lnTo>
                  <a:lnTo>
                    <a:pt x="0" y="60292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203414">
              <a:off x="1228888" y="24588"/>
              <a:ext cx="868401" cy="1245020"/>
            </a:xfrm>
            <a:custGeom>
              <a:avLst/>
              <a:gdLst/>
              <a:ahLst/>
              <a:cxnLst/>
              <a:rect r="r" b="b" t="t" l="l"/>
              <a:pathLst>
                <a:path h="1245020" w="868401">
                  <a:moveTo>
                    <a:pt x="0" y="0"/>
                  </a:moveTo>
                  <a:lnTo>
                    <a:pt x="868401" y="0"/>
                  </a:lnTo>
                  <a:lnTo>
                    <a:pt x="868401" y="1245019"/>
                  </a:lnTo>
                  <a:lnTo>
                    <a:pt x="0" y="12450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21" id="21"/>
          <p:cNvSpPr/>
          <p:nvPr/>
        </p:nvSpPr>
        <p:spPr>
          <a:xfrm flipH="true" flipV="false" rot="0">
            <a:off x="14800959"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true" flipV="false" rot="0">
            <a:off x="14810484" y="-186932"/>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BÀI TOÁN NGHIÊN CỨU</a:t>
            </a:r>
          </a:p>
        </p:txBody>
      </p:sp>
      <p:grpSp>
        <p:nvGrpSpPr>
          <p:cNvPr name="Group 4" id="4"/>
          <p:cNvGrpSpPr/>
          <p:nvPr/>
        </p:nvGrpSpPr>
        <p:grpSpPr>
          <a:xfrm rot="0">
            <a:off x="1450972" y="3343275"/>
            <a:ext cx="7131044" cy="4210050"/>
            <a:chOff x="0" y="0"/>
            <a:chExt cx="9508058" cy="5613400"/>
          </a:xfrm>
        </p:grpSpPr>
        <p:sp>
          <p:nvSpPr>
            <p:cNvPr name="Freeform 5" id="5"/>
            <p:cNvSpPr/>
            <p:nvPr/>
          </p:nvSpPr>
          <p:spPr>
            <a:xfrm flipH="false" flipV="false" rot="0">
              <a:off x="0" y="0"/>
              <a:ext cx="9508109" cy="5613400"/>
            </a:xfrm>
            <a:custGeom>
              <a:avLst/>
              <a:gdLst/>
              <a:ahLst/>
              <a:cxnLst/>
              <a:rect r="r" b="b" t="t" l="l"/>
              <a:pathLst>
                <a:path h="5613400" w="9508109">
                  <a:moveTo>
                    <a:pt x="0" y="0"/>
                  </a:moveTo>
                  <a:lnTo>
                    <a:pt x="9508109" y="0"/>
                  </a:lnTo>
                  <a:lnTo>
                    <a:pt x="9508109" y="5613400"/>
                  </a:lnTo>
                  <a:lnTo>
                    <a:pt x="0" y="5613400"/>
                  </a:lnTo>
                  <a:close/>
                </a:path>
              </a:pathLst>
            </a:custGeom>
            <a:solidFill>
              <a:srgbClr val="FFFFFF"/>
            </a:solidFill>
            <a:ln w="19048" cap="sq">
              <a:solidFill>
                <a:srgbClr val="D1DEED"/>
              </a:solidFill>
              <a:prstDash val="solid"/>
              <a:miter/>
            </a:ln>
          </p:spPr>
        </p:sp>
      </p:grpSp>
      <p:grpSp>
        <p:nvGrpSpPr>
          <p:cNvPr name="Group 6" id="6"/>
          <p:cNvGrpSpPr/>
          <p:nvPr/>
        </p:nvGrpSpPr>
        <p:grpSpPr>
          <a:xfrm rot="0">
            <a:off x="1460497" y="3352800"/>
            <a:ext cx="126997" cy="4191000"/>
            <a:chOff x="0" y="0"/>
            <a:chExt cx="169329" cy="5588000"/>
          </a:xfrm>
        </p:grpSpPr>
        <p:sp>
          <p:nvSpPr>
            <p:cNvPr name="Freeform 7" id="7"/>
            <p:cNvSpPr/>
            <p:nvPr/>
          </p:nvSpPr>
          <p:spPr>
            <a:xfrm flipH="false" flipV="false" rot="0">
              <a:off x="0" y="0"/>
              <a:ext cx="169291" cy="5588000"/>
            </a:xfrm>
            <a:custGeom>
              <a:avLst/>
              <a:gdLst/>
              <a:ahLst/>
              <a:cxnLst/>
              <a:rect r="r" b="b" t="t" l="l"/>
              <a:pathLst>
                <a:path h="5588000" w="169291">
                  <a:moveTo>
                    <a:pt x="0" y="0"/>
                  </a:moveTo>
                  <a:lnTo>
                    <a:pt x="169291" y="0"/>
                  </a:lnTo>
                  <a:lnTo>
                    <a:pt x="169291" y="5588000"/>
                  </a:lnTo>
                  <a:lnTo>
                    <a:pt x="0" y="5588000"/>
                  </a:lnTo>
                  <a:close/>
                </a:path>
              </a:pathLst>
            </a:custGeom>
            <a:solidFill>
              <a:srgbClr val="0643A6"/>
            </a:solidFill>
          </p:spPr>
        </p:sp>
      </p:grpSp>
      <p:sp>
        <p:nvSpPr>
          <p:cNvPr name="TextBox 8" id="8"/>
          <p:cNvSpPr txBox="true"/>
          <p:nvPr/>
        </p:nvSpPr>
        <p:spPr>
          <a:xfrm rot="0">
            <a:off x="1854203" y="3552825"/>
            <a:ext cx="6324600" cy="383713"/>
          </a:xfrm>
          <a:prstGeom prst="rect">
            <a:avLst/>
          </a:prstGeom>
        </p:spPr>
        <p:txBody>
          <a:bodyPr anchor="t" rtlCol="false" tIns="0" lIns="0" bIns="0" rIns="0">
            <a:spAutoFit/>
          </a:bodyPr>
          <a:lstStyle/>
          <a:p>
            <a:pPr algn="l">
              <a:lnSpc>
                <a:spcPts val="3021"/>
              </a:lnSpc>
            </a:pPr>
            <a:r>
              <a:rPr lang="en-US" sz="2098" b="true">
                <a:solidFill>
                  <a:srgbClr val="53637A"/>
                </a:solidFill>
                <a:latin typeface="Times New Roman Bold"/>
                <a:ea typeface="Times New Roman Bold"/>
                <a:cs typeface="Times New Roman Bold"/>
                <a:sym typeface="Times New Roman Bold"/>
              </a:rPr>
              <a:t>BÀI TOÁN 01</a:t>
            </a:r>
          </a:p>
        </p:txBody>
      </p:sp>
      <p:sp>
        <p:nvSpPr>
          <p:cNvPr name="TextBox 9" id="9"/>
          <p:cNvSpPr txBox="true"/>
          <p:nvPr/>
        </p:nvSpPr>
        <p:spPr>
          <a:xfrm rot="0">
            <a:off x="1854203" y="4137022"/>
            <a:ext cx="6324600" cy="636285"/>
          </a:xfrm>
          <a:prstGeom prst="rect">
            <a:avLst/>
          </a:prstGeom>
        </p:spPr>
        <p:txBody>
          <a:bodyPr anchor="t" rtlCol="false" tIns="0" lIns="0" bIns="0" rIns="0">
            <a:spAutoFit/>
          </a:bodyPr>
          <a:lstStyle/>
          <a:p>
            <a:pPr algn="l">
              <a:lnSpc>
                <a:spcPts val="5039"/>
              </a:lnSpc>
            </a:pPr>
            <a:r>
              <a:rPr lang="en-US" sz="3499" b="true">
                <a:solidFill>
                  <a:srgbClr val="0643A6"/>
                </a:solidFill>
                <a:latin typeface="Times New Roman Bold"/>
                <a:ea typeface="Times New Roman Bold"/>
                <a:cs typeface="Times New Roman Bold"/>
                <a:sym typeface="Times New Roman Bold"/>
              </a:rPr>
              <a:t>Dự báo điện năng</a:t>
            </a:r>
          </a:p>
        </p:txBody>
      </p:sp>
      <p:sp>
        <p:nvSpPr>
          <p:cNvPr name="TextBox 10" id="10"/>
          <p:cNvSpPr txBox="true"/>
          <p:nvPr/>
        </p:nvSpPr>
        <p:spPr>
          <a:xfrm rot="0">
            <a:off x="1854203" y="5292728"/>
            <a:ext cx="6324600" cy="885855"/>
          </a:xfrm>
          <a:prstGeom prst="rect">
            <a:avLst/>
          </a:prstGeom>
        </p:spPr>
        <p:txBody>
          <a:bodyPr anchor="t" rtlCol="false" tIns="0" lIns="0" bIns="0" rIns="0">
            <a:spAutoFit/>
          </a:bodyPr>
          <a:lstStyle/>
          <a:p>
            <a:pPr algn="l">
              <a:lnSpc>
                <a:spcPts val="3598"/>
              </a:lnSpc>
            </a:pPr>
            <a:r>
              <a:rPr lang="en-US" sz="2499">
                <a:solidFill>
                  <a:srgbClr val="1B293E"/>
                </a:solidFill>
                <a:latin typeface="Times New Roman"/>
                <a:ea typeface="Times New Roman"/>
                <a:cs typeface="Times New Roman"/>
                <a:sym typeface="Times New Roman"/>
              </a:rPr>
              <a:t>Dùng đặc trưng thời gian, công năng và lịch sử điện để ước lượng mức tiêu thụ giờ.</a:t>
            </a:r>
          </a:p>
        </p:txBody>
      </p:sp>
      <p:grpSp>
        <p:nvGrpSpPr>
          <p:cNvPr name="Group 11" id="11"/>
          <p:cNvGrpSpPr/>
          <p:nvPr/>
        </p:nvGrpSpPr>
        <p:grpSpPr>
          <a:xfrm rot="0">
            <a:off x="9667875" y="3343275"/>
            <a:ext cx="7131044" cy="4210050"/>
            <a:chOff x="0" y="0"/>
            <a:chExt cx="9508058" cy="5613400"/>
          </a:xfrm>
        </p:grpSpPr>
        <p:sp>
          <p:nvSpPr>
            <p:cNvPr name="Freeform 12" id="12"/>
            <p:cNvSpPr/>
            <p:nvPr/>
          </p:nvSpPr>
          <p:spPr>
            <a:xfrm flipH="false" flipV="false" rot="0">
              <a:off x="0" y="0"/>
              <a:ext cx="9508109" cy="5613400"/>
            </a:xfrm>
            <a:custGeom>
              <a:avLst/>
              <a:gdLst/>
              <a:ahLst/>
              <a:cxnLst/>
              <a:rect r="r" b="b" t="t" l="l"/>
              <a:pathLst>
                <a:path h="5613400" w="9508109">
                  <a:moveTo>
                    <a:pt x="0" y="0"/>
                  </a:moveTo>
                  <a:lnTo>
                    <a:pt x="9508109" y="0"/>
                  </a:lnTo>
                  <a:lnTo>
                    <a:pt x="9508109" y="5613400"/>
                  </a:lnTo>
                  <a:lnTo>
                    <a:pt x="0" y="5613400"/>
                  </a:lnTo>
                  <a:close/>
                </a:path>
              </a:pathLst>
            </a:custGeom>
            <a:solidFill>
              <a:srgbClr val="FFFFFF"/>
            </a:solidFill>
            <a:ln w="19048" cap="sq">
              <a:solidFill>
                <a:srgbClr val="D1DEED"/>
              </a:solidFill>
              <a:prstDash val="solid"/>
              <a:miter/>
            </a:ln>
          </p:spPr>
        </p:sp>
      </p:grpSp>
      <p:grpSp>
        <p:nvGrpSpPr>
          <p:cNvPr name="Group 13" id="13"/>
          <p:cNvGrpSpPr/>
          <p:nvPr/>
        </p:nvGrpSpPr>
        <p:grpSpPr>
          <a:xfrm rot="0">
            <a:off x="9677400" y="3352800"/>
            <a:ext cx="126997" cy="4191000"/>
            <a:chOff x="0" y="0"/>
            <a:chExt cx="169329" cy="5588000"/>
          </a:xfrm>
        </p:grpSpPr>
        <p:sp>
          <p:nvSpPr>
            <p:cNvPr name="Freeform 14" id="14"/>
            <p:cNvSpPr/>
            <p:nvPr/>
          </p:nvSpPr>
          <p:spPr>
            <a:xfrm flipH="false" flipV="false" rot="0">
              <a:off x="0" y="0"/>
              <a:ext cx="169291" cy="5588000"/>
            </a:xfrm>
            <a:custGeom>
              <a:avLst/>
              <a:gdLst/>
              <a:ahLst/>
              <a:cxnLst/>
              <a:rect r="r" b="b" t="t" l="l"/>
              <a:pathLst>
                <a:path h="5588000" w="169291">
                  <a:moveTo>
                    <a:pt x="0" y="0"/>
                  </a:moveTo>
                  <a:lnTo>
                    <a:pt x="169291" y="0"/>
                  </a:lnTo>
                  <a:lnTo>
                    <a:pt x="169291" y="5588000"/>
                  </a:lnTo>
                  <a:lnTo>
                    <a:pt x="0" y="5588000"/>
                  </a:lnTo>
                  <a:close/>
                </a:path>
              </a:pathLst>
            </a:custGeom>
            <a:solidFill>
              <a:srgbClr val="0E85B0"/>
            </a:solidFill>
          </p:spPr>
        </p:sp>
      </p:grpSp>
      <p:sp>
        <p:nvSpPr>
          <p:cNvPr name="TextBox 15" id="15"/>
          <p:cNvSpPr txBox="true"/>
          <p:nvPr/>
        </p:nvSpPr>
        <p:spPr>
          <a:xfrm rot="0">
            <a:off x="10071097" y="3552825"/>
            <a:ext cx="6324600" cy="383713"/>
          </a:xfrm>
          <a:prstGeom prst="rect">
            <a:avLst/>
          </a:prstGeom>
        </p:spPr>
        <p:txBody>
          <a:bodyPr anchor="t" rtlCol="false" tIns="0" lIns="0" bIns="0" rIns="0">
            <a:spAutoFit/>
          </a:bodyPr>
          <a:lstStyle/>
          <a:p>
            <a:pPr algn="l">
              <a:lnSpc>
                <a:spcPts val="3021"/>
              </a:lnSpc>
            </a:pPr>
            <a:r>
              <a:rPr lang="en-US" sz="2098" b="true">
                <a:solidFill>
                  <a:srgbClr val="53637A"/>
                </a:solidFill>
                <a:latin typeface="Times New Roman Bold"/>
                <a:ea typeface="Times New Roman Bold"/>
                <a:cs typeface="Times New Roman Bold"/>
                <a:sym typeface="Times New Roman Bold"/>
              </a:rPr>
              <a:t>BÀI TOÁN 02</a:t>
            </a:r>
          </a:p>
        </p:txBody>
      </p:sp>
      <p:sp>
        <p:nvSpPr>
          <p:cNvPr name="TextBox 16" id="16"/>
          <p:cNvSpPr txBox="true"/>
          <p:nvPr/>
        </p:nvSpPr>
        <p:spPr>
          <a:xfrm rot="0">
            <a:off x="10071097" y="4137022"/>
            <a:ext cx="6324600" cy="636285"/>
          </a:xfrm>
          <a:prstGeom prst="rect">
            <a:avLst/>
          </a:prstGeom>
        </p:spPr>
        <p:txBody>
          <a:bodyPr anchor="t" rtlCol="false" tIns="0" lIns="0" bIns="0" rIns="0">
            <a:spAutoFit/>
          </a:bodyPr>
          <a:lstStyle/>
          <a:p>
            <a:pPr algn="l">
              <a:lnSpc>
                <a:spcPts val="5039"/>
              </a:lnSpc>
            </a:pPr>
            <a:r>
              <a:rPr lang="en-US" sz="3499" b="true">
                <a:solidFill>
                  <a:srgbClr val="0E85B0"/>
                </a:solidFill>
                <a:latin typeface="Times New Roman Bold"/>
                <a:ea typeface="Times New Roman Bold"/>
                <a:cs typeface="Times New Roman Bold"/>
                <a:sym typeface="Times New Roman Bold"/>
              </a:rPr>
              <a:t>Phát hiện bất thường</a:t>
            </a:r>
          </a:p>
        </p:txBody>
      </p:sp>
      <p:sp>
        <p:nvSpPr>
          <p:cNvPr name="TextBox 17" id="17"/>
          <p:cNvSpPr txBox="true"/>
          <p:nvPr/>
        </p:nvSpPr>
        <p:spPr>
          <a:xfrm rot="0">
            <a:off x="10071097" y="5292728"/>
            <a:ext cx="6324600" cy="885855"/>
          </a:xfrm>
          <a:prstGeom prst="rect">
            <a:avLst/>
          </a:prstGeom>
        </p:spPr>
        <p:txBody>
          <a:bodyPr anchor="t" rtlCol="false" tIns="0" lIns="0" bIns="0" rIns="0">
            <a:spAutoFit/>
          </a:bodyPr>
          <a:lstStyle/>
          <a:p>
            <a:pPr algn="l">
              <a:lnSpc>
                <a:spcPts val="3598"/>
              </a:lnSpc>
            </a:pPr>
            <a:r>
              <a:rPr lang="en-US" sz="2499">
                <a:solidFill>
                  <a:srgbClr val="1B293E"/>
                </a:solidFill>
                <a:latin typeface="Times New Roman"/>
                <a:ea typeface="Times New Roman"/>
                <a:cs typeface="Times New Roman"/>
                <a:sym typeface="Times New Roman"/>
              </a:rPr>
              <a:t>So sánh điện raw với dự báo và đối chiếu các điểm khác biệt bằng Isolation Forest.</a:t>
            </a:r>
          </a:p>
        </p:txBody>
      </p:sp>
      <p:sp>
        <p:nvSpPr>
          <p:cNvPr name="Freeform 18" id="18"/>
          <p:cNvSpPr/>
          <p:nvPr/>
        </p:nvSpPr>
        <p:spPr>
          <a:xfrm flipH="true" flipV="false" rot="0">
            <a:off x="14820009"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9" id="19"/>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10800000">
            <a:off x="8469322" y="9150674"/>
            <a:ext cx="4876557" cy="1728961"/>
          </a:xfrm>
          <a:custGeom>
            <a:avLst/>
            <a:gdLst/>
            <a:ahLst/>
            <a:cxnLst/>
            <a:rect r="r" b="b" t="t" l="l"/>
            <a:pathLst>
              <a:path h="1728961" w="4876557">
                <a:moveTo>
                  <a:pt x="0" y="0"/>
                </a:moveTo>
                <a:lnTo>
                  <a:pt x="4876557" y="0"/>
                </a:lnTo>
                <a:lnTo>
                  <a:pt x="4876557" y="1728961"/>
                </a:lnTo>
                <a:lnTo>
                  <a:pt x="0" y="17289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4 NGUỒN DỮ LIỆU BDG2</a:t>
            </a:r>
          </a:p>
        </p:txBody>
      </p:sp>
      <p:sp>
        <p:nvSpPr>
          <p:cNvPr name="Freeform 4" id="4"/>
          <p:cNvSpPr/>
          <p:nvPr/>
        </p:nvSpPr>
        <p:spPr>
          <a:xfrm flipH="true" flipV="false" rot="0">
            <a:off x="14800959"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37832" y="2940368"/>
            <a:ext cx="8191881" cy="2527173"/>
            <a:chOff x="0" y="0"/>
            <a:chExt cx="10922508" cy="3369564"/>
          </a:xfrm>
        </p:grpSpPr>
        <p:sp>
          <p:nvSpPr>
            <p:cNvPr name="Freeform 7" id="7"/>
            <p:cNvSpPr/>
            <p:nvPr/>
          </p:nvSpPr>
          <p:spPr>
            <a:xfrm flipH="false" flipV="false" rot="0">
              <a:off x="0" y="0"/>
              <a:ext cx="10922508" cy="3369564"/>
            </a:xfrm>
            <a:custGeom>
              <a:avLst/>
              <a:gdLst/>
              <a:ahLst/>
              <a:cxnLst/>
              <a:rect r="r" b="b" t="t" l="l"/>
              <a:pathLst>
                <a:path h="3369564" w="10922508">
                  <a:moveTo>
                    <a:pt x="0" y="269621"/>
                  </a:moveTo>
                  <a:cubicBezTo>
                    <a:pt x="0" y="120650"/>
                    <a:pt x="120650" y="0"/>
                    <a:pt x="269621" y="0"/>
                  </a:cubicBezTo>
                  <a:lnTo>
                    <a:pt x="10652887" y="0"/>
                  </a:lnTo>
                  <a:cubicBezTo>
                    <a:pt x="10801731" y="0"/>
                    <a:pt x="10922508" y="120650"/>
                    <a:pt x="10922508" y="269621"/>
                  </a:cubicBezTo>
                  <a:lnTo>
                    <a:pt x="10922508" y="3099943"/>
                  </a:lnTo>
                  <a:cubicBezTo>
                    <a:pt x="10922508" y="3248787"/>
                    <a:pt x="10801858" y="3369564"/>
                    <a:pt x="10652887" y="3369564"/>
                  </a:cubicBezTo>
                  <a:lnTo>
                    <a:pt x="269621" y="3369564"/>
                  </a:lnTo>
                  <a:cubicBezTo>
                    <a:pt x="120650" y="3369564"/>
                    <a:pt x="0" y="3248914"/>
                    <a:pt x="0" y="3099943"/>
                  </a:cubicBezTo>
                  <a:close/>
                </a:path>
              </a:pathLst>
            </a:custGeom>
            <a:solidFill>
              <a:srgbClr val="FFFFFF"/>
            </a:solidFill>
            <a:ln w="17145" cap="sq">
              <a:solidFill>
                <a:srgbClr val="D9E4F4"/>
              </a:solidFill>
              <a:prstDash val="solid"/>
              <a:miter/>
            </a:ln>
          </p:spPr>
        </p:sp>
      </p:grpSp>
      <p:grpSp>
        <p:nvGrpSpPr>
          <p:cNvPr name="Group 8" id="8"/>
          <p:cNvGrpSpPr/>
          <p:nvPr/>
        </p:nvGrpSpPr>
        <p:grpSpPr>
          <a:xfrm rot="0">
            <a:off x="946404" y="2948940"/>
            <a:ext cx="116586" cy="2510028"/>
            <a:chOff x="0" y="0"/>
            <a:chExt cx="155448" cy="3346704"/>
          </a:xfrm>
        </p:grpSpPr>
        <p:sp>
          <p:nvSpPr>
            <p:cNvPr name="Freeform 9" id="9"/>
            <p:cNvSpPr/>
            <p:nvPr/>
          </p:nvSpPr>
          <p:spPr>
            <a:xfrm flipH="false" flipV="false" rot="0">
              <a:off x="0" y="0"/>
              <a:ext cx="155448" cy="3346704"/>
            </a:xfrm>
            <a:custGeom>
              <a:avLst/>
              <a:gdLst/>
              <a:ahLst/>
              <a:cxnLst/>
              <a:rect r="r" b="b" t="t" l="l"/>
              <a:pathLst>
                <a:path h="3346704" w="155448">
                  <a:moveTo>
                    <a:pt x="0" y="0"/>
                  </a:moveTo>
                  <a:lnTo>
                    <a:pt x="155448" y="0"/>
                  </a:lnTo>
                  <a:lnTo>
                    <a:pt x="155448" y="3346704"/>
                  </a:lnTo>
                  <a:lnTo>
                    <a:pt x="0" y="3346704"/>
                  </a:lnTo>
                  <a:close/>
                </a:path>
              </a:pathLst>
            </a:custGeom>
            <a:solidFill>
              <a:srgbClr val="104BAC"/>
            </a:solidFill>
          </p:spPr>
        </p:sp>
      </p:grpSp>
      <p:sp>
        <p:nvSpPr>
          <p:cNvPr name="TextBox 10" id="10"/>
          <p:cNvSpPr txBox="true"/>
          <p:nvPr/>
        </p:nvSpPr>
        <p:spPr>
          <a:xfrm rot="0">
            <a:off x="1252728" y="3078861"/>
            <a:ext cx="3361849" cy="480517"/>
          </a:xfrm>
          <a:prstGeom prst="rect">
            <a:avLst/>
          </a:prstGeom>
        </p:spPr>
        <p:txBody>
          <a:bodyPr anchor="t" rtlCol="false" tIns="0" lIns="0" bIns="0" rIns="0">
            <a:spAutoFit/>
          </a:bodyPr>
          <a:lstStyle/>
          <a:p>
            <a:pPr algn="l">
              <a:lnSpc>
                <a:spcPts val="3767"/>
              </a:lnSpc>
            </a:pPr>
            <a:r>
              <a:rPr lang="en-US" sz="2729" b="true">
                <a:solidFill>
                  <a:srgbClr val="104BAC"/>
                </a:solidFill>
                <a:latin typeface="Times New Roman Bold"/>
                <a:ea typeface="Times New Roman Bold"/>
                <a:cs typeface="Times New Roman Bold"/>
                <a:sym typeface="Times New Roman Bold"/>
              </a:rPr>
              <a:t>RAW ELECTRICITY</a:t>
            </a:r>
          </a:p>
        </p:txBody>
      </p:sp>
      <p:sp>
        <p:nvSpPr>
          <p:cNvPr name="TextBox 11" id="11"/>
          <p:cNvSpPr txBox="true"/>
          <p:nvPr/>
        </p:nvSpPr>
        <p:spPr>
          <a:xfrm rot="0">
            <a:off x="1266444" y="3641217"/>
            <a:ext cx="7452360" cy="480517"/>
          </a:xfrm>
          <a:prstGeom prst="rect">
            <a:avLst/>
          </a:prstGeom>
        </p:spPr>
        <p:txBody>
          <a:bodyPr anchor="t" rtlCol="false" tIns="0" lIns="0" bIns="0" rIns="0">
            <a:spAutoFit/>
          </a:bodyPr>
          <a:lstStyle/>
          <a:p>
            <a:pPr algn="l">
              <a:lnSpc>
                <a:spcPts val="3767"/>
              </a:lnSpc>
            </a:pPr>
            <a:r>
              <a:rPr lang="en-US" sz="2729" b="true">
                <a:solidFill>
                  <a:srgbClr val="0E43A6"/>
                </a:solidFill>
                <a:latin typeface="Times New Roman Bold"/>
                <a:ea typeface="Times New Roman Bold"/>
                <a:cs typeface="Times New Roman Bold"/>
                <a:sym typeface="Times New Roman Bold"/>
              </a:rPr>
              <a:t>17.544 dòng × 1.579 cột</a:t>
            </a:r>
          </a:p>
        </p:txBody>
      </p:sp>
      <p:sp>
        <p:nvSpPr>
          <p:cNvPr name="TextBox 12" id="12"/>
          <p:cNvSpPr txBox="true"/>
          <p:nvPr/>
        </p:nvSpPr>
        <p:spPr>
          <a:xfrm rot="0">
            <a:off x="1266444" y="4240530"/>
            <a:ext cx="7438644" cy="321488"/>
          </a:xfrm>
          <a:prstGeom prst="rect">
            <a:avLst/>
          </a:prstGeom>
        </p:spPr>
        <p:txBody>
          <a:bodyPr anchor="t" rtlCol="false" tIns="0" lIns="0" bIns="0" rIns="0">
            <a:spAutoFit/>
          </a:bodyPr>
          <a:lstStyle/>
          <a:p>
            <a:pPr algn="l">
              <a:lnSpc>
                <a:spcPts val="2442"/>
              </a:lnSpc>
            </a:pPr>
            <a:r>
              <a:rPr lang="en-US" sz="1770">
                <a:solidFill>
                  <a:srgbClr val="087F98"/>
                </a:solidFill>
                <a:latin typeface="Times New Roman"/>
                <a:ea typeface="Times New Roman"/>
                <a:cs typeface="Times New Roman"/>
                <a:sym typeface="Times New Roman"/>
              </a:rPr>
              <a:t>meters/raw/electricity.csv</a:t>
            </a:r>
          </a:p>
        </p:txBody>
      </p:sp>
      <p:sp>
        <p:nvSpPr>
          <p:cNvPr name="TextBox 13" id="13"/>
          <p:cNvSpPr txBox="true"/>
          <p:nvPr/>
        </p:nvSpPr>
        <p:spPr>
          <a:xfrm rot="0">
            <a:off x="1266444" y="4693158"/>
            <a:ext cx="7452360" cy="354959"/>
          </a:xfrm>
          <a:prstGeom prst="rect">
            <a:avLst/>
          </a:prstGeom>
        </p:spPr>
        <p:txBody>
          <a:bodyPr anchor="t" rtlCol="false" tIns="0" lIns="0" bIns="0" rIns="0">
            <a:spAutoFit/>
          </a:bodyPr>
          <a:lstStyle/>
          <a:p>
            <a:pPr algn="l">
              <a:lnSpc>
                <a:spcPts val="2722"/>
              </a:lnSpc>
            </a:pPr>
            <a:r>
              <a:rPr lang="en-US" sz="1972">
                <a:solidFill>
                  <a:srgbClr val="243248"/>
                </a:solidFill>
                <a:latin typeface="Times New Roman"/>
                <a:ea typeface="Times New Roman"/>
                <a:cs typeface="Times New Roman"/>
                <a:sym typeface="Times New Roman"/>
              </a:rPr>
              <a:t>Giữ số điện gốc để khảo sát và phát hiện bất thường.</a:t>
            </a:r>
          </a:p>
        </p:txBody>
      </p:sp>
      <p:grpSp>
        <p:nvGrpSpPr>
          <p:cNvPr name="Group 14" id="14"/>
          <p:cNvGrpSpPr/>
          <p:nvPr/>
        </p:nvGrpSpPr>
        <p:grpSpPr>
          <a:xfrm rot="0">
            <a:off x="9510332" y="2940368"/>
            <a:ext cx="8191881" cy="2527173"/>
            <a:chOff x="0" y="0"/>
            <a:chExt cx="10922508" cy="3369564"/>
          </a:xfrm>
        </p:grpSpPr>
        <p:sp>
          <p:nvSpPr>
            <p:cNvPr name="Freeform 15" id="15"/>
            <p:cNvSpPr/>
            <p:nvPr/>
          </p:nvSpPr>
          <p:spPr>
            <a:xfrm flipH="false" flipV="false" rot="0">
              <a:off x="0" y="0"/>
              <a:ext cx="10922508" cy="3369564"/>
            </a:xfrm>
            <a:custGeom>
              <a:avLst/>
              <a:gdLst/>
              <a:ahLst/>
              <a:cxnLst/>
              <a:rect r="r" b="b" t="t" l="l"/>
              <a:pathLst>
                <a:path h="3369564" w="10922508">
                  <a:moveTo>
                    <a:pt x="0" y="269621"/>
                  </a:moveTo>
                  <a:cubicBezTo>
                    <a:pt x="0" y="120650"/>
                    <a:pt x="120650" y="0"/>
                    <a:pt x="269621" y="0"/>
                  </a:cubicBezTo>
                  <a:lnTo>
                    <a:pt x="10652887" y="0"/>
                  </a:lnTo>
                  <a:cubicBezTo>
                    <a:pt x="10801731" y="0"/>
                    <a:pt x="10922508" y="120650"/>
                    <a:pt x="10922508" y="269621"/>
                  </a:cubicBezTo>
                  <a:lnTo>
                    <a:pt x="10922508" y="3099943"/>
                  </a:lnTo>
                  <a:cubicBezTo>
                    <a:pt x="10922508" y="3248787"/>
                    <a:pt x="10801858" y="3369564"/>
                    <a:pt x="10652887" y="3369564"/>
                  </a:cubicBezTo>
                  <a:lnTo>
                    <a:pt x="269621" y="3369564"/>
                  </a:lnTo>
                  <a:cubicBezTo>
                    <a:pt x="120650" y="3369564"/>
                    <a:pt x="0" y="3248914"/>
                    <a:pt x="0" y="3099943"/>
                  </a:cubicBezTo>
                  <a:close/>
                </a:path>
              </a:pathLst>
            </a:custGeom>
            <a:solidFill>
              <a:srgbClr val="FFFFFF"/>
            </a:solidFill>
            <a:ln w="17145" cap="sq">
              <a:solidFill>
                <a:srgbClr val="D9E4F4"/>
              </a:solidFill>
              <a:prstDash val="solid"/>
              <a:miter/>
            </a:ln>
          </p:spPr>
        </p:sp>
      </p:grpSp>
      <p:grpSp>
        <p:nvGrpSpPr>
          <p:cNvPr name="Group 16" id="16"/>
          <p:cNvGrpSpPr/>
          <p:nvPr/>
        </p:nvGrpSpPr>
        <p:grpSpPr>
          <a:xfrm rot="0">
            <a:off x="9518904" y="2948940"/>
            <a:ext cx="116586" cy="2510028"/>
            <a:chOff x="0" y="0"/>
            <a:chExt cx="155448" cy="3346704"/>
          </a:xfrm>
        </p:grpSpPr>
        <p:sp>
          <p:nvSpPr>
            <p:cNvPr name="Freeform 17" id="17"/>
            <p:cNvSpPr/>
            <p:nvPr/>
          </p:nvSpPr>
          <p:spPr>
            <a:xfrm flipH="false" flipV="false" rot="0">
              <a:off x="0" y="0"/>
              <a:ext cx="155448" cy="3346704"/>
            </a:xfrm>
            <a:custGeom>
              <a:avLst/>
              <a:gdLst/>
              <a:ahLst/>
              <a:cxnLst/>
              <a:rect r="r" b="b" t="t" l="l"/>
              <a:pathLst>
                <a:path h="3346704" w="155448">
                  <a:moveTo>
                    <a:pt x="0" y="0"/>
                  </a:moveTo>
                  <a:lnTo>
                    <a:pt x="155448" y="0"/>
                  </a:lnTo>
                  <a:lnTo>
                    <a:pt x="155448" y="3346704"/>
                  </a:lnTo>
                  <a:lnTo>
                    <a:pt x="0" y="3346704"/>
                  </a:lnTo>
                  <a:close/>
                </a:path>
              </a:pathLst>
            </a:custGeom>
            <a:solidFill>
              <a:srgbClr val="087F98"/>
            </a:solidFill>
          </p:spPr>
        </p:sp>
      </p:grpSp>
      <p:sp>
        <p:nvSpPr>
          <p:cNvPr name="TextBox 18" id="18"/>
          <p:cNvSpPr txBox="true"/>
          <p:nvPr/>
        </p:nvSpPr>
        <p:spPr>
          <a:xfrm rot="0">
            <a:off x="9825228" y="3078861"/>
            <a:ext cx="4209693" cy="480517"/>
          </a:xfrm>
          <a:prstGeom prst="rect">
            <a:avLst/>
          </a:prstGeom>
        </p:spPr>
        <p:txBody>
          <a:bodyPr anchor="t" rtlCol="false" tIns="0" lIns="0" bIns="0" rIns="0">
            <a:spAutoFit/>
          </a:bodyPr>
          <a:lstStyle/>
          <a:p>
            <a:pPr algn="l">
              <a:lnSpc>
                <a:spcPts val="3767"/>
              </a:lnSpc>
            </a:pPr>
            <a:r>
              <a:rPr lang="en-US" sz="2729" b="true">
                <a:solidFill>
                  <a:srgbClr val="104BAC"/>
                </a:solidFill>
                <a:latin typeface="Times New Roman Bold"/>
                <a:ea typeface="Times New Roman Bold"/>
                <a:cs typeface="Times New Roman Bold"/>
                <a:sym typeface="Times New Roman Bold"/>
              </a:rPr>
              <a:t>CLEANED ELECTRICITY</a:t>
            </a:r>
          </a:p>
        </p:txBody>
      </p:sp>
      <p:sp>
        <p:nvSpPr>
          <p:cNvPr name="TextBox 19" id="19"/>
          <p:cNvSpPr txBox="true"/>
          <p:nvPr/>
        </p:nvSpPr>
        <p:spPr>
          <a:xfrm rot="0">
            <a:off x="9838944" y="3641217"/>
            <a:ext cx="7452360" cy="480517"/>
          </a:xfrm>
          <a:prstGeom prst="rect">
            <a:avLst/>
          </a:prstGeom>
        </p:spPr>
        <p:txBody>
          <a:bodyPr anchor="t" rtlCol="false" tIns="0" lIns="0" bIns="0" rIns="0">
            <a:spAutoFit/>
          </a:bodyPr>
          <a:lstStyle/>
          <a:p>
            <a:pPr algn="l">
              <a:lnSpc>
                <a:spcPts val="3767"/>
              </a:lnSpc>
            </a:pPr>
            <a:r>
              <a:rPr lang="en-US" sz="2729" b="true">
                <a:solidFill>
                  <a:srgbClr val="0E43A6"/>
                </a:solidFill>
                <a:latin typeface="Times New Roman Bold"/>
                <a:ea typeface="Times New Roman Bold"/>
                <a:cs typeface="Times New Roman Bold"/>
                <a:sym typeface="Times New Roman Bold"/>
              </a:rPr>
              <a:t>17.544 dòng × 1.579 cột</a:t>
            </a:r>
          </a:p>
        </p:txBody>
      </p:sp>
      <p:sp>
        <p:nvSpPr>
          <p:cNvPr name="TextBox 20" id="20"/>
          <p:cNvSpPr txBox="true"/>
          <p:nvPr/>
        </p:nvSpPr>
        <p:spPr>
          <a:xfrm rot="0">
            <a:off x="9838944" y="4240530"/>
            <a:ext cx="7438644" cy="321488"/>
          </a:xfrm>
          <a:prstGeom prst="rect">
            <a:avLst/>
          </a:prstGeom>
        </p:spPr>
        <p:txBody>
          <a:bodyPr anchor="t" rtlCol="false" tIns="0" lIns="0" bIns="0" rIns="0">
            <a:spAutoFit/>
          </a:bodyPr>
          <a:lstStyle/>
          <a:p>
            <a:pPr algn="l">
              <a:lnSpc>
                <a:spcPts val="2442"/>
              </a:lnSpc>
            </a:pPr>
            <a:r>
              <a:rPr lang="en-US" sz="1770">
                <a:solidFill>
                  <a:srgbClr val="087F98"/>
                </a:solidFill>
                <a:latin typeface="Times New Roman"/>
                <a:ea typeface="Times New Roman"/>
                <a:cs typeface="Times New Roman"/>
                <a:sym typeface="Times New Roman"/>
              </a:rPr>
              <a:t>meters/cleaned/electricity_cleaned.csv</a:t>
            </a:r>
          </a:p>
        </p:txBody>
      </p:sp>
      <p:sp>
        <p:nvSpPr>
          <p:cNvPr name="TextBox 21" id="21"/>
          <p:cNvSpPr txBox="true"/>
          <p:nvPr/>
        </p:nvSpPr>
        <p:spPr>
          <a:xfrm rot="0">
            <a:off x="9838944" y="4693158"/>
            <a:ext cx="7452360" cy="354959"/>
          </a:xfrm>
          <a:prstGeom prst="rect">
            <a:avLst/>
          </a:prstGeom>
        </p:spPr>
        <p:txBody>
          <a:bodyPr anchor="t" rtlCol="false" tIns="0" lIns="0" bIns="0" rIns="0">
            <a:spAutoFit/>
          </a:bodyPr>
          <a:lstStyle/>
          <a:p>
            <a:pPr algn="l">
              <a:lnSpc>
                <a:spcPts val="2722"/>
              </a:lnSpc>
            </a:pPr>
            <a:r>
              <a:rPr lang="en-US" sz="1972">
                <a:solidFill>
                  <a:srgbClr val="243248"/>
                </a:solidFill>
                <a:latin typeface="Times New Roman"/>
                <a:ea typeface="Times New Roman"/>
                <a:cs typeface="Times New Roman"/>
                <a:sym typeface="Times New Roman"/>
              </a:rPr>
              <a:t>Giá trị đã làm sạch, làm nhãn để huấn luyện mô hình.</a:t>
            </a:r>
          </a:p>
        </p:txBody>
      </p:sp>
      <p:grpSp>
        <p:nvGrpSpPr>
          <p:cNvPr name="Group 22" id="22"/>
          <p:cNvGrpSpPr/>
          <p:nvPr/>
        </p:nvGrpSpPr>
        <p:grpSpPr>
          <a:xfrm rot="0">
            <a:off x="937832" y="5752147"/>
            <a:ext cx="8191881" cy="2527173"/>
            <a:chOff x="0" y="0"/>
            <a:chExt cx="10922508" cy="3369564"/>
          </a:xfrm>
        </p:grpSpPr>
        <p:sp>
          <p:nvSpPr>
            <p:cNvPr name="Freeform 23" id="23"/>
            <p:cNvSpPr/>
            <p:nvPr/>
          </p:nvSpPr>
          <p:spPr>
            <a:xfrm flipH="false" flipV="false" rot="0">
              <a:off x="0" y="0"/>
              <a:ext cx="10922508" cy="3369564"/>
            </a:xfrm>
            <a:custGeom>
              <a:avLst/>
              <a:gdLst/>
              <a:ahLst/>
              <a:cxnLst/>
              <a:rect r="r" b="b" t="t" l="l"/>
              <a:pathLst>
                <a:path h="3369564" w="10922508">
                  <a:moveTo>
                    <a:pt x="0" y="269621"/>
                  </a:moveTo>
                  <a:cubicBezTo>
                    <a:pt x="0" y="120650"/>
                    <a:pt x="120650" y="0"/>
                    <a:pt x="269621" y="0"/>
                  </a:cubicBezTo>
                  <a:lnTo>
                    <a:pt x="10652887" y="0"/>
                  </a:lnTo>
                  <a:cubicBezTo>
                    <a:pt x="10801731" y="0"/>
                    <a:pt x="10922508" y="120650"/>
                    <a:pt x="10922508" y="269621"/>
                  </a:cubicBezTo>
                  <a:lnTo>
                    <a:pt x="10922508" y="3099943"/>
                  </a:lnTo>
                  <a:cubicBezTo>
                    <a:pt x="10922508" y="3248787"/>
                    <a:pt x="10801858" y="3369564"/>
                    <a:pt x="10652887" y="3369564"/>
                  </a:cubicBezTo>
                  <a:lnTo>
                    <a:pt x="269621" y="3369564"/>
                  </a:lnTo>
                  <a:cubicBezTo>
                    <a:pt x="120650" y="3369564"/>
                    <a:pt x="0" y="3248914"/>
                    <a:pt x="0" y="3099943"/>
                  </a:cubicBezTo>
                  <a:close/>
                </a:path>
              </a:pathLst>
            </a:custGeom>
            <a:solidFill>
              <a:srgbClr val="FFFFFF"/>
            </a:solidFill>
            <a:ln w="17145" cap="sq">
              <a:solidFill>
                <a:srgbClr val="D9E4F4"/>
              </a:solidFill>
              <a:prstDash val="solid"/>
              <a:miter/>
            </a:ln>
          </p:spPr>
        </p:sp>
      </p:grpSp>
      <p:grpSp>
        <p:nvGrpSpPr>
          <p:cNvPr name="Group 24" id="24"/>
          <p:cNvGrpSpPr/>
          <p:nvPr/>
        </p:nvGrpSpPr>
        <p:grpSpPr>
          <a:xfrm rot="0">
            <a:off x="946404" y="5760720"/>
            <a:ext cx="116586" cy="2510028"/>
            <a:chOff x="0" y="0"/>
            <a:chExt cx="155448" cy="3346704"/>
          </a:xfrm>
        </p:grpSpPr>
        <p:sp>
          <p:nvSpPr>
            <p:cNvPr name="Freeform 25" id="25"/>
            <p:cNvSpPr/>
            <p:nvPr/>
          </p:nvSpPr>
          <p:spPr>
            <a:xfrm flipH="false" flipV="false" rot="0">
              <a:off x="0" y="0"/>
              <a:ext cx="155448" cy="3346704"/>
            </a:xfrm>
            <a:custGeom>
              <a:avLst/>
              <a:gdLst/>
              <a:ahLst/>
              <a:cxnLst/>
              <a:rect r="r" b="b" t="t" l="l"/>
              <a:pathLst>
                <a:path h="3346704" w="155448">
                  <a:moveTo>
                    <a:pt x="0" y="0"/>
                  </a:moveTo>
                  <a:lnTo>
                    <a:pt x="155448" y="0"/>
                  </a:lnTo>
                  <a:lnTo>
                    <a:pt x="155448" y="3346704"/>
                  </a:lnTo>
                  <a:lnTo>
                    <a:pt x="0" y="3346704"/>
                  </a:lnTo>
                  <a:close/>
                </a:path>
              </a:pathLst>
            </a:custGeom>
            <a:solidFill>
              <a:srgbClr val="104BAC"/>
            </a:solidFill>
          </p:spPr>
        </p:sp>
      </p:grpSp>
      <p:sp>
        <p:nvSpPr>
          <p:cNvPr name="TextBox 26" id="26"/>
          <p:cNvSpPr txBox="true"/>
          <p:nvPr/>
        </p:nvSpPr>
        <p:spPr>
          <a:xfrm rot="0">
            <a:off x="1252728" y="5890641"/>
            <a:ext cx="2022634" cy="480517"/>
          </a:xfrm>
          <a:prstGeom prst="rect">
            <a:avLst/>
          </a:prstGeom>
        </p:spPr>
        <p:txBody>
          <a:bodyPr anchor="t" rtlCol="false" tIns="0" lIns="0" bIns="0" rIns="0">
            <a:spAutoFit/>
          </a:bodyPr>
          <a:lstStyle/>
          <a:p>
            <a:pPr algn="l">
              <a:lnSpc>
                <a:spcPts val="3767"/>
              </a:lnSpc>
            </a:pPr>
            <a:r>
              <a:rPr lang="en-US" sz="2729" b="true">
                <a:solidFill>
                  <a:srgbClr val="104BAC"/>
                </a:solidFill>
                <a:latin typeface="Times New Roman Bold"/>
                <a:ea typeface="Times New Roman Bold"/>
                <a:cs typeface="Times New Roman Bold"/>
                <a:sym typeface="Times New Roman Bold"/>
              </a:rPr>
              <a:t>METADATA</a:t>
            </a:r>
          </a:p>
        </p:txBody>
      </p:sp>
      <p:sp>
        <p:nvSpPr>
          <p:cNvPr name="TextBox 27" id="27"/>
          <p:cNvSpPr txBox="true"/>
          <p:nvPr/>
        </p:nvSpPr>
        <p:spPr>
          <a:xfrm rot="0">
            <a:off x="1266444" y="6452997"/>
            <a:ext cx="7452360" cy="480517"/>
          </a:xfrm>
          <a:prstGeom prst="rect">
            <a:avLst/>
          </a:prstGeom>
        </p:spPr>
        <p:txBody>
          <a:bodyPr anchor="t" rtlCol="false" tIns="0" lIns="0" bIns="0" rIns="0">
            <a:spAutoFit/>
          </a:bodyPr>
          <a:lstStyle/>
          <a:p>
            <a:pPr algn="l">
              <a:lnSpc>
                <a:spcPts val="3767"/>
              </a:lnSpc>
            </a:pPr>
            <a:r>
              <a:rPr lang="en-US" sz="2729" b="true">
                <a:solidFill>
                  <a:srgbClr val="0E43A6"/>
                </a:solidFill>
                <a:latin typeface="Times New Roman Bold"/>
                <a:ea typeface="Times New Roman Bold"/>
                <a:cs typeface="Times New Roman Bold"/>
                <a:sym typeface="Times New Roman Bold"/>
              </a:rPr>
              <a:t>1.636 dòng × 32 cột</a:t>
            </a:r>
          </a:p>
        </p:txBody>
      </p:sp>
      <p:sp>
        <p:nvSpPr>
          <p:cNvPr name="TextBox 28" id="28"/>
          <p:cNvSpPr txBox="true"/>
          <p:nvPr/>
        </p:nvSpPr>
        <p:spPr>
          <a:xfrm rot="0">
            <a:off x="1266444" y="7052310"/>
            <a:ext cx="7438644" cy="321488"/>
          </a:xfrm>
          <a:prstGeom prst="rect">
            <a:avLst/>
          </a:prstGeom>
        </p:spPr>
        <p:txBody>
          <a:bodyPr anchor="t" rtlCol="false" tIns="0" lIns="0" bIns="0" rIns="0">
            <a:spAutoFit/>
          </a:bodyPr>
          <a:lstStyle/>
          <a:p>
            <a:pPr algn="l">
              <a:lnSpc>
                <a:spcPts val="2442"/>
              </a:lnSpc>
            </a:pPr>
            <a:r>
              <a:rPr lang="en-US" sz="1770">
                <a:solidFill>
                  <a:srgbClr val="087F98"/>
                </a:solidFill>
                <a:latin typeface="Times New Roman"/>
                <a:ea typeface="Times New Roman"/>
                <a:cs typeface="Times New Roman"/>
                <a:sym typeface="Times New Roman"/>
              </a:rPr>
              <a:t>metadata/metadata.csv</a:t>
            </a:r>
          </a:p>
        </p:txBody>
      </p:sp>
      <p:sp>
        <p:nvSpPr>
          <p:cNvPr name="TextBox 29" id="29"/>
          <p:cNvSpPr txBox="true"/>
          <p:nvPr/>
        </p:nvSpPr>
        <p:spPr>
          <a:xfrm rot="0">
            <a:off x="1266444" y="7504938"/>
            <a:ext cx="7452360" cy="354959"/>
          </a:xfrm>
          <a:prstGeom prst="rect">
            <a:avLst/>
          </a:prstGeom>
        </p:spPr>
        <p:txBody>
          <a:bodyPr anchor="t" rtlCol="false" tIns="0" lIns="0" bIns="0" rIns="0">
            <a:spAutoFit/>
          </a:bodyPr>
          <a:lstStyle/>
          <a:p>
            <a:pPr algn="l">
              <a:lnSpc>
                <a:spcPts val="2722"/>
              </a:lnSpc>
            </a:pPr>
            <a:r>
              <a:rPr lang="en-US" sz="1972">
                <a:solidFill>
                  <a:srgbClr val="243248"/>
                </a:solidFill>
                <a:latin typeface="Times New Roman"/>
                <a:ea typeface="Times New Roman"/>
                <a:cs typeface="Times New Roman"/>
                <a:sym typeface="Times New Roman"/>
              </a:rPr>
              <a:t>Thông tin định danh, công năng, quy mô tòa nhà.</a:t>
            </a:r>
          </a:p>
        </p:txBody>
      </p:sp>
      <p:grpSp>
        <p:nvGrpSpPr>
          <p:cNvPr name="Group 30" id="30"/>
          <p:cNvGrpSpPr/>
          <p:nvPr/>
        </p:nvGrpSpPr>
        <p:grpSpPr>
          <a:xfrm rot="0">
            <a:off x="9510332" y="5752147"/>
            <a:ext cx="8191881" cy="2527173"/>
            <a:chOff x="0" y="0"/>
            <a:chExt cx="10922508" cy="3369564"/>
          </a:xfrm>
        </p:grpSpPr>
        <p:sp>
          <p:nvSpPr>
            <p:cNvPr name="Freeform 31" id="31"/>
            <p:cNvSpPr/>
            <p:nvPr/>
          </p:nvSpPr>
          <p:spPr>
            <a:xfrm flipH="false" flipV="false" rot="0">
              <a:off x="0" y="0"/>
              <a:ext cx="10922508" cy="3369564"/>
            </a:xfrm>
            <a:custGeom>
              <a:avLst/>
              <a:gdLst/>
              <a:ahLst/>
              <a:cxnLst/>
              <a:rect r="r" b="b" t="t" l="l"/>
              <a:pathLst>
                <a:path h="3369564" w="10922508">
                  <a:moveTo>
                    <a:pt x="0" y="269621"/>
                  </a:moveTo>
                  <a:cubicBezTo>
                    <a:pt x="0" y="120650"/>
                    <a:pt x="120650" y="0"/>
                    <a:pt x="269621" y="0"/>
                  </a:cubicBezTo>
                  <a:lnTo>
                    <a:pt x="10652887" y="0"/>
                  </a:lnTo>
                  <a:cubicBezTo>
                    <a:pt x="10801731" y="0"/>
                    <a:pt x="10922508" y="120650"/>
                    <a:pt x="10922508" y="269621"/>
                  </a:cubicBezTo>
                  <a:lnTo>
                    <a:pt x="10922508" y="3099943"/>
                  </a:lnTo>
                  <a:cubicBezTo>
                    <a:pt x="10922508" y="3248787"/>
                    <a:pt x="10801858" y="3369564"/>
                    <a:pt x="10652887" y="3369564"/>
                  </a:cubicBezTo>
                  <a:lnTo>
                    <a:pt x="269621" y="3369564"/>
                  </a:lnTo>
                  <a:cubicBezTo>
                    <a:pt x="120650" y="3369564"/>
                    <a:pt x="0" y="3248914"/>
                    <a:pt x="0" y="3099943"/>
                  </a:cubicBezTo>
                  <a:close/>
                </a:path>
              </a:pathLst>
            </a:custGeom>
            <a:solidFill>
              <a:srgbClr val="FFFFFF"/>
            </a:solidFill>
            <a:ln w="17145" cap="sq">
              <a:solidFill>
                <a:srgbClr val="D9E4F4"/>
              </a:solidFill>
              <a:prstDash val="solid"/>
              <a:miter/>
            </a:ln>
          </p:spPr>
        </p:sp>
      </p:grpSp>
      <p:grpSp>
        <p:nvGrpSpPr>
          <p:cNvPr name="Group 32" id="32"/>
          <p:cNvGrpSpPr/>
          <p:nvPr/>
        </p:nvGrpSpPr>
        <p:grpSpPr>
          <a:xfrm rot="0">
            <a:off x="9518904" y="5760720"/>
            <a:ext cx="116586" cy="2510028"/>
            <a:chOff x="0" y="0"/>
            <a:chExt cx="155448" cy="3346704"/>
          </a:xfrm>
        </p:grpSpPr>
        <p:sp>
          <p:nvSpPr>
            <p:cNvPr name="Freeform 33" id="33"/>
            <p:cNvSpPr/>
            <p:nvPr/>
          </p:nvSpPr>
          <p:spPr>
            <a:xfrm flipH="false" flipV="false" rot="0">
              <a:off x="0" y="0"/>
              <a:ext cx="155448" cy="3346704"/>
            </a:xfrm>
            <a:custGeom>
              <a:avLst/>
              <a:gdLst/>
              <a:ahLst/>
              <a:cxnLst/>
              <a:rect r="r" b="b" t="t" l="l"/>
              <a:pathLst>
                <a:path h="3346704" w="155448">
                  <a:moveTo>
                    <a:pt x="0" y="0"/>
                  </a:moveTo>
                  <a:lnTo>
                    <a:pt x="155448" y="0"/>
                  </a:lnTo>
                  <a:lnTo>
                    <a:pt x="155448" y="3346704"/>
                  </a:lnTo>
                  <a:lnTo>
                    <a:pt x="0" y="3346704"/>
                  </a:lnTo>
                  <a:close/>
                </a:path>
              </a:pathLst>
            </a:custGeom>
            <a:solidFill>
              <a:srgbClr val="087F98"/>
            </a:solidFill>
          </p:spPr>
        </p:sp>
      </p:grpSp>
      <p:sp>
        <p:nvSpPr>
          <p:cNvPr name="TextBox 34" id="34"/>
          <p:cNvSpPr txBox="true"/>
          <p:nvPr/>
        </p:nvSpPr>
        <p:spPr>
          <a:xfrm rot="0">
            <a:off x="9825228" y="5890641"/>
            <a:ext cx="1810941" cy="480517"/>
          </a:xfrm>
          <a:prstGeom prst="rect">
            <a:avLst/>
          </a:prstGeom>
        </p:spPr>
        <p:txBody>
          <a:bodyPr anchor="t" rtlCol="false" tIns="0" lIns="0" bIns="0" rIns="0">
            <a:spAutoFit/>
          </a:bodyPr>
          <a:lstStyle/>
          <a:p>
            <a:pPr algn="l">
              <a:lnSpc>
                <a:spcPts val="3767"/>
              </a:lnSpc>
            </a:pPr>
            <a:r>
              <a:rPr lang="en-US" sz="2729" b="true">
                <a:solidFill>
                  <a:srgbClr val="104BAC"/>
                </a:solidFill>
                <a:latin typeface="Times New Roman Bold"/>
                <a:ea typeface="Times New Roman Bold"/>
                <a:cs typeface="Times New Roman Bold"/>
                <a:sym typeface="Times New Roman Bold"/>
              </a:rPr>
              <a:t>WEATHER</a:t>
            </a:r>
          </a:p>
        </p:txBody>
      </p:sp>
      <p:sp>
        <p:nvSpPr>
          <p:cNvPr name="TextBox 35" id="35"/>
          <p:cNvSpPr txBox="true"/>
          <p:nvPr/>
        </p:nvSpPr>
        <p:spPr>
          <a:xfrm rot="0">
            <a:off x="9838944" y="6452997"/>
            <a:ext cx="7452360" cy="480517"/>
          </a:xfrm>
          <a:prstGeom prst="rect">
            <a:avLst/>
          </a:prstGeom>
        </p:spPr>
        <p:txBody>
          <a:bodyPr anchor="t" rtlCol="false" tIns="0" lIns="0" bIns="0" rIns="0">
            <a:spAutoFit/>
          </a:bodyPr>
          <a:lstStyle/>
          <a:p>
            <a:pPr algn="l">
              <a:lnSpc>
                <a:spcPts val="3767"/>
              </a:lnSpc>
            </a:pPr>
            <a:r>
              <a:rPr lang="en-US" sz="2729" b="true">
                <a:solidFill>
                  <a:srgbClr val="0E43A6"/>
                </a:solidFill>
                <a:latin typeface="Times New Roman Bold"/>
                <a:ea typeface="Times New Roman Bold"/>
                <a:cs typeface="Times New Roman Bold"/>
                <a:sym typeface="Times New Roman Bold"/>
              </a:rPr>
              <a:t>331.166 dòng × 10 cột</a:t>
            </a:r>
          </a:p>
        </p:txBody>
      </p:sp>
      <p:sp>
        <p:nvSpPr>
          <p:cNvPr name="TextBox 36" id="36"/>
          <p:cNvSpPr txBox="true"/>
          <p:nvPr/>
        </p:nvSpPr>
        <p:spPr>
          <a:xfrm rot="0">
            <a:off x="9838944" y="7052310"/>
            <a:ext cx="7438644" cy="321488"/>
          </a:xfrm>
          <a:prstGeom prst="rect">
            <a:avLst/>
          </a:prstGeom>
        </p:spPr>
        <p:txBody>
          <a:bodyPr anchor="t" rtlCol="false" tIns="0" lIns="0" bIns="0" rIns="0">
            <a:spAutoFit/>
          </a:bodyPr>
          <a:lstStyle/>
          <a:p>
            <a:pPr algn="l">
              <a:lnSpc>
                <a:spcPts val="2442"/>
              </a:lnSpc>
            </a:pPr>
            <a:r>
              <a:rPr lang="en-US" sz="1770">
                <a:solidFill>
                  <a:srgbClr val="087F98"/>
                </a:solidFill>
                <a:latin typeface="Times New Roman"/>
                <a:ea typeface="Times New Roman"/>
                <a:cs typeface="Times New Roman"/>
                <a:sym typeface="Times New Roman"/>
              </a:rPr>
              <a:t>weather/weather.csv</a:t>
            </a:r>
          </a:p>
        </p:txBody>
      </p:sp>
      <p:sp>
        <p:nvSpPr>
          <p:cNvPr name="TextBox 37" id="37"/>
          <p:cNvSpPr txBox="true"/>
          <p:nvPr/>
        </p:nvSpPr>
        <p:spPr>
          <a:xfrm rot="0">
            <a:off x="9838944" y="7504938"/>
            <a:ext cx="7452360" cy="354959"/>
          </a:xfrm>
          <a:prstGeom prst="rect">
            <a:avLst/>
          </a:prstGeom>
        </p:spPr>
        <p:txBody>
          <a:bodyPr anchor="t" rtlCol="false" tIns="0" lIns="0" bIns="0" rIns="0">
            <a:spAutoFit/>
          </a:bodyPr>
          <a:lstStyle/>
          <a:p>
            <a:pPr algn="l">
              <a:lnSpc>
                <a:spcPts val="2722"/>
              </a:lnSpc>
            </a:pPr>
            <a:r>
              <a:rPr lang="en-US" sz="1972">
                <a:solidFill>
                  <a:srgbClr val="243248"/>
                </a:solidFill>
                <a:latin typeface="Times New Roman"/>
                <a:ea typeface="Times New Roman"/>
                <a:cs typeface="Times New Roman"/>
                <a:sym typeface="Times New Roman"/>
              </a:rPr>
              <a:t>Các thông số thời tiết theo khu vực và thời điểm.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7163633" y="4373771"/>
            <a:ext cx="1446459" cy="1816330"/>
          </a:xfrm>
          <a:custGeom>
            <a:avLst/>
            <a:gdLst/>
            <a:ahLst/>
            <a:cxnLst/>
            <a:rect r="r" b="b" t="t" l="l"/>
            <a:pathLst>
              <a:path h="1816330" w="1446459">
                <a:moveTo>
                  <a:pt x="0" y="0"/>
                </a:moveTo>
                <a:lnTo>
                  <a:pt x="1446459" y="0"/>
                </a:lnTo>
                <a:lnTo>
                  <a:pt x="1446459" y="1816330"/>
                </a:lnTo>
                <a:lnTo>
                  <a:pt x="0" y="18163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7033303" y="1503136"/>
            <a:ext cx="1446459" cy="1816330"/>
          </a:xfrm>
          <a:custGeom>
            <a:avLst/>
            <a:gdLst/>
            <a:ahLst/>
            <a:cxnLst/>
            <a:rect r="r" b="b" t="t" l="l"/>
            <a:pathLst>
              <a:path h="1816330" w="1446459">
                <a:moveTo>
                  <a:pt x="0" y="0"/>
                </a:moveTo>
                <a:lnTo>
                  <a:pt x="1446459" y="0"/>
                </a:lnTo>
                <a:lnTo>
                  <a:pt x="1446459" y="1816330"/>
                </a:lnTo>
                <a:lnTo>
                  <a:pt x="0" y="18163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987552" y="789051"/>
            <a:ext cx="16459200" cy="706907"/>
          </a:xfrm>
          <a:prstGeom prst="rect">
            <a:avLst/>
          </a:prstGeom>
        </p:spPr>
        <p:txBody>
          <a:bodyPr anchor="t" rtlCol="false" tIns="0" lIns="0" bIns="0" rIns="0">
            <a:spAutoFit/>
          </a:bodyPr>
          <a:lstStyle/>
          <a:p>
            <a:pPr algn="l">
              <a:lnSpc>
                <a:spcPts val="5428"/>
              </a:lnSpc>
            </a:pPr>
            <a:r>
              <a:rPr lang="en-US" sz="4350" b="true">
                <a:solidFill>
                  <a:srgbClr val="104BAC"/>
                </a:solidFill>
                <a:latin typeface="Times New Roman Bold"/>
                <a:ea typeface="Times New Roman Bold"/>
                <a:cs typeface="Times New Roman Bold"/>
                <a:sym typeface="Times New Roman Bold"/>
              </a:rPr>
              <a:t>ELECTRICITY: DẠNG RỘNG VÀ DẠNG DÀI</a:t>
            </a:r>
          </a:p>
        </p:txBody>
      </p:sp>
      <p:grpSp>
        <p:nvGrpSpPr>
          <p:cNvPr name="Group 8" id="8"/>
          <p:cNvGrpSpPr/>
          <p:nvPr/>
        </p:nvGrpSpPr>
        <p:grpSpPr>
          <a:xfrm rot="0">
            <a:off x="952500" y="2927604"/>
            <a:ext cx="7696200" cy="4075176"/>
            <a:chOff x="0" y="0"/>
            <a:chExt cx="10261600" cy="5433568"/>
          </a:xfrm>
        </p:grpSpPr>
        <p:sp>
          <p:nvSpPr>
            <p:cNvPr name="Freeform 9" id="9"/>
            <p:cNvSpPr/>
            <p:nvPr/>
          </p:nvSpPr>
          <p:spPr>
            <a:xfrm flipH="false" flipV="false" rot="0">
              <a:off x="0" y="0"/>
              <a:ext cx="10261600" cy="5433568"/>
            </a:xfrm>
            <a:custGeom>
              <a:avLst/>
              <a:gdLst/>
              <a:ahLst/>
              <a:cxnLst/>
              <a:rect r="r" b="b" t="t" l="l"/>
              <a:pathLst>
                <a:path h="5433568" w="10261600">
                  <a:moveTo>
                    <a:pt x="0" y="489077"/>
                  </a:moveTo>
                  <a:cubicBezTo>
                    <a:pt x="0" y="218948"/>
                    <a:pt x="218948" y="0"/>
                    <a:pt x="489077" y="0"/>
                  </a:cubicBezTo>
                  <a:lnTo>
                    <a:pt x="9772523" y="0"/>
                  </a:lnTo>
                  <a:cubicBezTo>
                    <a:pt x="10042652" y="0"/>
                    <a:pt x="10261600" y="218948"/>
                    <a:pt x="10261600" y="489077"/>
                  </a:cubicBezTo>
                  <a:lnTo>
                    <a:pt x="10261600" y="4944491"/>
                  </a:lnTo>
                  <a:cubicBezTo>
                    <a:pt x="10261600" y="5214620"/>
                    <a:pt x="10042652" y="5433568"/>
                    <a:pt x="9772523" y="5433568"/>
                  </a:cubicBezTo>
                  <a:lnTo>
                    <a:pt x="489077" y="5433568"/>
                  </a:lnTo>
                  <a:cubicBezTo>
                    <a:pt x="218948" y="5433568"/>
                    <a:pt x="0" y="5214620"/>
                    <a:pt x="0" y="4944491"/>
                  </a:cubicBezTo>
                  <a:close/>
                </a:path>
              </a:pathLst>
            </a:custGeom>
            <a:solidFill>
              <a:srgbClr val="FFFFFF"/>
            </a:solidFill>
            <a:ln w="15240" cap="sq">
              <a:solidFill>
                <a:srgbClr val="FFFFFF"/>
              </a:solidFill>
              <a:prstDash val="solid"/>
              <a:miter/>
            </a:ln>
          </p:spPr>
        </p:sp>
      </p:grpSp>
      <p:grpSp>
        <p:nvGrpSpPr>
          <p:cNvPr name="Group 10" id="10"/>
          <p:cNvGrpSpPr/>
          <p:nvPr/>
        </p:nvGrpSpPr>
        <p:grpSpPr>
          <a:xfrm rot="0">
            <a:off x="9607296" y="2927604"/>
            <a:ext cx="7696200" cy="4075176"/>
            <a:chOff x="0" y="0"/>
            <a:chExt cx="10261600" cy="5433568"/>
          </a:xfrm>
        </p:grpSpPr>
        <p:sp>
          <p:nvSpPr>
            <p:cNvPr name="Freeform 11" id="11"/>
            <p:cNvSpPr/>
            <p:nvPr/>
          </p:nvSpPr>
          <p:spPr>
            <a:xfrm flipH="false" flipV="false" rot="0">
              <a:off x="0" y="0"/>
              <a:ext cx="10261600" cy="5433568"/>
            </a:xfrm>
            <a:custGeom>
              <a:avLst/>
              <a:gdLst/>
              <a:ahLst/>
              <a:cxnLst/>
              <a:rect r="r" b="b" t="t" l="l"/>
              <a:pathLst>
                <a:path h="5433568" w="10261600">
                  <a:moveTo>
                    <a:pt x="0" y="489077"/>
                  </a:moveTo>
                  <a:cubicBezTo>
                    <a:pt x="0" y="218948"/>
                    <a:pt x="218948" y="0"/>
                    <a:pt x="489077" y="0"/>
                  </a:cubicBezTo>
                  <a:lnTo>
                    <a:pt x="9772523" y="0"/>
                  </a:lnTo>
                  <a:cubicBezTo>
                    <a:pt x="10042652" y="0"/>
                    <a:pt x="10261600" y="218948"/>
                    <a:pt x="10261600" y="489077"/>
                  </a:cubicBezTo>
                  <a:lnTo>
                    <a:pt x="10261600" y="4944491"/>
                  </a:lnTo>
                  <a:cubicBezTo>
                    <a:pt x="10261600" y="5214620"/>
                    <a:pt x="10042652" y="5433568"/>
                    <a:pt x="9772523" y="5433568"/>
                  </a:cubicBezTo>
                  <a:lnTo>
                    <a:pt x="489077" y="5433568"/>
                  </a:lnTo>
                  <a:cubicBezTo>
                    <a:pt x="218948" y="5433568"/>
                    <a:pt x="0" y="5214620"/>
                    <a:pt x="0" y="4944491"/>
                  </a:cubicBezTo>
                  <a:close/>
                </a:path>
              </a:pathLst>
            </a:custGeom>
            <a:solidFill>
              <a:srgbClr val="FFFFFF"/>
            </a:solidFill>
            <a:ln w="15240" cap="sq">
              <a:solidFill>
                <a:srgbClr val="FFFFFF"/>
              </a:solidFill>
              <a:prstDash val="solid"/>
              <a:miter/>
            </a:ln>
          </p:spPr>
        </p:sp>
      </p:grpSp>
      <p:sp>
        <p:nvSpPr>
          <p:cNvPr name="TextBox 12" id="12"/>
          <p:cNvSpPr txBox="true"/>
          <p:nvPr/>
        </p:nvSpPr>
        <p:spPr>
          <a:xfrm rot="0">
            <a:off x="1303020" y="3098673"/>
            <a:ext cx="6858000" cy="422331"/>
          </a:xfrm>
          <a:prstGeom prst="rect">
            <a:avLst/>
          </a:prstGeom>
        </p:spPr>
        <p:txBody>
          <a:bodyPr anchor="t" rtlCol="false" tIns="0" lIns="0" bIns="0" rIns="0">
            <a:spAutoFit/>
          </a:bodyPr>
          <a:lstStyle/>
          <a:p>
            <a:pPr algn="l">
              <a:lnSpc>
                <a:spcPts val="3238"/>
              </a:lnSpc>
            </a:pPr>
            <a:r>
              <a:rPr lang="en-US" sz="2595" b="true">
                <a:solidFill>
                  <a:srgbClr val="104BAC"/>
                </a:solidFill>
                <a:latin typeface="Times New Roman Bold"/>
                <a:ea typeface="Times New Roman Bold"/>
                <a:cs typeface="Times New Roman Bold"/>
                <a:sym typeface="Times New Roman Bold"/>
              </a:rPr>
              <a:t>DẠNG RỘNG (CSV GỐC)</a:t>
            </a:r>
          </a:p>
        </p:txBody>
      </p:sp>
      <p:sp>
        <p:nvSpPr>
          <p:cNvPr name="TextBox 13" id="13"/>
          <p:cNvSpPr txBox="true"/>
          <p:nvPr/>
        </p:nvSpPr>
        <p:spPr>
          <a:xfrm rot="0">
            <a:off x="9971532" y="3098673"/>
            <a:ext cx="6858000" cy="422331"/>
          </a:xfrm>
          <a:prstGeom prst="rect">
            <a:avLst/>
          </a:prstGeom>
        </p:spPr>
        <p:txBody>
          <a:bodyPr anchor="t" rtlCol="false" tIns="0" lIns="0" bIns="0" rIns="0">
            <a:spAutoFit/>
          </a:bodyPr>
          <a:lstStyle/>
          <a:p>
            <a:pPr algn="l">
              <a:lnSpc>
                <a:spcPts val="3238"/>
              </a:lnSpc>
            </a:pPr>
            <a:r>
              <a:rPr lang="en-US" sz="2595" b="true">
                <a:solidFill>
                  <a:srgbClr val="104BAC"/>
                </a:solidFill>
                <a:latin typeface="Times New Roman Bold"/>
                <a:ea typeface="Times New Roman Bold"/>
                <a:cs typeface="Times New Roman Bold"/>
                <a:sym typeface="Times New Roman Bold"/>
              </a:rPr>
              <a:t>DẠNG DÀI (SAU CHUYỂN)</a:t>
            </a:r>
          </a:p>
        </p:txBody>
      </p:sp>
      <p:grpSp>
        <p:nvGrpSpPr>
          <p:cNvPr name="Group 14" id="14"/>
          <p:cNvGrpSpPr/>
          <p:nvPr/>
        </p:nvGrpSpPr>
        <p:grpSpPr>
          <a:xfrm rot="0">
            <a:off x="1199388" y="3805428"/>
            <a:ext cx="7024116" cy="714756"/>
            <a:chOff x="0" y="0"/>
            <a:chExt cx="9365488" cy="953008"/>
          </a:xfrm>
        </p:grpSpPr>
        <p:sp>
          <p:nvSpPr>
            <p:cNvPr name="Freeform 15" id="15"/>
            <p:cNvSpPr/>
            <p:nvPr/>
          </p:nvSpPr>
          <p:spPr>
            <a:xfrm flipH="false" flipV="false" rot="0">
              <a:off x="0" y="0"/>
              <a:ext cx="9365488" cy="953008"/>
            </a:xfrm>
            <a:custGeom>
              <a:avLst/>
              <a:gdLst/>
              <a:ahLst/>
              <a:cxnLst/>
              <a:rect r="r" b="b" t="t" l="l"/>
              <a:pathLst>
                <a:path h="953008" w="9365488">
                  <a:moveTo>
                    <a:pt x="0" y="0"/>
                  </a:moveTo>
                  <a:lnTo>
                    <a:pt x="9365488" y="0"/>
                  </a:lnTo>
                  <a:lnTo>
                    <a:pt x="9365488" y="953008"/>
                  </a:lnTo>
                  <a:lnTo>
                    <a:pt x="0" y="953008"/>
                  </a:lnTo>
                  <a:close/>
                </a:path>
              </a:pathLst>
            </a:custGeom>
            <a:solidFill>
              <a:srgbClr val="EFF5FC"/>
            </a:solidFill>
            <a:ln w="15240" cap="sq">
              <a:solidFill>
                <a:srgbClr val="FFFFFF"/>
              </a:solidFill>
              <a:prstDash val="solid"/>
              <a:miter/>
            </a:ln>
          </p:spPr>
        </p:sp>
      </p:grpSp>
      <p:grpSp>
        <p:nvGrpSpPr>
          <p:cNvPr name="Group 16" id="16"/>
          <p:cNvGrpSpPr/>
          <p:nvPr/>
        </p:nvGrpSpPr>
        <p:grpSpPr>
          <a:xfrm rot="0">
            <a:off x="1316736" y="3922776"/>
            <a:ext cx="2153412" cy="507492"/>
            <a:chOff x="0" y="0"/>
            <a:chExt cx="2871216" cy="676656"/>
          </a:xfrm>
        </p:grpSpPr>
        <p:sp>
          <p:nvSpPr>
            <p:cNvPr name="Freeform 17" id="17"/>
            <p:cNvSpPr/>
            <p:nvPr/>
          </p:nvSpPr>
          <p:spPr>
            <a:xfrm flipH="false" flipV="false" rot="0">
              <a:off x="0" y="0"/>
              <a:ext cx="2871216" cy="676656"/>
            </a:xfrm>
            <a:custGeom>
              <a:avLst/>
              <a:gdLst/>
              <a:ahLst/>
              <a:cxnLst/>
              <a:rect r="r" b="b" t="t" l="l"/>
              <a:pathLst>
                <a:path h="676656" w="2871216">
                  <a:moveTo>
                    <a:pt x="0" y="0"/>
                  </a:moveTo>
                  <a:lnTo>
                    <a:pt x="2871216" y="0"/>
                  </a:lnTo>
                  <a:lnTo>
                    <a:pt x="2871216" y="676656"/>
                  </a:lnTo>
                  <a:lnTo>
                    <a:pt x="0" y="676656"/>
                  </a:lnTo>
                  <a:close/>
                </a:path>
              </a:pathLst>
            </a:custGeom>
            <a:blipFill>
              <a:blip r:embed="rId7">
                <a:alphaModFix amt="0"/>
              </a:blip>
              <a:stretch>
                <a:fillRect l="0" t="-32679" r="0" b="-32679"/>
              </a:stretch>
            </a:blipFill>
          </p:spPr>
        </p:sp>
        <p:sp>
          <p:nvSpPr>
            <p:cNvPr name="TextBox 18" id="18"/>
            <p:cNvSpPr txBox="true"/>
            <p:nvPr/>
          </p:nvSpPr>
          <p:spPr>
            <a:xfrm>
              <a:off x="0" y="-28575"/>
              <a:ext cx="2871216"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timestamp</a:t>
              </a:r>
            </a:p>
          </p:txBody>
        </p:sp>
      </p:grpSp>
      <p:grpSp>
        <p:nvGrpSpPr>
          <p:cNvPr name="Group 19" id="19"/>
          <p:cNvGrpSpPr/>
          <p:nvPr/>
        </p:nvGrpSpPr>
        <p:grpSpPr>
          <a:xfrm rot="0">
            <a:off x="3689604" y="3922776"/>
            <a:ext cx="2098548" cy="507492"/>
            <a:chOff x="0" y="0"/>
            <a:chExt cx="2798064" cy="676656"/>
          </a:xfrm>
        </p:grpSpPr>
        <p:sp>
          <p:nvSpPr>
            <p:cNvPr name="Freeform 20" id="20"/>
            <p:cNvSpPr/>
            <p:nvPr/>
          </p:nvSpPr>
          <p:spPr>
            <a:xfrm flipH="false" flipV="false" rot="0">
              <a:off x="0" y="0"/>
              <a:ext cx="2798064" cy="676656"/>
            </a:xfrm>
            <a:custGeom>
              <a:avLst/>
              <a:gdLst/>
              <a:ahLst/>
              <a:cxnLst/>
              <a:rect r="r" b="b" t="t" l="l"/>
              <a:pathLst>
                <a:path h="676656" w="2798064">
                  <a:moveTo>
                    <a:pt x="0" y="0"/>
                  </a:moveTo>
                  <a:lnTo>
                    <a:pt x="2798064" y="0"/>
                  </a:lnTo>
                  <a:lnTo>
                    <a:pt x="2798064" y="676656"/>
                  </a:lnTo>
                  <a:lnTo>
                    <a:pt x="0" y="676656"/>
                  </a:lnTo>
                  <a:close/>
                </a:path>
              </a:pathLst>
            </a:custGeom>
            <a:blipFill>
              <a:blip r:embed="rId7">
                <a:alphaModFix amt="0"/>
              </a:blip>
              <a:stretch>
                <a:fillRect l="0" t="-30573" r="0" b="-30573"/>
              </a:stretch>
            </a:blipFill>
          </p:spPr>
        </p:sp>
        <p:sp>
          <p:nvSpPr>
            <p:cNvPr name="TextBox 21" id="21"/>
            <p:cNvSpPr txBox="true"/>
            <p:nvPr/>
          </p:nvSpPr>
          <p:spPr>
            <a:xfrm>
              <a:off x="0" y="-28575"/>
              <a:ext cx="2798064"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Tòa A</a:t>
              </a:r>
            </a:p>
          </p:txBody>
        </p:sp>
      </p:grpSp>
      <p:grpSp>
        <p:nvGrpSpPr>
          <p:cNvPr name="Group 22" id="22"/>
          <p:cNvGrpSpPr/>
          <p:nvPr/>
        </p:nvGrpSpPr>
        <p:grpSpPr>
          <a:xfrm rot="0">
            <a:off x="6007608" y="3922776"/>
            <a:ext cx="2098548" cy="507492"/>
            <a:chOff x="0" y="0"/>
            <a:chExt cx="2798064" cy="676656"/>
          </a:xfrm>
        </p:grpSpPr>
        <p:sp>
          <p:nvSpPr>
            <p:cNvPr name="Freeform 23" id="23"/>
            <p:cNvSpPr/>
            <p:nvPr/>
          </p:nvSpPr>
          <p:spPr>
            <a:xfrm flipH="false" flipV="false" rot="0">
              <a:off x="0" y="0"/>
              <a:ext cx="2798064" cy="676656"/>
            </a:xfrm>
            <a:custGeom>
              <a:avLst/>
              <a:gdLst/>
              <a:ahLst/>
              <a:cxnLst/>
              <a:rect r="r" b="b" t="t" l="l"/>
              <a:pathLst>
                <a:path h="676656" w="2798064">
                  <a:moveTo>
                    <a:pt x="0" y="0"/>
                  </a:moveTo>
                  <a:lnTo>
                    <a:pt x="2798064" y="0"/>
                  </a:lnTo>
                  <a:lnTo>
                    <a:pt x="2798064" y="676656"/>
                  </a:lnTo>
                  <a:lnTo>
                    <a:pt x="0" y="676656"/>
                  </a:lnTo>
                  <a:close/>
                </a:path>
              </a:pathLst>
            </a:custGeom>
            <a:blipFill>
              <a:blip r:embed="rId7">
                <a:alphaModFix amt="0"/>
              </a:blip>
              <a:stretch>
                <a:fillRect l="0" t="-30573" r="0" b="-30573"/>
              </a:stretch>
            </a:blipFill>
          </p:spPr>
        </p:sp>
        <p:sp>
          <p:nvSpPr>
            <p:cNvPr name="TextBox 24" id="24"/>
            <p:cNvSpPr txBox="true"/>
            <p:nvPr/>
          </p:nvSpPr>
          <p:spPr>
            <a:xfrm>
              <a:off x="0" y="-28575"/>
              <a:ext cx="2798064"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Tòa B</a:t>
              </a:r>
            </a:p>
          </p:txBody>
        </p:sp>
      </p:grpSp>
      <p:grpSp>
        <p:nvGrpSpPr>
          <p:cNvPr name="Group 25" id="25"/>
          <p:cNvGrpSpPr/>
          <p:nvPr/>
        </p:nvGrpSpPr>
        <p:grpSpPr>
          <a:xfrm rot="0">
            <a:off x="1199388" y="4504944"/>
            <a:ext cx="7024116" cy="769620"/>
            <a:chOff x="0" y="0"/>
            <a:chExt cx="9365488" cy="1026160"/>
          </a:xfrm>
        </p:grpSpPr>
        <p:sp>
          <p:nvSpPr>
            <p:cNvPr name="Freeform 26" id="26"/>
            <p:cNvSpPr/>
            <p:nvPr/>
          </p:nvSpPr>
          <p:spPr>
            <a:xfrm flipH="false" flipV="false" rot="0">
              <a:off x="0" y="0"/>
              <a:ext cx="9365488" cy="1026160"/>
            </a:xfrm>
            <a:custGeom>
              <a:avLst/>
              <a:gdLst/>
              <a:ahLst/>
              <a:cxnLst/>
              <a:rect r="r" b="b" t="t" l="l"/>
              <a:pathLst>
                <a:path h="1026160" w="9365488">
                  <a:moveTo>
                    <a:pt x="0" y="0"/>
                  </a:moveTo>
                  <a:lnTo>
                    <a:pt x="9365488" y="0"/>
                  </a:lnTo>
                  <a:lnTo>
                    <a:pt x="9365488" y="1026160"/>
                  </a:lnTo>
                  <a:lnTo>
                    <a:pt x="0" y="1026160"/>
                  </a:lnTo>
                  <a:close/>
                </a:path>
              </a:pathLst>
            </a:custGeom>
            <a:solidFill>
              <a:srgbClr val="FFFFFF"/>
            </a:solidFill>
            <a:ln w="15240" cap="sq">
              <a:solidFill>
                <a:srgbClr val="FFFFFF"/>
              </a:solidFill>
              <a:prstDash val="solid"/>
              <a:miter/>
            </a:ln>
          </p:spPr>
        </p:sp>
      </p:grpSp>
      <p:grpSp>
        <p:nvGrpSpPr>
          <p:cNvPr name="Group 27" id="27"/>
          <p:cNvGrpSpPr/>
          <p:nvPr/>
        </p:nvGrpSpPr>
        <p:grpSpPr>
          <a:xfrm rot="0">
            <a:off x="1289304" y="4567428"/>
            <a:ext cx="2208276" cy="644652"/>
            <a:chOff x="0" y="0"/>
            <a:chExt cx="2944368" cy="859536"/>
          </a:xfrm>
        </p:grpSpPr>
        <p:sp>
          <p:nvSpPr>
            <p:cNvPr name="Freeform 28" id="28"/>
            <p:cNvSpPr/>
            <p:nvPr/>
          </p:nvSpPr>
          <p:spPr>
            <a:xfrm flipH="false" flipV="false" rot="0">
              <a:off x="0" y="0"/>
              <a:ext cx="2944368" cy="859536"/>
            </a:xfrm>
            <a:custGeom>
              <a:avLst/>
              <a:gdLst/>
              <a:ahLst/>
              <a:cxnLst/>
              <a:rect r="r" b="b" t="t" l="l"/>
              <a:pathLst>
                <a:path h="859536" w="2944368">
                  <a:moveTo>
                    <a:pt x="0" y="0"/>
                  </a:moveTo>
                  <a:lnTo>
                    <a:pt x="2944368" y="0"/>
                  </a:lnTo>
                  <a:lnTo>
                    <a:pt x="2944368" y="859536"/>
                  </a:lnTo>
                  <a:lnTo>
                    <a:pt x="0" y="859536"/>
                  </a:lnTo>
                  <a:close/>
                </a:path>
              </a:pathLst>
            </a:custGeom>
            <a:blipFill>
              <a:blip r:embed="rId7">
                <a:alphaModFix amt="0"/>
              </a:blip>
              <a:stretch>
                <a:fillRect l="0" t="-16746" r="0" b="-16746"/>
              </a:stretch>
            </a:blipFill>
          </p:spPr>
        </p:sp>
        <p:sp>
          <p:nvSpPr>
            <p:cNvPr name="TextBox 29" id="29"/>
            <p:cNvSpPr txBox="true"/>
            <p:nvPr/>
          </p:nvSpPr>
          <p:spPr>
            <a:xfrm>
              <a:off x="0" y="-28575"/>
              <a:ext cx="2944368"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Giờ t</a:t>
              </a:r>
            </a:p>
          </p:txBody>
        </p:sp>
      </p:grpSp>
      <p:grpSp>
        <p:nvGrpSpPr>
          <p:cNvPr name="Group 30" id="30"/>
          <p:cNvGrpSpPr/>
          <p:nvPr/>
        </p:nvGrpSpPr>
        <p:grpSpPr>
          <a:xfrm rot="0">
            <a:off x="3662172" y="4567428"/>
            <a:ext cx="2153412" cy="644652"/>
            <a:chOff x="0" y="0"/>
            <a:chExt cx="2871216" cy="859536"/>
          </a:xfrm>
        </p:grpSpPr>
        <p:sp>
          <p:nvSpPr>
            <p:cNvPr name="Freeform 31" id="31"/>
            <p:cNvSpPr/>
            <p:nvPr/>
          </p:nvSpPr>
          <p:spPr>
            <a:xfrm flipH="false" flipV="false" rot="0">
              <a:off x="0" y="0"/>
              <a:ext cx="2871214" cy="859536"/>
            </a:xfrm>
            <a:custGeom>
              <a:avLst/>
              <a:gdLst/>
              <a:ahLst/>
              <a:cxnLst/>
              <a:rect r="r" b="b" t="t" l="l"/>
              <a:pathLst>
                <a:path h="859536" w="2871214">
                  <a:moveTo>
                    <a:pt x="0" y="0"/>
                  </a:moveTo>
                  <a:lnTo>
                    <a:pt x="2871214" y="0"/>
                  </a:lnTo>
                  <a:lnTo>
                    <a:pt x="2871214" y="859536"/>
                  </a:lnTo>
                  <a:lnTo>
                    <a:pt x="0" y="859536"/>
                  </a:lnTo>
                  <a:close/>
                </a:path>
              </a:pathLst>
            </a:custGeom>
            <a:blipFill>
              <a:blip r:embed="rId7">
                <a:alphaModFix amt="0"/>
              </a:blip>
              <a:stretch>
                <a:fillRect l="0" t="-15088" r="0" b="-15088"/>
              </a:stretch>
            </a:blipFill>
          </p:spPr>
        </p:sp>
        <p:sp>
          <p:nvSpPr>
            <p:cNvPr name="TextBox 32" id="32"/>
            <p:cNvSpPr txBox="true"/>
            <p:nvPr/>
          </p:nvSpPr>
          <p:spPr>
            <a:xfrm>
              <a:off x="0" y="-28575"/>
              <a:ext cx="2871216"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kWh(A, t)</a:t>
              </a:r>
            </a:p>
          </p:txBody>
        </p:sp>
      </p:grpSp>
      <p:grpSp>
        <p:nvGrpSpPr>
          <p:cNvPr name="Group 33" id="33"/>
          <p:cNvGrpSpPr/>
          <p:nvPr/>
        </p:nvGrpSpPr>
        <p:grpSpPr>
          <a:xfrm rot="0">
            <a:off x="5980176" y="4567428"/>
            <a:ext cx="2153412" cy="644652"/>
            <a:chOff x="0" y="0"/>
            <a:chExt cx="2871216" cy="859536"/>
          </a:xfrm>
        </p:grpSpPr>
        <p:sp>
          <p:nvSpPr>
            <p:cNvPr name="Freeform 34" id="34"/>
            <p:cNvSpPr/>
            <p:nvPr/>
          </p:nvSpPr>
          <p:spPr>
            <a:xfrm flipH="false" flipV="false" rot="0">
              <a:off x="0" y="0"/>
              <a:ext cx="2871214" cy="859536"/>
            </a:xfrm>
            <a:custGeom>
              <a:avLst/>
              <a:gdLst/>
              <a:ahLst/>
              <a:cxnLst/>
              <a:rect r="r" b="b" t="t" l="l"/>
              <a:pathLst>
                <a:path h="859536" w="2871214">
                  <a:moveTo>
                    <a:pt x="0" y="0"/>
                  </a:moveTo>
                  <a:lnTo>
                    <a:pt x="2871214" y="0"/>
                  </a:lnTo>
                  <a:lnTo>
                    <a:pt x="2871214" y="859536"/>
                  </a:lnTo>
                  <a:lnTo>
                    <a:pt x="0" y="859536"/>
                  </a:lnTo>
                  <a:close/>
                </a:path>
              </a:pathLst>
            </a:custGeom>
            <a:blipFill>
              <a:blip r:embed="rId7">
                <a:alphaModFix amt="0"/>
              </a:blip>
              <a:stretch>
                <a:fillRect l="0" t="-15088" r="0" b="-15088"/>
              </a:stretch>
            </a:blipFill>
          </p:spPr>
        </p:sp>
        <p:sp>
          <p:nvSpPr>
            <p:cNvPr name="TextBox 35" id="35"/>
            <p:cNvSpPr txBox="true"/>
            <p:nvPr/>
          </p:nvSpPr>
          <p:spPr>
            <a:xfrm>
              <a:off x="0" y="-28575"/>
              <a:ext cx="2871216"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kWh(B, t)</a:t>
              </a:r>
            </a:p>
          </p:txBody>
        </p:sp>
      </p:grpSp>
      <p:grpSp>
        <p:nvGrpSpPr>
          <p:cNvPr name="Group 36" id="36"/>
          <p:cNvGrpSpPr/>
          <p:nvPr/>
        </p:nvGrpSpPr>
        <p:grpSpPr>
          <a:xfrm rot="0">
            <a:off x="1199388" y="5259324"/>
            <a:ext cx="7024116" cy="769620"/>
            <a:chOff x="0" y="0"/>
            <a:chExt cx="9365488" cy="1026160"/>
          </a:xfrm>
        </p:grpSpPr>
        <p:sp>
          <p:nvSpPr>
            <p:cNvPr name="Freeform 37" id="37"/>
            <p:cNvSpPr/>
            <p:nvPr/>
          </p:nvSpPr>
          <p:spPr>
            <a:xfrm flipH="false" flipV="false" rot="0">
              <a:off x="0" y="0"/>
              <a:ext cx="9365488" cy="1026160"/>
            </a:xfrm>
            <a:custGeom>
              <a:avLst/>
              <a:gdLst/>
              <a:ahLst/>
              <a:cxnLst/>
              <a:rect r="r" b="b" t="t" l="l"/>
              <a:pathLst>
                <a:path h="1026160" w="9365488">
                  <a:moveTo>
                    <a:pt x="0" y="0"/>
                  </a:moveTo>
                  <a:lnTo>
                    <a:pt x="9365488" y="0"/>
                  </a:lnTo>
                  <a:lnTo>
                    <a:pt x="9365488" y="1026160"/>
                  </a:lnTo>
                  <a:lnTo>
                    <a:pt x="0" y="1026160"/>
                  </a:lnTo>
                  <a:close/>
                </a:path>
              </a:pathLst>
            </a:custGeom>
            <a:solidFill>
              <a:srgbClr val="F8FBFF"/>
            </a:solidFill>
            <a:ln w="15240" cap="sq">
              <a:solidFill>
                <a:srgbClr val="FFFFFF"/>
              </a:solidFill>
              <a:prstDash val="solid"/>
              <a:miter/>
            </a:ln>
          </p:spPr>
        </p:sp>
      </p:grpSp>
      <p:grpSp>
        <p:nvGrpSpPr>
          <p:cNvPr name="Group 38" id="38"/>
          <p:cNvGrpSpPr/>
          <p:nvPr/>
        </p:nvGrpSpPr>
        <p:grpSpPr>
          <a:xfrm rot="0">
            <a:off x="1289304" y="5321808"/>
            <a:ext cx="2208276" cy="644652"/>
            <a:chOff x="0" y="0"/>
            <a:chExt cx="2944368" cy="859536"/>
          </a:xfrm>
        </p:grpSpPr>
        <p:sp>
          <p:nvSpPr>
            <p:cNvPr name="Freeform 39" id="39"/>
            <p:cNvSpPr/>
            <p:nvPr/>
          </p:nvSpPr>
          <p:spPr>
            <a:xfrm flipH="false" flipV="false" rot="0">
              <a:off x="0" y="0"/>
              <a:ext cx="2944368" cy="859536"/>
            </a:xfrm>
            <a:custGeom>
              <a:avLst/>
              <a:gdLst/>
              <a:ahLst/>
              <a:cxnLst/>
              <a:rect r="r" b="b" t="t" l="l"/>
              <a:pathLst>
                <a:path h="859536" w="2944368">
                  <a:moveTo>
                    <a:pt x="0" y="0"/>
                  </a:moveTo>
                  <a:lnTo>
                    <a:pt x="2944368" y="0"/>
                  </a:lnTo>
                  <a:lnTo>
                    <a:pt x="2944368" y="859536"/>
                  </a:lnTo>
                  <a:lnTo>
                    <a:pt x="0" y="859536"/>
                  </a:lnTo>
                  <a:close/>
                </a:path>
              </a:pathLst>
            </a:custGeom>
            <a:blipFill>
              <a:blip r:embed="rId7">
                <a:alphaModFix amt="0"/>
              </a:blip>
              <a:stretch>
                <a:fillRect l="0" t="-16746" r="0" b="-16746"/>
              </a:stretch>
            </a:blipFill>
          </p:spPr>
        </p:sp>
        <p:sp>
          <p:nvSpPr>
            <p:cNvPr name="TextBox 40" id="40"/>
            <p:cNvSpPr txBox="true"/>
            <p:nvPr/>
          </p:nvSpPr>
          <p:spPr>
            <a:xfrm>
              <a:off x="0" y="-28575"/>
              <a:ext cx="2944368"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Giờ t+1</a:t>
              </a:r>
            </a:p>
          </p:txBody>
        </p:sp>
      </p:grpSp>
      <p:grpSp>
        <p:nvGrpSpPr>
          <p:cNvPr name="Group 41" id="41"/>
          <p:cNvGrpSpPr/>
          <p:nvPr/>
        </p:nvGrpSpPr>
        <p:grpSpPr>
          <a:xfrm rot="0">
            <a:off x="3662172" y="5321808"/>
            <a:ext cx="2153412" cy="644652"/>
            <a:chOff x="0" y="0"/>
            <a:chExt cx="2871216" cy="859536"/>
          </a:xfrm>
        </p:grpSpPr>
        <p:sp>
          <p:nvSpPr>
            <p:cNvPr name="Freeform 42" id="42"/>
            <p:cNvSpPr/>
            <p:nvPr/>
          </p:nvSpPr>
          <p:spPr>
            <a:xfrm flipH="false" flipV="false" rot="0">
              <a:off x="0" y="0"/>
              <a:ext cx="2871214" cy="859536"/>
            </a:xfrm>
            <a:custGeom>
              <a:avLst/>
              <a:gdLst/>
              <a:ahLst/>
              <a:cxnLst/>
              <a:rect r="r" b="b" t="t" l="l"/>
              <a:pathLst>
                <a:path h="859536" w="2871214">
                  <a:moveTo>
                    <a:pt x="0" y="0"/>
                  </a:moveTo>
                  <a:lnTo>
                    <a:pt x="2871214" y="0"/>
                  </a:lnTo>
                  <a:lnTo>
                    <a:pt x="2871214" y="859536"/>
                  </a:lnTo>
                  <a:lnTo>
                    <a:pt x="0" y="859536"/>
                  </a:lnTo>
                  <a:close/>
                </a:path>
              </a:pathLst>
            </a:custGeom>
            <a:blipFill>
              <a:blip r:embed="rId7">
                <a:alphaModFix amt="0"/>
              </a:blip>
              <a:stretch>
                <a:fillRect l="0" t="-15088" r="0" b="-15088"/>
              </a:stretch>
            </a:blipFill>
          </p:spPr>
        </p:sp>
        <p:sp>
          <p:nvSpPr>
            <p:cNvPr name="TextBox 43" id="43"/>
            <p:cNvSpPr txBox="true"/>
            <p:nvPr/>
          </p:nvSpPr>
          <p:spPr>
            <a:xfrm>
              <a:off x="0" y="-28575"/>
              <a:ext cx="2871216"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kWh(A, t+1)</a:t>
              </a:r>
            </a:p>
          </p:txBody>
        </p:sp>
      </p:grpSp>
      <p:grpSp>
        <p:nvGrpSpPr>
          <p:cNvPr name="Group 44" id="44"/>
          <p:cNvGrpSpPr/>
          <p:nvPr/>
        </p:nvGrpSpPr>
        <p:grpSpPr>
          <a:xfrm rot="0">
            <a:off x="5980176" y="5321808"/>
            <a:ext cx="2153412" cy="644652"/>
            <a:chOff x="0" y="0"/>
            <a:chExt cx="2871216" cy="859536"/>
          </a:xfrm>
        </p:grpSpPr>
        <p:sp>
          <p:nvSpPr>
            <p:cNvPr name="Freeform 45" id="45"/>
            <p:cNvSpPr/>
            <p:nvPr/>
          </p:nvSpPr>
          <p:spPr>
            <a:xfrm flipH="false" flipV="false" rot="0">
              <a:off x="0" y="0"/>
              <a:ext cx="2871214" cy="859536"/>
            </a:xfrm>
            <a:custGeom>
              <a:avLst/>
              <a:gdLst/>
              <a:ahLst/>
              <a:cxnLst/>
              <a:rect r="r" b="b" t="t" l="l"/>
              <a:pathLst>
                <a:path h="859536" w="2871214">
                  <a:moveTo>
                    <a:pt x="0" y="0"/>
                  </a:moveTo>
                  <a:lnTo>
                    <a:pt x="2871214" y="0"/>
                  </a:lnTo>
                  <a:lnTo>
                    <a:pt x="2871214" y="859536"/>
                  </a:lnTo>
                  <a:lnTo>
                    <a:pt x="0" y="859536"/>
                  </a:lnTo>
                  <a:close/>
                </a:path>
              </a:pathLst>
            </a:custGeom>
            <a:blipFill>
              <a:blip r:embed="rId7">
                <a:alphaModFix amt="0"/>
              </a:blip>
              <a:stretch>
                <a:fillRect l="0" t="-15088" r="0" b="-15088"/>
              </a:stretch>
            </a:blipFill>
          </p:spPr>
        </p:sp>
        <p:sp>
          <p:nvSpPr>
            <p:cNvPr name="TextBox 46" id="46"/>
            <p:cNvSpPr txBox="true"/>
            <p:nvPr/>
          </p:nvSpPr>
          <p:spPr>
            <a:xfrm>
              <a:off x="0" y="-28575"/>
              <a:ext cx="2871216" cy="88811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kWh(B, t+1)</a:t>
              </a:r>
            </a:p>
          </p:txBody>
        </p:sp>
      </p:grpSp>
      <p:grpSp>
        <p:nvGrpSpPr>
          <p:cNvPr name="Group 47" id="47"/>
          <p:cNvGrpSpPr/>
          <p:nvPr/>
        </p:nvGrpSpPr>
        <p:grpSpPr>
          <a:xfrm rot="0">
            <a:off x="3574390" y="3813048"/>
            <a:ext cx="10973" cy="2208276"/>
            <a:chOff x="0" y="0"/>
            <a:chExt cx="14630" cy="2944368"/>
          </a:xfrm>
        </p:grpSpPr>
        <p:sp>
          <p:nvSpPr>
            <p:cNvPr name="Freeform 48" id="48"/>
            <p:cNvSpPr/>
            <p:nvPr/>
          </p:nvSpPr>
          <p:spPr>
            <a:xfrm flipH="false" flipV="false" rot="0">
              <a:off x="0" y="0"/>
              <a:ext cx="14605" cy="2944368"/>
            </a:xfrm>
            <a:custGeom>
              <a:avLst/>
              <a:gdLst/>
              <a:ahLst/>
              <a:cxnLst/>
              <a:rect r="r" b="b" t="t" l="l"/>
              <a:pathLst>
                <a:path h="2944368" w="14605">
                  <a:moveTo>
                    <a:pt x="0" y="0"/>
                  </a:moveTo>
                  <a:lnTo>
                    <a:pt x="14605" y="0"/>
                  </a:lnTo>
                  <a:lnTo>
                    <a:pt x="14605" y="2944368"/>
                  </a:lnTo>
                  <a:lnTo>
                    <a:pt x="0" y="2944368"/>
                  </a:lnTo>
                  <a:close/>
                </a:path>
              </a:pathLst>
            </a:custGeom>
            <a:solidFill>
              <a:srgbClr val="D9E4F4"/>
            </a:solidFill>
          </p:spPr>
        </p:sp>
      </p:grpSp>
      <p:grpSp>
        <p:nvGrpSpPr>
          <p:cNvPr name="Group 49" id="49"/>
          <p:cNvGrpSpPr/>
          <p:nvPr/>
        </p:nvGrpSpPr>
        <p:grpSpPr>
          <a:xfrm rot="0">
            <a:off x="5892394" y="3813048"/>
            <a:ext cx="10973" cy="2208276"/>
            <a:chOff x="0" y="0"/>
            <a:chExt cx="14630" cy="2944368"/>
          </a:xfrm>
        </p:grpSpPr>
        <p:sp>
          <p:nvSpPr>
            <p:cNvPr name="Freeform 50" id="50"/>
            <p:cNvSpPr/>
            <p:nvPr/>
          </p:nvSpPr>
          <p:spPr>
            <a:xfrm flipH="false" flipV="false" rot="0">
              <a:off x="0" y="0"/>
              <a:ext cx="14605" cy="2944368"/>
            </a:xfrm>
            <a:custGeom>
              <a:avLst/>
              <a:gdLst/>
              <a:ahLst/>
              <a:cxnLst/>
              <a:rect r="r" b="b" t="t" l="l"/>
              <a:pathLst>
                <a:path h="2944368" w="14605">
                  <a:moveTo>
                    <a:pt x="0" y="0"/>
                  </a:moveTo>
                  <a:lnTo>
                    <a:pt x="14605" y="0"/>
                  </a:lnTo>
                  <a:lnTo>
                    <a:pt x="14605" y="2944368"/>
                  </a:lnTo>
                  <a:lnTo>
                    <a:pt x="0" y="2944368"/>
                  </a:lnTo>
                  <a:close/>
                </a:path>
              </a:pathLst>
            </a:custGeom>
            <a:solidFill>
              <a:srgbClr val="D9E4F4"/>
            </a:solidFill>
          </p:spPr>
        </p:sp>
      </p:grpSp>
      <p:grpSp>
        <p:nvGrpSpPr>
          <p:cNvPr name="Group 51" id="51"/>
          <p:cNvGrpSpPr/>
          <p:nvPr/>
        </p:nvGrpSpPr>
        <p:grpSpPr>
          <a:xfrm rot="0">
            <a:off x="9840468" y="3805428"/>
            <a:ext cx="7051548" cy="659892"/>
            <a:chOff x="0" y="0"/>
            <a:chExt cx="9402064" cy="879856"/>
          </a:xfrm>
        </p:grpSpPr>
        <p:sp>
          <p:nvSpPr>
            <p:cNvPr name="Freeform 52" id="52"/>
            <p:cNvSpPr/>
            <p:nvPr/>
          </p:nvSpPr>
          <p:spPr>
            <a:xfrm flipH="false" flipV="false" rot="0">
              <a:off x="0" y="0"/>
              <a:ext cx="9402064" cy="879856"/>
            </a:xfrm>
            <a:custGeom>
              <a:avLst/>
              <a:gdLst/>
              <a:ahLst/>
              <a:cxnLst/>
              <a:rect r="r" b="b" t="t" l="l"/>
              <a:pathLst>
                <a:path h="879856" w="9402064">
                  <a:moveTo>
                    <a:pt x="0" y="0"/>
                  </a:moveTo>
                  <a:lnTo>
                    <a:pt x="9402064" y="0"/>
                  </a:lnTo>
                  <a:lnTo>
                    <a:pt x="9402064" y="879856"/>
                  </a:lnTo>
                  <a:lnTo>
                    <a:pt x="0" y="879856"/>
                  </a:lnTo>
                  <a:close/>
                </a:path>
              </a:pathLst>
            </a:custGeom>
            <a:solidFill>
              <a:srgbClr val="EFF5FC"/>
            </a:solidFill>
            <a:ln w="15240" cap="sq">
              <a:solidFill>
                <a:srgbClr val="FFFFFF"/>
              </a:solidFill>
              <a:prstDash val="solid"/>
              <a:miter/>
            </a:ln>
          </p:spPr>
        </p:sp>
      </p:grpSp>
      <p:grpSp>
        <p:nvGrpSpPr>
          <p:cNvPr name="Group 53" id="53"/>
          <p:cNvGrpSpPr/>
          <p:nvPr/>
        </p:nvGrpSpPr>
        <p:grpSpPr>
          <a:xfrm rot="0">
            <a:off x="9957816" y="3922776"/>
            <a:ext cx="1961388" cy="507492"/>
            <a:chOff x="0" y="0"/>
            <a:chExt cx="2615184" cy="676656"/>
          </a:xfrm>
        </p:grpSpPr>
        <p:sp>
          <p:nvSpPr>
            <p:cNvPr name="Freeform 54" id="54"/>
            <p:cNvSpPr/>
            <p:nvPr/>
          </p:nvSpPr>
          <p:spPr>
            <a:xfrm flipH="false" flipV="false" rot="0">
              <a:off x="0" y="0"/>
              <a:ext cx="2615184" cy="676656"/>
            </a:xfrm>
            <a:custGeom>
              <a:avLst/>
              <a:gdLst/>
              <a:ahLst/>
              <a:cxnLst/>
              <a:rect r="r" b="b" t="t" l="l"/>
              <a:pathLst>
                <a:path h="676656" w="2615184">
                  <a:moveTo>
                    <a:pt x="0" y="0"/>
                  </a:moveTo>
                  <a:lnTo>
                    <a:pt x="2615184" y="0"/>
                  </a:lnTo>
                  <a:lnTo>
                    <a:pt x="2615184" y="676656"/>
                  </a:lnTo>
                  <a:lnTo>
                    <a:pt x="0" y="676656"/>
                  </a:lnTo>
                  <a:close/>
                </a:path>
              </a:pathLst>
            </a:custGeom>
            <a:blipFill>
              <a:blip r:embed="rId7">
                <a:alphaModFix amt="0"/>
              </a:blip>
              <a:stretch>
                <a:fillRect l="0" t="-25307" r="0" b="-25307"/>
              </a:stretch>
            </a:blipFill>
          </p:spPr>
        </p:sp>
        <p:sp>
          <p:nvSpPr>
            <p:cNvPr name="TextBox 55" id="55"/>
            <p:cNvSpPr txBox="true"/>
            <p:nvPr/>
          </p:nvSpPr>
          <p:spPr>
            <a:xfrm>
              <a:off x="0" y="-28575"/>
              <a:ext cx="2615184"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timestamp</a:t>
              </a:r>
            </a:p>
          </p:txBody>
        </p:sp>
      </p:grpSp>
      <p:grpSp>
        <p:nvGrpSpPr>
          <p:cNvPr name="Group 56" id="56"/>
          <p:cNvGrpSpPr/>
          <p:nvPr/>
        </p:nvGrpSpPr>
        <p:grpSpPr>
          <a:xfrm rot="0">
            <a:off x="12138660" y="3922776"/>
            <a:ext cx="2359152" cy="507492"/>
            <a:chOff x="0" y="0"/>
            <a:chExt cx="3145536" cy="676656"/>
          </a:xfrm>
        </p:grpSpPr>
        <p:sp>
          <p:nvSpPr>
            <p:cNvPr name="Freeform 57" id="57"/>
            <p:cNvSpPr/>
            <p:nvPr/>
          </p:nvSpPr>
          <p:spPr>
            <a:xfrm flipH="false" flipV="false" rot="0">
              <a:off x="0" y="0"/>
              <a:ext cx="3145536" cy="676656"/>
            </a:xfrm>
            <a:custGeom>
              <a:avLst/>
              <a:gdLst/>
              <a:ahLst/>
              <a:cxnLst/>
              <a:rect r="r" b="b" t="t" l="l"/>
              <a:pathLst>
                <a:path h="676656" w="3145536">
                  <a:moveTo>
                    <a:pt x="0" y="0"/>
                  </a:moveTo>
                  <a:lnTo>
                    <a:pt x="3145536" y="0"/>
                  </a:lnTo>
                  <a:lnTo>
                    <a:pt x="3145536" y="676656"/>
                  </a:lnTo>
                  <a:lnTo>
                    <a:pt x="0" y="676656"/>
                  </a:lnTo>
                  <a:close/>
                </a:path>
              </a:pathLst>
            </a:custGeom>
            <a:blipFill>
              <a:blip r:embed="rId7">
                <a:alphaModFix amt="0"/>
              </a:blip>
              <a:stretch>
                <a:fillRect l="0" t="-40579" r="0" b="-40579"/>
              </a:stretch>
            </a:blipFill>
          </p:spPr>
        </p:sp>
        <p:sp>
          <p:nvSpPr>
            <p:cNvPr name="TextBox 58" id="58"/>
            <p:cNvSpPr txBox="true"/>
            <p:nvPr/>
          </p:nvSpPr>
          <p:spPr>
            <a:xfrm>
              <a:off x="0" y="-28575"/>
              <a:ext cx="3145536"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building_id</a:t>
              </a:r>
            </a:p>
          </p:txBody>
        </p:sp>
      </p:grpSp>
      <p:grpSp>
        <p:nvGrpSpPr>
          <p:cNvPr name="Group 59" id="59"/>
          <p:cNvGrpSpPr/>
          <p:nvPr/>
        </p:nvGrpSpPr>
        <p:grpSpPr>
          <a:xfrm rot="0">
            <a:off x="14717268" y="3922776"/>
            <a:ext cx="2057400" cy="507492"/>
            <a:chOff x="0" y="0"/>
            <a:chExt cx="2743200" cy="676656"/>
          </a:xfrm>
        </p:grpSpPr>
        <p:sp>
          <p:nvSpPr>
            <p:cNvPr name="Freeform 60" id="60"/>
            <p:cNvSpPr/>
            <p:nvPr/>
          </p:nvSpPr>
          <p:spPr>
            <a:xfrm flipH="false" flipV="false" rot="0">
              <a:off x="0" y="0"/>
              <a:ext cx="2743200" cy="676656"/>
            </a:xfrm>
            <a:custGeom>
              <a:avLst/>
              <a:gdLst/>
              <a:ahLst/>
              <a:cxnLst/>
              <a:rect r="r" b="b" t="t" l="l"/>
              <a:pathLst>
                <a:path h="676656" w="2743200">
                  <a:moveTo>
                    <a:pt x="0" y="0"/>
                  </a:moveTo>
                  <a:lnTo>
                    <a:pt x="2743200" y="0"/>
                  </a:lnTo>
                  <a:lnTo>
                    <a:pt x="2743200" y="676656"/>
                  </a:lnTo>
                  <a:lnTo>
                    <a:pt x="0" y="676656"/>
                  </a:lnTo>
                  <a:close/>
                </a:path>
              </a:pathLst>
            </a:custGeom>
            <a:blipFill>
              <a:blip r:embed="rId7">
                <a:alphaModFix amt="0"/>
              </a:blip>
              <a:stretch>
                <a:fillRect l="0" t="-28993" r="0" b="-28993"/>
              </a:stretch>
            </a:blipFill>
          </p:spPr>
        </p:sp>
        <p:sp>
          <p:nvSpPr>
            <p:cNvPr name="TextBox 61" id="61"/>
            <p:cNvSpPr txBox="true"/>
            <p:nvPr/>
          </p:nvSpPr>
          <p:spPr>
            <a:xfrm>
              <a:off x="0" y="-28575"/>
              <a:ext cx="2743200" cy="705231"/>
            </a:xfrm>
            <a:prstGeom prst="rect">
              <a:avLst/>
            </a:prstGeom>
          </p:spPr>
          <p:txBody>
            <a:bodyPr anchor="ctr" rtlCol="false" tIns="0" lIns="0" bIns="0" rIns="0"/>
            <a:lstStyle/>
            <a:p>
              <a:pPr algn="ctr">
                <a:lnSpc>
                  <a:spcPts val="2508"/>
                </a:lnSpc>
              </a:pPr>
              <a:r>
                <a:rPr lang="en-US" sz="2010" b="true">
                  <a:solidFill>
                    <a:srgbClr val="104BAC"/>
                  </a:solidFill>
                  <a:latin typeface="Times New Roman Bold"/>
                  <a:ea typeface="Times New Roman Bold"/>
                  <a:cs typeface="Times New Roman Bold"/>
                  <a:sym typeface="Times New Roman Bold"/>
                </a:rPr>
                <a:t>raw_kwh</a:t>
              </a:r>
            </a:p>
          </p:txBody>
        </p:sp>
      </p:grpSp>
      <p:grpSp>
        <p:nvGrpSpPr>
          <p:cNvPr name="Group 62" id="62"/>
          <p:cNvGrpSpPr/>
          <p:nvPr/>
        </p:nvGrpSpPr>
        <p:grpSpPr>
          <a:xfrm rot="0">
            <a:off x="9840468" y="4450080"/>
            <a:ext cx="7051548" cy="632460"/>
            <a:chOff x="0" y="0"/>
            <a:chExt cx="9402064" cy="843280"/>
          </a:xfrm>
        </p:grpSpPr>
        <p:sp>
          <p:nvSpPr>
            <p:cNvPr name="Freeform 63" id="63"/>
            <p:cNvSpPr/>
            <p:nvPr/>
          </p:nvSpPr>
          <p:spPr>
            <a:xfrm flipH="false" flipV="false" rot="0">
              <a:off x="0" y="0"/>
              <a:ext cx="9402064" cy="843280"/>
            </a:xfrm>
            <a:custGeom>
              <a:avLst/>
              <a:gdLst/>
              <a:ahLst/>
              <a:cxnLst/>
              <a:rect r="r" b="b" t="t" l="l"/>
              <a:pathLst>
                <a:path h="843280" w="9402064">
                  <a:moveTo>
                    <a:pt x="0" y="0"/>
                  </a:moveTo>
                  <a:lnTo>
                    <a:pt x="9402064" y="0"/>
                  </a:lnTo>
                  <a:lnTo>
                    <a:pt x="9402064" y="843280"/>
                  </a:lnTo>
                  <a:lnTo>
                    <a:pt x="0" y="843280"/>
                  </a:lnTo>
                  <a:close/>
                </a:path>
              </a:pathLst>
            </a:custGeom>
            <a:solidFill>
              <a:srgbClr val="FFFFFF"/>
            </a:solidFill>
            <a:ln w="15240" cap="sq">
              <a:solidFill>
                <a:srgbClr val="FFFFFF"/>
              </a:solidFill>
              <a:prstDash val="solid"/>
              <a:miter/>
            </a:ln>
          </p:spPr>
        </p:sp>
      </p:grpSp>
      <p:grpSp>
        <p:nvGrpSpPr>
          <p:cNvPr name="Group 64" id="64"/>
          <p:cNvGrpSpPr/>
          <p:nvPr/>
        </p:nvGrpSpPr>
        <p:grpSpPr>
          <a:xfrm rot="0">
            <a:off x="9930384" y="4512564"/>
            <a:ext cx="2016252" cy="507492"/>
            <a:chOff x="0" y="0"/>
            <a:chExt cx="2688336" cy="676656"/>
          </a:xfrm>
        </p:grpSpPr>
        <p:sp>
          <p:nvSpPr>
            <p:cNvPr name="Freeform 65" id="65"/>
            <p:cNvSpPr/>
            <p:nvPr/>
          </p:nvSpPr>
          <p:spPr>
            <a:xfrm flipH="false" flipV="false" rot="0">
              <a:off x="0" y="0"/>
              <a:ext cx="2688336" cy="676656"/>
            </a:xfrm>
            <a:custGeom>
              <a:avLst/>
              <a:gdLst/>
              <a:ahLst/>
              <a:cxnLst/>
              <a:rect r="r" b="b" t="t" l="l"/>
              <a:pathLst>
                <a:path h="676656" w="2688336">
                  <a:moveTo>
                    <a:pt x="0" y="0"/>
                  </a:moveTo>
                  <a:lnTo>
                    <a:pt x="2688336" y="0"/>
                  </a:lnTo>
                  <a:lnTo>
                    <a:pt x="2688336" y="676656"/>
                  </a:lnTo>
                  <a:lnTo>
                    <a:pt x="0" y="676656"/>
                  </a:lnTo>
                  <a:close/>
                </a:path>
              </a:pathLst>
            </a:custGeom>
            <a:blipFill>
              <a:blip r:embed="rId7">
                <a:alphaModFix amt="0"/>
              </a:blip>
              <a:stretch>
                <a:fillRect l="0" t="-27413" r="0" b="-27413"/>
              </a:stretch>
            </a:blipFill>
          </p:spPr>
        </p:sp>
        <p:sp>
          <p:nvSpPr>
            <p:cNvPr name="TextBox 66" id="66"/>
            <p:cNvSpPr txBox="true"/>
            <p:nvPr/>
          </p:nvSpPr>
          <p:spPr>
            <a:xfrm>
              <a:off x="0" y="-28575"/>
              <a:ext cx="2688336"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Giờ t</a:t>
              </a:r>
            </a:p>
          </p:txBody>
        </p:sp>
      </p:grpSp>
      <p:grpSp>
        <p:nvGrpSpPr>
          <p:cNvPr name="Group 67" id="67"/>
          <p:cNvGrpSpPr/>
          <p:nvPr/>
        </p:nvGrpSpPr>
        <p:grpSpPr>
          <a:xfrm rot="0">
            <a:off x="12111228" y="4512564"/>
            <a:ext cx="2414016" cy="507492"/>
            <a:chOff x="0" y="0"/>
            <a:chExt cx="3218688" cy="676656"/>
          </a:xfrm>
        </p:grpSpPr>
        <p:sp>
          <p:nvSpPr>
            <p:cNvPr name="Freeform 68" id="68"/>
            <p:cNvSpPr/>
            <p:nvPr/>
          </p:nvSpPr>
          <p:spPr>
            <a:xfrm flipH="false" flipV="false" rot="0">
              <a:off x="0" y="0"/>
              <a:ext cx="3218686" cy="676656"/>
            </a:xfrm>
            <a:custGeom>
              <a:avLst/>
              <a:gdLst/>
              <a:ahLst/>
              <a:cxnLst/>
              <a:rect r="r" b="b" t="t" l="l"/>
              <a:pathLst>
                <a:path h="676656" w="3218686">
                  <a:moveTo>
                    <a:pt x="0" y="0"/>
                  </a:moveTo>
                  <a:lnTo>
                    <a:pt x="3218686" y="0"/>
                  </a:lnTo>
                  <a:lnTo>
                    <a:pt x="3218686" y="676656"/>
                  </a:lnTo>
                  <a:lnTo>
                    <a:pt x="0" y="676656"/>
                  </a:lnTo>
                  <a:close/>
                </a:path>
              </a:pathLst>
            </a:custGeom>
            <a:blipFill>
              <a:blip r:embed="rId7">
                <a:alphaModFix amt="0"/>
              </a:blip>
              <a:stretch>
                <a:fillRect l="0" t="-42685" r="0" b="-42685"/>
              </a:stretch>
            </a:blipFill>
          </p:spPr>
        </p:sp>
        <p:sp>
          <p:nvSpPr>
            <p:cNvPr name="TextBox 69" id="69"/>
            <p:cNvSpPr txBox="true"/>
            <p:nvPr/>
          </p:nvSpPr>
          <p:spPr>
            <a:xfrm>
              <a:off x="0" y="-28575"/>
              <a:ext cx="3218688"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Tòa A</a:t>
              </a:r>
            </a:p>
          </p:txBody>
        </p:sp>
      </p:grpSp>
      <p:grpSp>
        <p:nvGrpSpPr>
          <p:cNvPr name="Group 70" id="70"/>
          <p:cNvGrpSpPr/>
          <p:nvPr/>
        </p:nvGrpSpPr>
        <p:grpSpPr>
          <a:xfrm rot="0">
            <a:off x="14689836" y="4512564"/>
            <a:ext cx="2112264" cy="507492"/>
            <a:chOff x="0" y="0"/>
            <a:chExt cx="2816352" cy="676656"/>
          </a:xfrm>
        </p:grpSpPr>
        <p:sp>
          <p:nvSpPr>
            <p:cNvPr name="Freeform 71" id="71"/>
            <p:cNvSpPr/>
            <p:nvPr/>
          </p:nvSpPr>
          <p:spPr>
            <a:xfrm flipH="false" flipV="false" rot="0">
              <a:off x="0" y="0"/>
              <a:ext cx="2816352" cy="676656"/>
            </a:xfrm>
            <a:custGeom>
              <a:avLst/>
              <a:gdLst/>
              <a:ahLst/>
              <a:cxnLst/>
              <a:rect r="r" b="b" t="t" l="l"/>
              <a:pathLst>
                <a:path h="676656" w="2816352">
                  <a:moveTo>
                    <a:pt x="0" y="0"/>
                  </a:moveTo>
                  <a:lnTo>
                    <a:pt x="2816352" y="0"/>
                  </a:lnTo>
                  <a:lnTo>
                    <a:pt x="2816352" y="676656"/>
                  </a:lnTo>
                  <a:lnTo>
                    <a:pt x="0" y="676656"/>
                  </a:lnTo>
                  <a:close/>
                </a:path>
              </a:pathLst>
            </a:custGeom>
            <a:blipFill>
              <a:blip r:embed="rId7">
                <a:alphaModFix amt="0"/>
              </a:blip>
              <a:stretch>
                <a:fillRect l="0" t="-31099" r="0" b="-31099"/>
              </a:stretch>
            </a:blipFill>
          </p:spPr>
        </p:sp>
        <p:sp>
          <p:nvSpPr>
            <p:cNvPr name="TextBox 72" id="72"/>
            <p:cNvSpPr txBox="true"/>
            <p:nvPr/>
          </p:nvSpPr>
          <p:spPr>
            <a:xfrm>
              <a:off x="0" y="-28575"/>
              <a:ext cx="2816352"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kWh(A, t)</a:t>
              </a:r>
            </a:p>
          </p:txBody>
        </p:sp>
      </p:grpSp>
      <p:grpSp>
        <p:nvGrpSpPr>
          <p:cNvPr name="Group 73" id="73"/>
          <p:cNvGrpSpPr/>
          <p:nvPr/>
        </p:nvGrpSpPr>
        <p:grpSpPr>
          <a:xfrm rot="0">
            <a:off x="9840468" y="5067300"/>
            <a:ext cx="7051548" cy="632460"/>
            <a:chOff x="0" y="0"/>
            <a:chExt cx="9402064" cy="843280"/>
          </a:xfrm>
        </p:grpSpPr>
        <p:sp>
          <p:nvSpPr>
            <p:cNvPr name="Freeform 74" id="74"/>
            <p:cNvSpPr/>
            <p:nvPr/>
          </p:nvSpPr>
          <p:spPr>
            <a:xfrm flipH="false" flipV="false" rot="0">
              <a:off x="0" y="0"/>
              <a:ext cx="9402064" cy="843280"/>
            </a:xfrm>
            <a:custGeom>
              <a:avLst/>
              <a:gdLst/>
              <a:ahLst/>
              <a:cxnLst/>
              <a:rect r="r" b="b" t="t" l="l"/>
              <a:pathLst>
                <a:path h="843280" w="9402064">
                  <a:moveTo>
                    <a:pt x="0" y="0"/>
                  </a:moveTo>
                  <a:lnTo>
                    <a:pt x="9402064" y="0"/>
                  </a:lnTo>
                  <a:lnTo>
                    <a:pt x="9402064" y="843280"/>
                  </a:lnTo>
                  <a:lnTo>
                    <a:pt x="0" y="843280"/>
                  </a:lnTo>
                  <a:close/>
                </a:path>
              </a:pathLst>
            </a:custGeom>
            <a:solidFill>
              <a:srgbClr val="F8FBFF"/>
            </a:solidFill>
            <a:ln w="15240" cap="sq">
              <a:solidFill>
                <a:srgbClr val="FFFFFF"/>
              </a:solidFill>
              <a:prstDash val="solid"/>
              <a:miter/>
            </a:ln>
          </p:spPr>
        </p:sp>
      </p:grpSp>
      <p:grpSp>
        <p:nvGrpSpPr>
          <p:cNvPr name="Group 75" id="75"/>
          <p:cNvGrpSpPr/>
          <p:nvPr/>
        </p:nvGrpSpPr>
        <p:grpSpPr>
          <a:xfrm rot="0">
            <a:off x="9930384" y="5129784"/>
            <a:ext cx="2016252" cy="507492"/>
            <a:chOff x="0" y="0"/>
            <a:chExt cx="2688336" cy="676656"/>
          </a:xfrm>
        </p:grpSpPr>
        <p:sp>
          <p:nvSpPr>
            <p:cNvPr name="Freeform 76" id="76"/>
            <p:cNvSpPr/>
            <p:nvPr/>
          </p:nvSpPr>
          <p:spPr>
            <a:xfrm flipH="false" flipV="false" rot="0">
              <a:off x="0" y="0"/>
              <a:ext cx="2688336" cy="676656"/>
            </a:xfrm>
            <a:custGeom>
              <a:avLst/>
              <a:gdLst/>
              <a:ahLst/>
              <a:cxnLst/>
              <a:rect r="r" b="b" t="t" l="l"/>
              <a:pathLst>
                <a:path h="676656" w="2688336">
                  <a:moveTo>
                    <a:pt x="0" y="0"/>
                  </a:moveTo>
                  <a:lnTo>
                    <a:pt x="2688336" y="0"/>
                  </a:lnTo>
                  <a:lnTo>
                    <a:pt x="2688336" y="676656"/>
                  </a:lnTo>
                  <a:lnTo>
                    <a:pt x="0" y="676656"/>
                  </a:lnTo>
                  <a:close/>
                </a:path>
              </a:pathLst>
            </a:custGeom>
            <a:blipFill>
              <a:blip r:embed="rId7">
                <a:alphaModFix amt="0"/>
              </a:blip>
              <a:stretch>
                <a:fillRect l="0" t="-27413" r="0" b="-27413"/>
              </a:stretch>
            </a:blipFill>
          </p:spPr>
        </p:sp>
        <p:sp>
          <p:nvSpPr>
            <p:cNvPr name="TextBox 77" id="77"/>
            <p:cNvSpPr txBox="true"/>
            <p:nvPr/>
          </p:nvSpPr>
          <p:spPr>
            <a:xfrm>
              <a:off x="0" y="-28575"/>
              <a:ext cx="2688336"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Giờ t</a:t>
              </a:r>
            </a:p>
          </p:txBody>
        </p:sp>
      </p:grpSp>
      <p:grpSp>
        <p:nvGrpSpPr>
          <p:cNvPr name="Group 78" id="78"/>
          <p:cNvGrpSpPr/>
          <p:nvPr/>
        </p:nvGrpSpPr>
        <p:grpSpPr>
          <a:xfrm rot="0">
            <a:off x="12111228" y="5129784"/>
            <a:ext cx="2414016" cy="507492"/>
            <a:chOff x="0" y="0"/>
            <a:chExt cx="3218688" cy="676656"/>
          </a:xfrm>
        </p:grpSpPr>
        <p:sp>
          <p:nvSpPr>
            <p:cNvPr name="Freeform 79" id="79"/>
            <p:cNvSpPr/>
            <p:nvPr/>
          </p:nvSpPr>
          <p:spPr>
            <a:xfrm flipH="false" flipV="false" rot="0">
              <a:off x="0" y="0"/>
              <a:ext cx="3218686" cy="676656"/>
            </a:xfrm>
            <a:custGeom>
              <a:avLst/>
              <a:gdLst/>
              <a:ahLst/>
              <a:cxnLst/>
              <a:rect r="r" b="b" t="t" l="l"/>
              <a:pathLst>
                <a:path h="676656" w="3218686">
                  <a:moveTo>
                    <a:pt x="0" y="0"/>
                  </a:moveTo>
                  <a:lnTo>
                    <a:pt x="3218686" y="0"/>
                  </a:lnTo>
                  <a:lnTo>
                    <a:pt x="3218686" y="676656"/>
                  </a:lnTo>
                  <a:lnTo>
                    <a:pt x="0" y="676656"/>
                  </a:lnTo>
                  <a:close/>
                </a:path>
              </a:pathLst>
            </a:custGeom>
            <a:blipFill>
              <a:blip r:embed="rId7">
                <a:alphaModFix amt="0"/>
              </a:blip>
              <a:stretch>
                <a:fillRect l="0" t="-42685" r="0" b="-42685"/>
              </a:stretch>
            </a:blipFill>
          </p:spPr>
        </p:sp>
        <p:sp>
          <p:nvSpPr>
            <p:cNvPr name="TextBox 80" id="80"/>
            <p:cNvSpPr txBox="true"/>
            <p:nvPr/>
          </p:nvSpPr>
          <p:spPr>
            <a:xfrm>
              <a:off x="0" y="-28575"/>
              <a:ext cx="3218688"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Tòa B</a:t>
              </a:r>
            </a:p>
          </p:txBody>
        </p:sp>
      </p:grpSp>
      <p:grpSp>
        <p:nvGrpSpPr>
          <p:cNvPr name="Group 81" id="81"/>
          <p:cNvGrpSpPr/>
          <p:nvPr/>
        </p:nvGrpSpPr>
        <p:grpSpPr>
          <a:xfrm rot="0">
            <a:off x="14689836" y="5129784"/>
            <a:ext cx="2112264" cy="507492"/>
            <a:chOff x="0" y="0"/>
            <a:chExt cx="2816352" cy="676656"/>
          </a:xfrm>
        </p:grpSpPr>
        <p:sp>
          <p:nvSpPr>
            <p:cNvPr name="Freeform 82" id="82"/>
            <p:cNvSpPr/>
            <p:nvPr/>
          </p:nvSpPr>
          <p:spPr>
            <a:xfrm flipH="false" flipV="false" rot="0">
              <a:off x="0" y="0"/>
              <a:ext cx="2816352" cy="676656"/>
            </a:xfrm>
            <a:custGeom>
              <a:avLst/>
              <a:gdLst/>
              <a:ahLst/>
              <a:cxnLst/>
              <a:rect r="r" b="b" t="t" l="l"/>
              <a:pathLst>
                <a:path h="676656" w="2816352">
                  <a:moveTo>
                    <a:pt x="0" y="0"/>
                  </a:moveTo>
                  <a:lnTo>
                    <a:pt x="2816352" y="0"/>
                  </a:lnTo>
                  <a:lnTo>
                    <a:pt x="2816352" y="676656"/>
                  </a:lnTo>
                  <a:lnTo>
                    <a:pt x="0" y="676656"/>
                  </a:lnTo>
                  <a:close/>
                </a:path>
              </a:pathLst>
            </a:custGeom>
            <a:blipFill>
              <a:blip r:embed="rId7">
                <a:alphaModFix amt="0"/>
              </a:blip>
              <a:stretch>
                <a:fillRect l="0" t="-31099" r="0" b="-31099"/>
              </a:stretch>
            </a:blipFill>
          </p:spPr>
        </p:sp>
        <p:sp>
          <p:nvSpPr>
            <p:cNvPr name="TextBox 83" id="83"/>
            <p:cNvSpPr txBox="true"/>
            <p:nvPr/>
          </p:nvSpPr>
          <p:spPr>
            <a:xfrm>
              <a:off x="0" y="-28575"/>
              <a:ext cx="2816352"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kWh(B, t)</a:t>
              </a:r>
            </a:p>
          </p:txBody>
        </p:sp>
      </p:grpSp>
      <p:grpSp>
        <p:nvGrpSpPr>
          <p:cNvPr name="Group 84" id="84"/>
          <p:cNvGrpSpPr/>
          <p:nvPr/>
        </p:nvGrpSpPr>
        <p:grpSpPr>
          <a:xfrm rot="0">
            <a:off x="9840468" y="5684520"/>
            <a:ext cx="7051548" cy="632460"/>
            <a:chOff x="0" y="0"/>
            <a:chExt cx="9402064" cy="843280"/>
          </a:xfrm>
        </p:grpSpPr>
        <p:sp>
          <p:nvSpPr>
            <p:cNvPr name="Freeform 85" id="85"/>
            <p:cNvSpPr/>
            <p:nvPr/>
          </p:nvSpPr>
          <p:spPr>
            <a:xfrm flipH="false" flipV="false" rot="0">
              <a:off x="0" y="0"/>
              <a:ext cx="9402064" cy="843280"/>
            </a:xfrm>
            <a:custGeom>
              <a:avLst/>
              <a:gdLst/>
              <a:ahLst/>
              <a:cxnLst/>
              <a:rect r="r" b="b" t="t" l="l"/>
              <a:pathLst>
                <a:path h="843280" w="9402064">
                  <a:moveTo>
                    <a:pt x="0" y="0"/>
                  </a:moveTo>
                  <a:lnTo>
                    <a:pt x="9402064" y="0"/>
                  </a:lnTo>
                  <a:lnTo>
                    <a:pt x="9402064" y="843280"/>
                  </a:lnTo>
                  <a:lnTo>
                    <a:pt x="0" y="843280"/>
                  </a:lnTo>
                  <a:close/>
                </a:path>
              </a:pathLst>
            </a:custGeom>
            <a:solidFill>
              <a:srgbClr val="FFFFFF"/>
            </a:solidFill>
            <a:ln w="15240" cap="sq">
              <a:solidFill>
                <a:srgbClr val="FFFFFF"/>
              </a:solidFill>
              <a:prstDash val="solid"/>
              <a:miter/>
            </a:ln>
          </p:spPr>
        </p:sp>
      </p:grpSp>
      <p:grpSp>
        <p:nvGrpSpPr>
          <p:cNvPr name="Group 86" id="86"/>
          <p:cNvGrpSpPr/>
          <p:nvPr/>
        </p:nvGrpSpPr>
        <p:grpSpPr>
          <a:xfrm rot="0">
            <a:off x="9930384" y="5747004"/>
            <a:ext cx="2016252" cy="507492"/>
            <a:chOff x="0" y="0"/>
            <a:chExt cx="2688336" cy="676656"/>
          </a:xfrm>
        </p:grpSpPr>
        <p:sp>
          <p:nvSpPr>
            <p:cNvPr name="Freeform 87" id="87"/>
            <p:cNvSpPr/>
            <p:nvPr/>
          </p:nvSpPr>
          <p:spPr>
            <a:xfrm flipH="false" flipV="false" rot="0">
              <a:off x="0" y="0"/>
              <a:ext cx="2688336" cy="676656"/>
            </a:xfrm>
            <a:custGeom>
              <a:avLst/>
              <a:gdLst/>
              <a:ahLst/>
              <a:cxnLst/>
              <a:rect r="r" b="b" t="t" l="l"/>
              <a:pathLst>
                <a:path h="676656" w="2688336">
                  <a:moveTo>
                    <a:pt x="0" y="0"/>
                  </a:moveTo>
                  <a:lnTo>
                    <a:pt x="2688336" y="0"/>
                  </a:lnTo>
                  <a:lnTo>
                    <a:pt x="2688336" y="676656"/>
                  </a:lnTo>
                  <a:lnTo>
                    <a:pt x="0" y="676656"/>
                  </a:lnTo>
                  <a:close/>
                </a:path>
              </a:pathLst>
            </a:custGeom>
            <a:blipFill>
              <a:blip r:embed="rId7">
                <a:alphaModFix amt="0"/>
              </a:blip>
              <a:stretch>
                <a:fillRect l="0" t="-27413" r="0" b="-27413"/>
              </a:stretch>
            </a:blipFill>
          </p:spPr>
        </p:sp>
        <p:sp>
          <p:nvSpPr>
            <p:cNvPr name="TextBox 88" id="88"/>
            <p:cNvSpPr txBox="true"/>
            <p:nvPr/>
          </p:nvSpPr>
          <p:spPr>
            <a:xfrm>
              <a:off x="0" y="-28575"/>
              <a:ext cx="2688336"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Giờ t+1</a:t>
              </a:r>
            </a:p>
          </p:txBody>
        </p:sp>
      </p:grpSp>
      <p:grpSp>
        <p:nvGrpSpPr>
          <p:cNvPr name="Group 89" id="89"/>
          <p:cNvGrpSpPr/>
          <p:nvPr/>
        </p:nvGrpSpPr>
        <p:grpSpPr>
          <a:xfrm rot="0">
            <a:off x="12111228" y="5747004"/>
            <a:ext cx="2414016" cy="507492"/>
            <a:chOff x="0" y="0"/>
            <a:chExt cx="3218688" cy="676656"/>
          </a:xfrm>
        </p:grpSpPr>
        <p:sp>
          <p:nvSpPr>
            <p:cNvPr name="Freeform 90" id="90"/>
            <p:cNvSpPr/>
            <p:nvPr/>
          </p:nvSpPr>
          <p:spPr>
            <a:xfrm flipH="false" flipV="false" rot="0">
              <a:off x="0" y="0"/>
              <a:ext cx="3218686" cy="676656"/>
            </a:xfrm>
            <a:custGeom>
              <a:avLst/>
              <a:gdLst/>
              <a:ahLst/>
              <a:cxnLst/>
              <a:rect r="r" b="b" t="t" l="l"/>
              <a:pathLst>
                <a:path h="676656" w="3218686">
                  <a:moveTo>
                    <a:pt x="0" y="0"/>
                  </a:moveTo>
                  <a:lnTo>
                    <a:pt x="3218686" y="0"/>
                  </a:lnTo>
                  <a:lnTo>
                    <a:pt x="3218686" y="676656"/>
                  </a:lnTo>
                  <a:lnTo>
                    <a:pt x="0" y="676656"/>
                  </a:lnTo>
                  <a:close/>
                </a:path>
              </a:pathLst>
            </a:custGeom>
            <a:blipFill>
              <a:blip r:embed="rId7">
                <a:alphaModFix amt="0"/>
              </a:blip>
              <a:stretch>
                <a:fillRect l="0" t="-42685" r="0" b="-42685"/>
              </a:stretch>
            </a:blipFill>
          </p:spPr>
        </p:sp>
        <p:sp>
          <p:nvSpPr>
            <p:cNvPr name="TextBox 91" id="91"/>
            <p:cNvSpPr txBox="true"/>
            <p:nvPr/>
          </p:nvSpPr>
          <p:spPr>
            <a:xfrm>
              <a:off x="0" y="-28575"/>
              <a:ext cx="3218688"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Tòa A</a:t>
              </a:r>
            </a:p>
          </p:txBody>
        </p:sp>
      </p:grpSp>
      <p:grpSp>
        <p:nvGrpSpPr>
          <p:cNvPr name="Group 92" id="92"/>
          <p:cNvGrpSpPr/>
          <p:nvPr/>
        </p:nvGrpSpPr>
        <p:grpSpPr>
          <a:xfrm rot="0">
            <a:off x="14689836" y="5747004"/>
            <a:ext cx="2112264" cy="507492"/>
            <a:chOff x="0" y="0"/>
            <a:chExt cx="2816352" cy="676656"/>
          </a:xfrm>
        </p:grpSpPr>
        <p:sp>
          <p:nvSpPr>
            <p:cNvPr name="Freeform 93" id="93"/>
            <p:cNvSpPr/>
            <p:nvPr/>
          </p:nvSpPr>
          <p:spPr>
            <a:xfrm flipH="false" flipV="false" rot="0">
              <a:off x="0" y="0"/>
              <a:ext cx="2816352" cy="676656"/>
            </a:xfrm>
            <a:custGeom>
              <a:avLst/>
              <a:gdLst/>
              <a:ahLst/>
              <a:cxnLst/>
              <a:rect r="r" b="b" t="t" l="l"/>
              <a:pathLst>
                <a:path h="676656" w="2816352">
                  <a:moveTo>
                    <a:pt x="0" y="0"/>
                  </a:moveTo>
                  <a:lnTo>
                    <a:pt x="2816352" y="0"/>
                  </a:lnTo>
                  <a:lnTo>
                    <a:pt x="2816352" y="676656"/>
                  </a:lnTo>
                  <a:lnTo>
                    <a:pt x="0" y="676656"/>
                  </a:lnTo>
                  <a:close/>
                </a:path>
              </a:pathLst>
            </a:custGeom>
            <a:blipFill>
              <a:blip r:embed="rId7">
                <a:alphaModFix amt="0"/>
              </a:blip>
              <a:stretch>
                <a:fillRect l="0" t="-31099" r="0" b="-31099"/>
              </a:stretch>
            </a:blipFill>
          </p:spPr>
        </p:sp>
        <p:sp>
          <p:nvSpPr>
            <p:cNvPr name="TextBox 94" id="94"/>
            <p:cNvSpPr txBox="true"/>
            <p:nvPr/>
          </p:nvSpPr>
          <p:spPr>
            <a:xfrm>
              <a:off x="0" y="-28575"/>
              <a:ext cx="2816352" cy="705231"/>
            </a:xfrm>
            <a:prstGeom prst="rect">
              <a:avLst/>
            </a:prstGeom>
          </p:spPr>
          <p:txBody>
            <a:bodyPr anchor="ctr" rtlCol="false" tIns="0" lIns="0" bIns="0" rIns="0"/>
            <a:lstStyle/>
            <a:p>
              <a:pPr algn="ctr">
                <a:lnSpc>
                  <a:spcPts val="2471"/>
                </a:lnSpc>
              </a:pPr>
              <a:r>
                <a:rPr lang="en-US" sz="1979">
                  <a:solidFill>
                    <a:srgbClr val="243248"/>
                  </a:solidFill>
                  <a:latin typeface="Times New Roman"/>
                  <a:ea typeface="Times New Roman"/>
                  <a:cs typeface="Times New Roman"/>
                  <a:sym typeface="Times New Roman"/>
                </a:rPr>
                <a:t>kWh(A, t+1)</a:t>
              </a:r>
            </a:p>
          </p:txBody>
        </p:sp>
      </p:grpSp>
      <p:grpSp>
        <p:nvGrpSpPr>
          <p:cNvPr name="Group 95" id="95"/>
          <p:cNvGrpSpPr/>
          <p:nvPr/>
        </p:nvGrpSpPr>
        <p:grpSpPr>
          <a:xfrm rot="0">
            <a:off x="12023446" y="3813048"/>
            <a:ext cx="10973" cy="2496312"/>
            <a:chOff x="0" y="0"/>
            <a:chExt cx="14630" cy="3328416"/>
          </a:xfrm>
        </p:grpSpPr>
        <p:sp>
          <p:nvSpPr>
            <p:cNvPr name="Freeform 96" id="96"/>
            <p:cNvSpPr/>
            <p:nvPr/>
          </p:nvSpPr>
          <p:spPr>
            <a:xfrm flipH="false" flipV="false" rot="0">
              <a:off x="0" y="0"/>
              <a:ext cx="14605" cy="3328416"/>
            </a:xfrm>
            <a:custGeom>
              <a:avLst/>
              <a:gdLst/>
              <a:ahLst/>
              <a:cxnLst/>
              <a:rect r="r" b="b" t="t" l="l"/>
              <a:pathLst>
                <a:path h="3328416" w="14605">
                  <a:moveTo>
                    <a:pt x="0" y="0"/>
                  </a:moveTo>
                  <a:lnTo>
                    <a:pt x="14605" y="0"/>
                  </a:lnTo>
                  <a:lnTo>
                    <a:pt x="14605" y="3328416"/>
                  </a:lnTo>
                  <a:lnTo>
                    <a:pt x="0" y="3328416"/>
                  </a:lnTo>
                  <a:close/>
                </a:path>
              </a:pathLst>
            </a:custGeom>
            <a:solidFill>
              <a:srgbClr val="D9E4F4"/>
            </a:solidFill>
          </p:spPr>
        </p:sp>
      </p:grpSp>
      <p:grpSp>
        <p:nvGrpSpPr>
          <p:cNvPr name="Group 97" id="97"/>
          <p:cNvGrpSpPr/>
          <p:nvPr/>
        </p:nvGrpSpPr>
        <p:grpSpPr>
          <a:xfrm rot="0">
            <a:off x="14602054" y="3813048"/>
            <a:ext cx="10973" cy="2496312"/>
            <a:chOff x="0" y="0"/>
            <a:chExt cx="14630" cy="3328416"/>
          </a:xfrm>
        </p:grpSpPr>
        <p:sp>
          <p:nvSpPr>
            <p:cNvPr name="Freeform 98" id="98"/>
            <p:cNvSpPr/>
            <p:nvPr/>
          </p:nvSpPr>
          <p:spPr>
            <a:xfrm flipH="false" flipV="false" rot="0">
              <a:off x="0" y="0"/>
              <a:ext cx="14605" cy="3328416"/>
            </a:xfrm>
            <a:custGeom>
              <a:avLst/>
              <a:gdLst/>
              <a:ahLst/>
              <a:cxnLst/>
              <a:rect r="r" b="b" t="t" l="l"/>
              <a:pathLst>
                <a:path h="3328416" w="14605">
                  <a:moveTo>
                    <a:pt x="0" y="0"/>
                  </a:moveTo>
                  <a:lnTo>
                    <a:pt x="14605" y="0"/>
                  </a:lnTo>
                  <a:lnTo>
                    <a:pt x="14605" y="3328416"/>
                  </a:lnTo>
                  <a:lnTo>
                    <a:pt x="0" y="3328416"/>
                  </a:lnTo>
                  <a:close/>
                </a:path>
              </a:pathLst>
            </a:custGeom>
            <a:solidFill>
              <a:srgbClr val="D9E4F4"/>
            </a:solidFill>
          </p:spPr>
        </p:sp>
      </p:grpSp>
      <p:sp>
        <p:nvSpPr>
          <p:cNvPr name="TextBox 99" id="99"/>
          <p:cNvSpPr txBox="true"/>
          <p:nvPr/>
        </p:nvSpPr>
        <p:spPr>
          <a:xfrm rot="0">
            <a:off x="1289304" y="6276594"/>
            <a:ext cx="7091172" cy="320939"/>
          </a:xfrm>
          <a:prstGeom prst="rect">
            <a:avLst/>
          </a:prstGeom>
        </p:spPr>
        <p:txBody>
          <a:bodyPr anchor="t" rtlCol="false" tIns="0" lIns="0" bIns="0" rIns="0">
            <a:spAutoFit/>
          </a:bodyPr>
          <a:lstStyle/>
          <a:p>
            <a:pPr algn="l">
              <a:lnSpc>
                <a:spcPts val="2545"/>
              </a:lnSpc>
            </a:pPr>
            <a:r>
              <a:rPr lang="en-US" sz="2039" b="true">
                <a:solidFill>
                  <a:srgbClr val="0E43A6"/>
                </a:solidFill>
                <a:latin typeface="Times New Roman Bold"/>
                <a:ea typeface="Times New Roman Bold"/>
                <a:cs typeface="Times New Roman Bold"/>
                <a:sym typeface="Times New Roman Bold"/>
              </a:rPr>
              <a:t>17.544 dòng × 1.579 cột (có timestamp)</a:t>
            </a:r>
          </a:p>
        </p:txBody>
      </p:sp>
      <p:sp>
        <p:nvSpPr>
          <p:cNvPr name="TextBox 100" id="100"/>
          <p:cNvSpPr txBox="true"/>
          <p:nvPr/>
        </p:nvSpPr>
        <p:spPr>
          <a:xfrm rot="0">
            <a:off x="9944100" y="6459093"/>
            <a:ext cx="7132320" cy="302986"/>
          </a:xfrm>
          <a:prstGeom prst="rect">
            <a:avLst/>
          </a:prstGeom>
        </p:spPr>
        <p:txBody>
          <a:bodyPr anchor="t" rtlCol="false" tIns="0" lIns="0" bIns="0" rIns="0">
            <a:spAutoFit/>
          </a:bodyPr>
          <a:lstStyle/>
          <a:p>
            <a:pPr algn="l">
              <a:lnSpc>
                <a:spcPts val="2321"/>
              </a:lnSpc>
            </a:pPr>
            <a:r>
              <a:rPr lang="en-US" sz="1860" b="true">
                <a:solidFill>
                  <a:srgbClr val="0E43A6"/>
                </a:solidFill>
                <a:latin typeface="Times New Roman Bold"/>
                <a:ea typeface="Times New Roman Bold"/>
                <a:cs typeface="Times New Roman Bold"/>
                <a:sym typeface="Times New Roman Bold"/>
              </a:rPr>
              <a:t>27.684.432 vị trí giờ–tòa (gồm NaN)</a:t>
            </a:r>
          </a:p>
        </p:txBody>
      </p:sp>
      <p:grpSp>
        <p:nvGrpSpPr>
          <p:cNvPr name="Group 101" id="101"/>
          <p:cNvGrpSpPr/>
          <p:nvPr/>
        </p:nvGrpSpPr>
        <p:grpSpPr>
          <a:xfrm rot="0">
            <a:off x="8682228" y="4457700"/>
            <a:ext cx="905256" cy="931437"/>
            <a:chOff x="0" y="0"/>
            <a:chExt cx="1207008" cy="1241916"/>
          </a:xfrm>
        </p:grpSpPr>
        <p:sp>
          <p:nvSpPr>
            <p:cNvPr name="Freeform 102" id="102"/>
            <p:cNvSpPr/>
            <p:nvPr/>
          </p:nvSpPr>
          <p:spPr>
            <a:xfrm flipH="false" flipV="false" rot="0">
              <a:off x="0" y="0"/>
              <a:ext cx="1207008" cy="1241916"/>
            </a:xfrm>
            <a:custGeom>
              <a:avLst/>
              <a:gdLst/>
              <a:ahLst/>
              <a:cxnLst/>
              <a:rect r="r" b="b" t="t" l="l"/>
              <a:pathLst>
                <a:path h="1241916" w="1207008">
                  <a:moveTo>
                    <a:pt x="0" y="0"/>
                  </a:moveTo>
                  <a:lnTo>
                    <a:pt x="1207008" y="0"/>
                  </a:lnTo>
                  <a:lnTo>
                    <a:pt x="1207008" y="1241916"/>
                  </a:lnTo>
                  <a:lnTo>
                    <a:pt x="0" y="1241916"/>
                  </a:lnTo>
                  <a:close/>
                </a:path>
              </a:pathLst>
            </a:custGeom>
            <a:blipFill>
              <a:blip r:embed="rId7">
                <a:alphaModFix amt="0"/>
              </a:blip>
              <a:stretch>
                <a:fillRect l="-66639" t="0" r="-66639" b="11646"/>
              </a:stretch>
            </a:blipFill>
          </p:spPr>
        </p:sp>
        <p:sp>
          <p:nvSpPr>
            <p:cNvPr name="TextBox 103" id="103"/>
            <p:cNvSpPr txBox="true"/>
            <p:nvPr/>
          </p:nvSpPr>
          <p:spPr>
            <a:xfrm>
              <a:off x="0" y="-47625"/>
              <a:ext cx="1207008" cy="1289541"/>
            </a:xfrm>
            <a:prstGeom prst="rect">
              <a:avLst/>
            </a:prstGeom>
          </p:spPr>
          <p:txBody>
            <a:bodyPr anchor="ctr" rtlCol="false" tIns="0" lIns="0" bIns="0" rIns="0"/>
            <a:lstStyle/>
            <a:p>
              <a:pPr algn="ctr">
                <a:lnSpc>
                  <a:spcPts val="5803"/>
                </a:lnSpc>
              </a:pPr>
              <a:r>
                <a:rPr lang="en-US" sz="4650" b="true">
                  <a:solidFill>
                    <a:srgbClr val="087F98"/>
                  </a:solidFill>
                  <a:latin typeface="Times New Roman Bold"/>
                  <a:ea typeface="Times New Roman Bold"/>
                  <a:cs typeface="Times New Roman Bold"/>
                  <a:sym typeface="Times New Roman Bold"/>
                </a:rPr>
                <a:t>→</a:t>
              </a:r>
            </a:p>
          </p:txBody>
        </p:sp>
      </p:grpSp>
      <p:grpSp>
        <p:nvGrpSpPr>
          <p:cNvPr name="Group 104" id="104"/>
          <p:cNvGrpSpPr/>
          <p:nvPr/>
        </p:nvGrpSpPr>
        <p:grpSpPr>
          <a:xfrm rot="0">
            <a:off x="1021080" y="7275576"/>
            <a:ext cx="7792212" cy="1441704"/>
            <a:chOff x="0" y="0"/>
            <a:chExt cx="10389616" cy="1922272"/>
          </a:xfrm>
        </p:grpSpPr>
        <p:sp>
          <p:nvSpPr>
            <p:cNvPr name="Freeform 105" id="105"/>
            <p:cNvSpPr/>
            <p:nvPr/>
          </p:nvSpPr>
          <p:spPr>
            <a:xfrm flipH="false" flipV="false" rot="0">
              <a:off x="0" y="0"/>
              <a:ext cx="10389616" cy="1922272"/>
            </a:xfrm>
            <a:custGeom>
              <a:avLst/>
              <a:gdLst/>
              <a:ahLst/>
              <a:cxnLst/>
              <a:rect r="r" b="b" t="t" l="l"/>
              <a:pathLst>
                <a:path h="1922272" w="10389616">
                  <a:moveTo>
                    <a:pt x="0" y="172974"/>
                  </a:moveTo>
                  <a:cubicBezTo>
                    <a:pt x="0" y="77470"/>
                    <a:pt x="77470" y="0"/>
                    <a:pt x="172974" y="0"/>
                  </a:cubicBezTo>
                  <a:lnTo>
                    <a:pt x="10216642" y="0"/>
                  </a:lnTo>
                  <a:cubicBezTo>
                    <a:pt x="10312147" y="0"/>
                    <a:pt x="10389616" y="77470"/>
                    <a:pt x="10389616" y="172974"/>
                  </a:cubicBezTo>
                  <a:lnTo>
                    <a:pt x="10389616" y="1749298"/>
                  </a:lnTo>
                  <a:cubicBezTo>
                    <a:pt x="10389616" y="1844802"/>
                    <a:pt x="10312147" y="1922272"/>
                    <a:pt x="10216642" y="1922272"/>
                  </a:cubicBezTo>
                  <a:lnTo>
                    <a:pt x="172974" y="1922272"/>
                  </a:lnTo>
                  <a:cubicBezTo>
                    <a:pt x="77470" y="1922272"/>
                    <a:pt x="0" y="1844802"/>
                    <a:pt x="0" y="1749298"/>
                  </a:cubicBezTo>
                  <a:close/>
                </a:path>
              </a:pathLst>
            </a:custGeom>
            <a:solidFill>
              <a:srgbClr val="EFF5FC"/>
            </a:solidFill>
            <a:ln w="15240" cap="sq">
              <a:solidFill>
                <a:srgbClr val="D9E4F4"/>
              </a:solidFill>
              <a:prstDash val="solid"/>
              <a:miter/>
            </a:ln>
          </p:spPr>
        </p:sp>
      </p:grpSp>
      <p:grpSp>
        <p:nvGrpSpPr>
          <p:cNvPr name="Group 106" id="106"/>
          <p:cNvGrpSpPr/>
          <p:nvPr/>
        </p:nvGrpSpPr>
        <p:grpSpPr>
          <a:xfrm rot="0">
            <a:off x="9374124" y="7275576"/>
            <a:ext cx="7888224" cy="1441704"/>
            <a:chOff x="0" y="0"/>
            <a:chExt cx="10517632" cy="1922272"/>
          </a:xfrm>
        </p:grpSpPr>
        <p:sp>
          <p:nvSpPr>
            <p:cNvPr name="Freeform 107" id="107"/>
            <p:cNvSpPr/>
            <p:nvPr/>
          </p:nvSpPr>
          <p:spPr>
            <a:xfrm flipH="false" flipV="false" rot="0">
              <a:off x="0" y="0"/>
              <a:ext cx="10517632" cy="1922272"/>
            </a:xfrm>
            <a:custGeom>
              <a:avLst/>
              <a:gdLst/>
              <a:ahLst/>
              <a:cxnLst/>
              <a:rect r="r" b="b" t="t" l="l"/>
              <a:pathLst>
                <a:path h="1922272" w="10517632">
                  <a:moveTo>
                    <a:pt x="0" y="172974"/>
                  </a:moveTo>
                  <a:cubicBezTo>
                    <a:pt x="0" y="77470"/>
                    <a:pt x="77470" y="0"/>
                    <a:pt x="172974" y="0"/>
                  </a:cubicBezTo>
                  <a:lnTo>
                    <a:pt x="10344658" y="0"/>
                  </a:lnTo>
                  <a:cubicBezTo>
                    <a:pt x="10440162" y="0"/>
                    <a:pt x="10517632" y="77470"/>
                    <a:pt x="10517632" y="172974"/>
                  </a:cubicBezTo>
                  <a:lnTo>
                    <a:pt x="10517632" y="1749298"/>
                  </a:lnTo>
                  <a:cubicBezTo>
                    <a:pt x="10517632" y="1844802"/>
                    <a:pt x="10440162" y="1922272"/>
                    <a:pt x="10344658" y="1922272"/>
                  </a:cubicBezTo>
                  <a:lnTo>
                    <a:pt x="172974" y="1922272"/>
                  </a:lnTo>
                  <a:cubicBezTo>
                    <a:pt x="77470" y="1922272"/>
                    <a:pt x="0" y="1844802"/>
                    <a:pt x="0" y="1749298"/>
                  </a:cubicBezTo>
                  <a:close/>
                </a:path>
              </a:pathLst>
            </a:custGeom>
            <a:solidFill>
              <a:srgbClr val="EFF5FC"/>
            </a:solidFill>
            <a:ln w="15240" cap="sq">
              <a:solidFill>
                <a:srgbClr val="D9E4F4"/>
              </a:solidFill>
              <a:prstDash val="solid"/>
              <a:miter/>
            </a:ln>
          </p:spPr>
        </p:sp>
      </p:grpSp>
      <p:sp>
        <p:nvSpPr>
          <p:cNvPr name="TextBox 108" id="108"/>
          <p:cNvSpPr txBox="true"/>
          <p:nvPr/>
        </p:nvSpPr>
        <p:spPr>
          <a:xfrm rot="0">
            <a:off x="1344168" y="7405497"/>
            <a:ext cx="7132320" cy="339623"/>
          </a:xfrm>
          <a:prstGeom prst="rect">
            <a:avLst/>
          </a:prstGeom>
        </p:spPr>
        <p:txBody>
          <a:bodyPr anchor="t" rtlCol="false" tIns="0" lIns="0" bIns="0" rIns="0">
            <a:spAutoFit/>
          </a:bodyPr>
          <a:lstStyle/>
          <a:p>
            <a:pPr algn="l">
              <a:lnSpc>
                <a:spcPts val="2620"/>
              </a:lnSpc>
            </a:pPr>
            <a:r>
              <a:rPr lang="en-US" sz="2100" b="true">
                <a:solidFill>
                  <a:srgbClr val="104BAC"/>
                </a:solidFill>
                <a:latin typeface="Times New Roman Bold"/>
                <a:ea typeface="Times New Roman Bold"/>
                <a:cs typeface="Times New Roman Bold"/>
                <a:sym typeface="Times New Roman Bold"/>
              </a:rPr>
              <a:t>RAW ELECTRICITY – electricity.csv</a:t>
            </a:r>
          </a:p>
        </p:txBody>
      </p:sp>
      <p:sp>
        <p:nvSpPr>
          <p:cNvPr name="TextBox 109" id="109"/>
          <p:cNvSpPr txBox="true"/>
          <p:nvPr/>
        </p:nvSpPr>
        <p:spPr>
          <a:xfrm rot="0">
            <a:off x="1344168" y="7899273"/>
            <a:ext cx="7187184" cy="348966"/>
          </a:xfrm>
          <a:prstGeom prst="rect">
            <a:avLst/>
          </a:prstGeom>
        </p:spPr>
        <p:txBody>
          <a:bodyPr anchor="t" rtlCol="false" tIns="0" lIns="0" bIns="0" rIns="0">
            <a:spAutoFit/>
          </a:bodyPr>
          <a:lstStyle/>
          <a:p>
            <a:pPr algn="l">
              <a:lnSpc>
                <a:spcPts val="2658"/>
              </a:lnSpc>
            </a:pPr>
            <a:r>
              <a:rPr lang="en-US" sz="2129">
                <a:solidFill>
                  <a:srgbClr val="243248"/>
                </a:solidFill>
                <a:latin typeface="Times New Roman"/>
                <a:ea typeface="Times New Roman"/>
                <a:cs typeface="Times New Roman"/>
                <a:sym typeface="Times New Roman"/>
              </a:rPr>
              <a:t>raw_kwh: điện gốc, dùng rà soát bất thường.</a:t>
            </a:r>
          </a:p>
        </p:txBody>
      </p:sp>
      <p:sp>
        <p:nvSpPr>
          <p:cNvPr name="TextBox 110" id="110"/>
          <p:cNvSpPr txBox="true"/>
          <p:nvPr/>
        </p:nvSpPr>
        <p:spPr>
          <a:xfrm rot="0">
            <a:off x="9683496" y="7405497"/>
            <a:ext cx="7228332" cy="339623"/>
          </a:xfrm>
          <a:prstGeom prst="rect">
            <a:avLst/>
          </a:prstGeom>
        </p:spPr>
        <p:txBody>
          <a:bodyPr anchor="t" rtlCol="false" tIns="0" lIns="0" bIns="0" rIns="0">
            <a:spAutoFit/>
          </a:bodyPr>
          <a:lstStyle/>
          <a:p>
            <a:pPr algn="l">
              <a:lnSpc>
                <a:spcPts val="2620"/>
              </a:lnSpc>
            </a:pPr>
            <a:r>
              <a:rPr lang="en-US" sz="2100" b="true">
                <a:solidFill>
                  <a:srgbClr val="087F98"/>
                </a:solidFill>
                <a:latin typeface="Times New Roman Bold"/>
                <a:ea typeface="Times New Roman Bold"/>
                <a:cs typeface="Times New Roman Bold"/>
                <a:sym typeface="Times New Roman Bold"/>
              </a:rPr>
              <a:t>CLEANED – electricity_cleaned.csv</a:t>
            </a:r>
          </a:p>
        </p:txBody>
      </p:sp>
      <p:sp>
        <p:nvSpPr>
          <p:cNvPr name="TextBox 111" id="111"/>
          <p:cNvSpPr txBox="true"/>
          <p:nvPr/>
        </p:nvSpPr>
        <p:spPr>
          <a:xfrm rot="0">
            <a:off x="9683496" y="7899273"/>
            <a:ext cx="7255764" cy="339623"/>
          </a:xfrm>
          <a:prstGeom prst="rect">
            <a:avLst/>
          </a:prstGeom>
        </p:spPr>
        <p:txBody>
          <a:bodyPr anchor="t" rtlCol="false" tIns="0" lIns="0" bIns="0" rIns="0">
            <a:spAutoFit/>
          </a:bodyPr>
          <a:lstStyle/>
          <a:p>
            <a:pPr algn="l">
              <a:lnSpc>
                <a:spcPts val="2620"/>
              </a:lnSpc>
            </a:pPr>
            <a:r>
              <a:rPr lang="en-US" sz="2100">
                <a:solidFill>
                  <a:srgbClr val="243248"/>
                </a:solidFill>
                <a:latin typeface="Times New Roman"/>
                <a:ea typeface="Times New Roman"/>
                <a:cs typeface="Times New Roman"/>
                <a:sym typeface="Times New Roman"/>
              </a:rPr>
              <a:t>clean_kwh → electricity: biến mục tiêu dự báo.</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METADATA: THÔNG TIN TÒA NHÀ</a:t>
            </a:r>
          </a:p>
        </p:txBody>
      </p:sp>
      <p:sp>
        <p:nvSpPr>
          <p:cNvPr name="Freeform 4" id="4"/>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1020128" y="2926652"/>
            <a:ext cx="16256889" cy="3171825"/>
            <a:chOff x="0" y="0"/>
            <a:chExt cx="21675852" cy="4229100"/>
          </a:xfrm>
        </p:grpSpPr>
        <p:sp>
          <p:nvSpPr>
            <p:cNvPr name="Freeform 7" id="7"/>
            <p:cNvSpPr/>
            <p:nvPr/>
          </p:nvSpPr>
          <p:spPr>
            <a:xfrm flipH="false" flipV="false" rot="0">
              <a:off x="0" y="0"/>
              <a:ext cx="21675852" cy="4229100"/>
            </a:xfrm>
            <a:custGeom>
              <a:avLst/>
              <a:gdLst/>
              <a:ahLst/>
              <a:cxnLst/>
              <a:rect r="r" b="b" t="t" l="l"/>
              <a:pathLst>
                <a:path h="4229100" w="21675852">
                  <a:moveTo>
                    <a:pt x="0" y="338328"/>
                  </a:moveTo>
                  <a:cubicBezTo>
                    <a:pt x="0" y="151511"/>
                    <a:pt x="151511" y="0"/>
                    <a:pt x="338328" y="0"/>
                  </a:cubicBezTo>
                  <a:lnTo>
                    <a:pt x="21337524" y="0"/>
                  </a:lnTo>
                  <a:cubicBezTo>
                    <a:pt x="21524340" y="0"/>
                    <a:pt x="21675852" y="151511"/>
                    <a:pt x="21675852" y="338328"/>
                  </a:cubicBezTo>
                  <a:lnTo>
                    <a:pt x="21675852" y="3890772"/>
                  </a:lnTo>
                  <a:cubicBezTo>
                    <a:pt x="21675852" y="4077589"/>
                    <a:pt x="21524340" y="4229100"/>
                    <a:pt x="21337524" y="4229100"/>
                  </a:cubicBezTo>
                  <a:lnTo>
                    <a:pt x="338328" y="4229100"/>
                  </a:lnTo>
                  <a:cubicBezTo>
                    <a:pt x="151511" y="4229100"/>
                    <a:pt x="0" y="4077589"/>
                    <a:pt x="0" y="3890772"/>
                  </a:cubicBezTo>
                  <a:close/>
                </a:path>
              </a:pathLst>
            </a:custGeom>
            <a:solidFill>
              <a:srgbClr val="FFFFFF"/>
            </a:solidFill>
            <a:ln w="17145" cap="sq">
              <a:solidFill>
                <a:srgbClr val="D9E4F4"/>
              </a:solidFill>
              <a:prstDash val="solid"/>
              <a:miter/>
            </a:ln>
          </p:spPr>
        </p:sp>
      </p:grpSp>
      <p:sp>
        <p:nvSpPr>
          <p:cNvPr name="TextBox 8" id="8"/>
          <p:cNvSpPr txBox="true"/>
          <p:nvPr/>
        </p:nvSpPr>
        <p:spPr>
          <a:xfrm rot="0">
            <a:off x="1362456" y="3216021"/>
            <a:ext cx="8682038" cy="504635"/>
          </a:xfrm>
          <a:prstGeom prst="rect">
            <a:avLst/>
          </a:prstGeom>
        </p:spPr>
        <p:txBody>
          <a:bodyPr anchor="t" rtlCol="false" tIns="0" lIns="0" bIns="0" rIns="0">
            <a:spAutoFit/>
          </a:bodyPr>
          <a:lstStyle/>
          <a:p>
            <a:pPr algn="l">
              <a:lnSpc>
                <a:spcPts val="4036"/>
              </a:lnSpc>
            </a:pPr>
            <a:r>
              <a:rPr lang="en-US" sz="2925" b="true">
                <a:solidFill>
                  <a:srgbClr val="104BAC"/>
                </a:solidFill>
                <a:latin typeface="Times New Roman Bold"/>
                <a:ea typeface="Times New Roman Bold"/>
                <a:cs typeface="Times New Roman Bold"/>
                <a:sym typeface="Times New Roman Bold"/>
              </a:rPr>
              <a:t>BẢNG METADATA LƯU NHỮNG THÔNG TIN GÌ?</a:t>
            </a:r>
          </a:p>
        </p:txBody>
      </p:sp>
      <p:sp>
        <p:nvSpPr>
          <p:cNvPr name="TextBox 9" id="9"/>
          <p:cNvSpPr txBox="true"/>
          <p:nvPr/>
        </p:nvSpPr>
        <p:spPr>
          <a:xfrm rot="0">
            <a:off x="1403604" y="3956685"/>
            <a:ext cx="15201900" cy="1347521"/>
          </a:xfrm>
          <a:prstGeom prst="rect">
            <a:avLst/>
          </a:prstGeom>
        </p:spPr>
        <p:txBody>
          <a:bodyPr anchor="t" rtlCol="false" tIns="0" lIns="0" bIns="0" rIns="0">
            <a:spAutoFit/>
          </a:bodyPr>
          <a:lstStyle/>
          <a:p>
            <a:pPr algn="l">
              <a:lnSpc>
                <a:spcPts val="3549"/>
              </a:lnSpc>
            </a:pPr>
            <a:r>
              <a:rPr lang="en-US" sz="2550">
                <a:solidFill>
                  <a:srgbClr val="243248"/>
                </a:solidFill>
                <a:latin typeface="Times New Roman"/>
                <a:ea typeface="Times New Roman"/>
                <a:cs typeface="Times New Roman"/>
                <a:sym typeface="Times New Roman"/>
              </a:rPr>
              <a:t>Bảng mô tả từng công trình: mã tòa nhà, khu vực, mục đích sử dụng, năm xây dựng, diện tích (m²/ft²), số tầng, số người sử dụng và vị trí địa lý. Ngoài ra còn có thông tin về hệ thống năng lượng và một số chỉ số hiệu suất công trình.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019556" y="736473"/>
            <a:ext cx="16258032" cy="782955"/>
          </a:xfrm>
          <a:prstGeom prst="rect">
            <a:avLst/>
          </a:prstGeom>
        </p:spPr>
        <p:txBody>
          <a:bodyPr anchor="t" rtlCol="false" tIns="0" lIns="0" bIns="0" rIns="0">
            <a:spAutoFit/>
          </a:bodyPr>
          <a:lstStyle/>
          <a:p>
            <a:pPr algn="l">
              <a:lnSpc>
                <a:spcPts val="6209"/>
              </a:lnSpc>
            </a:pPr>
            <a:r>
              <a:rPr lang="en-US" sz="4500" b="true">
                <a:solidFill>
                  <a:srgbClr val="104BAC"/>
                </a:solidFill>
                <a:latin typeface="Times New Roman Bold"/>
                <a:ea typeface="Times New Roman Bold"/>
                <a:cs typeface="Times New Roman Bold"/>
                <a:sym typeface="Times New Roman Bold"/>
              </a:rPr>
              <a:t>WEATHER: DỮ LIỆU THỜI TIẾT</a:t>
            </a:r>
          </a:p>
        </p:txBody>
      </p:sp>
      <p:grpSp>
        <p:nvGrpSpPr>
          <p:cNvPr name="Group 6" id="6"/>
          <p:cNvGrpSpPr/>
          <p:nvPr/>
        </p:nvGrpSpPr>
        <p:grpSpPr>
          <a:xfrm rot="0">
            <a:off x="1006411" y="2899220"/>
            <a:ext cx="16243173" cy="3103245"/>
            <a:chOff x="0" y="0"/>
            <a:chExt cx="21657564" cy="4137660"/>
          </a:xfrm>
        </p:grpSpPr>
        <p:sp>
          <p:nvSpPr>
            <p:cNvPr name="Freeform 7" id="7"/>
            <p:cNvSpPr/>
            <p:nvPr/>
          </p:nvSpPr>
          <p:spPr>
            <a:xfrm flipH="false" flipV="false" rot="0">
              <a:off x="0" y="0"/>
              <a:ext cx="21657565" cy="4137660"/>
            </a:xfrm>
            <a:custGeom>
              <a:avLst/>
              <a:gdLst/>
              <a:ahLst/>
              <a:cxnLst/>
              <a:rect r="r" b="b" t="t" l="l"/>
              <a:pathLst>
                <a:path h="4137660" w="21657565">
                  <a:moveTo>
                    <a:pt x="0" y="330962"/>
                  </a:moveTo>
                  <a:cubicBezTo>
                    <a:pt x="0" y="148209"/>
                    <a:pt x="148209" y="0"/>
                    <a:pt x="330962" y="0"/>
                  </a:cubicBezTo>
                  <a:lnTo>
                    <a:pt x="21326602" y="0"/>
                  </a:lnTo>
                  <a:cubicBezTo>
                    <a:pt x="21509355" y="0"/>
                    <a:pt x="21657565" y="148209"/>
                    <a:pt x="21657565" y="330962"/>
                  </a:cubicBezTo>
                  <a:lnTo>
                    <a:pt x="21657565" y="3806698"/>
                  </a:lnTo>
                  <a:cubicBezTo>
                    <a:pt x="21657565" y="3989451"/>
                    <a:pt x="21509355" y="4137660"/>
                    <a:pt x="21326602" y="4137660"/>
                  </a:cubicBezTo>
                  <a:lnTo>
                    <a:pt x="330962" y="4137660"/>
                  </a:lnTo>
                  <a:cubicBezTo>
                    <a:pt x="148209" y="4137660"/>
                    <a:pt x="0" y="3989451"/>
                    <a:pt x="0" y="3806698"/>
                  </a:cubicBezTo>
                  <a:close/>
                </a:path>
              </a:pathLst>
            </a:custGeom>
            <a:solidFill>
              <a:srgbClr val="FFFFFF"/>
            </a:solidFill>
            <a:ln w="17145" cap="sq">
              <a:solidFill>
                <a:srgbClr val="D9E4F4"/>
              </a:solidFill>
              <a:prstDash val="solid"/>
              <a:miter/>
            </a:ln>
          </p:spPr>
        </p:sp>
      </p:grpSp>
      <p:sp>
        <p:nvSpPr>
          <p:cNvPr name="TextBox 8" id="8"/>
          <p:cNvSpPr txBox="true"/>
          <p:nvPr/>
        </p:nvSpPr>
        <p:spPr>
          <a:xfrm rot="0">
            <a:off x="1362456" y="3202305"/>
            <a:ext cx="8985766" cy="496824"/>
          </a:xfrm>
          <a:prstGeom prst="rect">
            <a:avLst/>
          </a:prstGeom>
        </p:spPr>
        <p:txBody>
          <a:bodyPr anchor="t" rtlCol="false" tIns="0" lIns="0" bIns="0" rIns="0">
            <a:spAutoFit/>
          </a:bodyPr>
          <a:lstStyle/>
          <a:p>
            <a:pPr algn="l">
              <a:lnSpc>
                <a:spcPts val="3933"/>
              </a:lnSpc>
            </a:pPr>
            <a:r>
              <a:rPr lang="en-US" sz="2850" b="true">
                <a:solidFill>
                  <a:srgbClr val="104BAC"/>
                </a:solidFill>
                <a:latin typeface="Times New Roman Bold"/>
                <a:ea typeface="Times New Roman Bold"/>
                <a:cs typeface="Times New Roman Bold"/>
                <a:sym typeface="Times New Roman Bold"/>
              </a:rPr>
              <a:t>BẢNG WEATHER GHI NHẬN NHỮNG YẾU TỐ NÀO?</a:t>
            </a:r>
          </a:p>
        </p:txBody>
      </p:sp>
      <p:sp>
        <p:nvSpPr>
          <p:cNvPr name="TextBox 9" id="9"/>
          <p:cNvSpPr txBox="true"/>
          <p:nvPr/>
        </p:nvSpPr>
        <p:spPr>
          <a:xfrm rot="0">
            <a:off x="1389888" y="3952494"/>
            <a:ext cx="15243048" cy="1313684"/>
          </a:xfrm>
          <a:prstGeom prst="rect">
            <a:avLst/>
          </a:prstGeom>
        </p:spPr>
        <p:txBody>
          <a:bodyPr anchor="t" rtlCol="false" tIns="0" lIns="0" bIns="0" rIns="0">
            <a:spAutoFit/>
          </a:bodyPr>
          <a:lstStyle/>
          <a:p>
            <a:pPr algn="l">
              <a:lnSpc>
                <a:spcPts val="3496"/>
              </a:lnSpc>
            </a:pPr>
            <a:r>
              <a:rPr lang="en-US" sz="2533">
                <a:solidFill>
                  <a:srgbClr val="243248"/>
                </a:solidFill>
                <a:latin typeface="Times New Roman"/>
                <a:ea typeface="Times New Roman"/>
                <a:cs typeface="Times New Roman"/>
                <a:sym typeface="Times New Roman"/>
              </a:rPr>
              <a:t>Bảng ghi nhận điều kiện khí tượng theo từng giờ tại từng khu vực: nhiệt độ không khí, mức độ che phủ mây, điểm sương, lượng mưa, áp suất khí quyển, hướng gió và tốc độ gió. Các yếu tố này giúp khảo sát ảnh hưởng thời tiết đến nhu cầu sử dụng điện.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KHẢO SÁT CHẤT LƯỢNG DỮ LIỆU</a:t>
            </a:r>
          </a:p>
        </p:txBody>
      </p:sp>
      <p:sp>
        <p:nvSpPr>
          <p:cNvPr name="TextBox 4" id="4"/>
          <p:cNvSpPr txBox="true"/>
          <p:nvPr/>
        </p:nvSpPr>
        <p:spPr>
          <a:xfrm rot="0">
            <a:off x="1016003" y="2044703"/>
            <a:ext cx="15875003" cy="479725"/>
          </a:xfrm>
          <a:prstGeom prst="rect">
            <a:avLst/>
          </a:prstGeom>
        </p:spPr>
        <p:txBody>
          <a:bodyPr anchor="t" rtlCol="false" tIns="0" lIns="0" bIns="0" rIns="0">
            <a:spAutoFit/>
          </a:bodyPr>
          <a:lstStyle/>
          <a:p>
            <a:pPr algn="l">
              <a:lnSpc>
                <a:spcPts val="3885"/>
              </a:lnSpc>
            </a:pPr>
            <a:r>
              <a:rPr lang="en-US" sz="2698">
                <a:solidFill>
                  <a:srgbClr val="53637A"/>
                </a:solidFill>
                <a:latin typeface="Times New Roman"/>
                <a:ea typeface="Times New Roman"/>
                <a:cs typeface="Times New Roman"/>
                <a:sym typeface="Times New Roman"/>
              </a:rPr>
              <a:t>Trên 27.684.432 vị trí giờ–tòa · 1.578 tòa điện ban đầu</a:t>
            </a:r>
          </a:p>
        </p:txBody>
      </p:sp>
      <p:grpSp>
        <p:nvGrpSpPr>
          <p:cNvPr name="Group 5" id="5"/>
          <p:cNvGrpSpPr/>
          <p:nvPr/>
        </p:nvGrpSpPr>
        <p:grpSpPr>
          <a:xfrm rot="0">
            <a:off x="826770" y="3214373"/>
            <a:ext cx="4048754" cy="3578857"/>
            <a:chOff x="0" y="0"/>
            <a:chExt cx="5398338" cy="4771809"/>
          </a:xfrm>
        </p:grpSpPr>
        <p:sp>
          <p:nvSpPr>
            <p:cNvPr name="Freeform 6" id="6"/>
            <p:cNvSpPr/>
            <p:nvPr/>
          </p:nvSpPr>
          <p:spPr>
            <a:xfrm flipH="false" flipV="false" rot="0">
              <a:off x="0" y="0"/>
              <a:ext cx="5398389" cy="4771771"/>
            </a:xfrm>
            <a:custGeom>
              <a:avLst/>
              <a:gdLst/>
              <a:ahLst/>
              <a:cxnLst/>
              <a:rect r="r" b="b" t="t" l="l"/>
              <a:pathLst>
                <a:path h="4771771" w="5398389">
                  <a:moveTo>
                    <a:pt x="0" y="0"/>
                  </a:moveTo>
                  <a:lnTo>
                    <a:pt x="5398389" y="0"/>
                  </a:lnTo>
                  <a:lnTo>
                    <a:pt x="5398389" y="4771771"/>
                  </a:lnTo>
                  <a:lnTo>
                    <a:pt x="0" y="4771771"/>
                  </a:lnTo>
                  <a:close/>
                </a:path>
              </a:pathLst>
            </a:custGeom>
            <a:solidFill>
              <a:srgbClr val="FFFFFF"/>
            </a:solidFill>
            <a:ln w="22858" cap="sq">
              <a:solidFill>
                <a:srgbClr val="D1DEED"/>
              </a:solidFill>
              <a:prstDash val="solid"/>
              <a:miter/>
            </a:ln>
          </p:spPr>
        </p:sp>
      </p:grpSp>
      <p:sp>
        <p:nvSpPr>
          <p:cNvPr name="TextBox 7" id="7"/>
          <p:cNvSpPr txBox="true"/>
          <p:nvPr/>
        </p:nvSpPr>
        <p:spPr>
          <a:xfrm rot="0">
            <a:off x="1041397" y="3752850"/>
            <a:ext cx="3619500"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1.312.095</a:t>
            </a:r>
          </a:p>
        </p:txBody>
      </p:sp>
      <p:sp>
        <p:nvSpPr>
          <p:cNvPr name="TextBox 8" id="8"/>
          <p:cNvSpPr txBox="true"/>
          <p:nvPr/>
        </p:nvSpPr>
        <p:spPr>
          <a:xfrm rot="0">
            <a:off x="1066800" y="5079997"/>
            <a:ext cx="3555997" cy="463692"/>
          </a:xfrm>
          <a:prstGeom prst="rect">
            <a:avLst/>
          </a:prstGeom>
        </p:spPr>
        <p:txBody>
          <a:bodyPr anchor="t" rtlCol="false" tIns="0" lIns="0" bIns="0" rIns="0">
            <a:spAutoFit/>
          </a:bodyPr>
          <a:lstStyle/>
          <a:p>
            <a:pPr algn="ctr">
              <a:lnSpc>
                <a:spcPts val="3743"/>
              </a:lnSpc>
            </a:pPr>
            <a:r>
              <a:rPr lang="en-US" sz="2599" b="true">
                <a:solidFill>
                  <a:srgbClr val="1B293E"/>
                </a:solidFill>
                <a:latin typeface="Times New Roman Bold"/>
                <a:ea typeface="Times New Roman Bold"/>
                <a:cs typeface="Times New Roman Bold"/>
                <a:sym typeface="Times New Roman Bold"/>
              </a:rPr>
              <a:t>Giờ thiếu Raw</a:t>
            </a:r>
          </a:p>
        </p:txBody>
      </p:sp>
      <p:grpSp>
        <p:nvGrpSpPr>
          <p:cNvPr name="Group 9" id="9"/>
          <p:cNvGrpSpPr/>
          <p:nvPr/>
        </p:nvGrpSpPr>
        <p:grpSpPr>
          <a:xfrm rot="0">
            <a:off x="5208270" y="3214373"/>
            <a:ext cx="4048754" cy="3578857"/>
            <a:chOff x="0" y="0"/>
            <a:chExt cx="5398338" cy="4771809"/>
          </a:xfrm>
        </p:grpSpPr>
        <p:sp>
          <p:nvSpPr>
            <p:cNvPr name="Freeform 10" id="10"/>
            <p:cNvSpPr/>
            <p:nvPr/>
          </p:nvSpPr>
          <p:spPr>
            <a:xfrm flipH="false" flipV="false" rot="0">
              <a:off x="0" y="0"/>
              <a:ext cx="5398389" cy="4771771"/>
            </a:xfrm>
            <a:custGeom>
              <a:avLst/>
              <a:gdLst/>
              <a:ahLst/>
              <a:cxnLst/>
              <a:rect r="r" b="b" t="t" l="l"/>
              <a:pathLst>
                <a:path h="4771771" w="5398389">
                  <a:moveTo>
                    <a:pt x="0" y="0"/>
                  </a:moveTo>
                  <a:lnTo>
                    <a:pt x="5398389" y="0"/>
                  </a:lnTo>
                  <a:lnTo>
                    <a:pt x="5398389" y="4771771"/>
                  </a:lnTo>
                  <a:lnTo>
                    <a:pt x="0" y="4771771"/>
                  </a:lnTo>
                  <a:close/>
                </a:path>
              </a:pathLst>
            </a:custGeom>
            <a:solidFill>
              <a:srgbClr val="FFFFFF"/>
            </a:solidFill>
            <a:ln w="22858" cap="sq">
              <a:solidFill>
                <a:srgbClr val="D1DEED"/>
              </a:solidFill>
              <a:prstDash val="solid"/>
              <a:miter/>
            </a:ln>
          </p:spPr>
        </p:sp>
      </p:grpSp>
      <p:sp>
        <p:nvSpPr>
          <p:cNvPr name="TextBox 11" id="11"/>
          <p:cNvSpPr txBox="true"/>
          <p:nvPr/>
        </p:nvSpPr>
        <p:spPr>
          <a:xfrm rot="0">
            <a:off x="5422897" y="3752850"/>
            <a:ext cx="3619500"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1.504.197</a:t>
            </a:r>
          </a:p>
        </p:txBody>
      </p:sp>
      <p:sp>
        <p:nvSpPr>
          <p:cNvPr name="TextBox 12" id="12"/>
          <p:cNvSpPr txBox="true"/>
          <p:nvPr/>
        </p:nvSpPr>
        <p:spPr>
          <a:xfrm rot="0">
            <a:off x="5448300" y="5079997"/>
            <a:ext cx="3555997" cy="463692"/>
          </a:xfrm>
          <a:prstGeom prst="rect">
            <a:avLst/>
          </a:prstGeom>
        </p:spPr>
        <p:txBody>
          <a:bodyPr anchor="t" rtlCol="false" tIns="0" lIns="0" bIns="0" rIns="0">
            <a:spAutoFit/>
          </a:bodyPr>
          <a:lstStyle/>
          <a:p>
            <a:pPr algn="ctr">
              <a:lnSpc>
                <a:spcPts val="3743"/>
              </a:lnSpc>
            </a:pPr>
            <a:r>
              <a:rPr lang="en-US" sz="2599" b="true">
                <a:solidFill>
                  <a:srgbClr val="1B293E"/>
                </a:solidFill>
                <a:latin typeface="Times New Roman Bold"/>
                <a:ea typeface="Times New Roman Bold"/>
                <a:cs typeface="Times New Roman Bold"/>
                <a:sym typeface="Times New Roman Bold"/>
              </a:rPr>
              <a:t>Giờ thiếu Cleaned</a:t>
            </a:r>
          </a:p>
        </p:txBody>
      </p:sp>
      <p:grpSp>
        <p:nvGrpSpPr>
          <p:cNvPr name="Group 13" id="13"/>
          <p:cNvGrpSpPr/>
          <p:nvPr/>
        </p:nvGrpSpPr>
        <p:grpSpPr>
          <a:xfrm rot="0">
            <a:off x="9589770" y="3214373"/>
            <a:ext cx="4048754" cy="3578857"/>
            <a:chOff x="0" y="0"/>
            <a:chExt cx="5398338" cy="4771809"/>
          </a:xfrm>
        </p:grpSpPr>
        <p:sp>
          <p:nvSpPr>
            <p:cNvPr name="Freeform 14" id="14"/>
            <p:cNvSpPr/>
            <p:nvPr/>
          </p:nvSpPr>
          <p:spPr>
            <a:xfrm flipH="false" flipV="false" rot="0">
              <a:off x="0" y="0"/>
              <a:ext cx="5398389" cy="4771771"/>
            </a:xfrm>
            <a:custGeom>
              <a:avLst/>
              <a:gdLst/>
              <a:ahLst/>
              <a:cxnLst/>
              <a:rect r="r" b="b" t="t" l="l"/>
              <a:pathLst>
                <a:path h="4771771" w="5398389">
                  <a:moveTo>
                    <a:pt x="0" y="0"/>
                  </a:moveTo>
                  <a:lnTo>
                    <a:pt x="5398389" y="0"/>
                  </a:lnTo>
                  <a:lnTo>
                    <a:pt x="5398389" y="4771771"/>
                  </a:lnTo>
                  <a:lnTo>
                    <a:pt x="0" y="4771771"/>
                  </a:lnTo>
                  <a:close/>
                </a:path>
              </a:pathLst>
            </a:custGeom>
            <a:solidFill>
              <a:srgbClr val="FFFFFF"/>
            </a:solidFill>
            <a:ln w="22858" cap="sq">
              <a:solidFill>
                <a:srgbClr val="D1DEED"/>
              </a:solidFill>
              <a:prstDash val="solid"/>
              <a:miter/>
            </a:ln>
          </p:spPr>
        </p:sp>
      </p:grpSp>
      <p:sp>
        <p:nvSpPr>
          <p:cNvPr name="TextBox 15" id="15"/>
          <p:cNvSpPr txBox="true"/>
          <p:nvPr/>
        </p:nvSpPr>
        <p:spPr>
          <a:xfrm rot="0">
            <a:off x="9804397" y="3752850"/>
            <a:ext cx="3619500"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192.102</a:t>
            </a:r>
          </a:p>
        </p:txBody>
      </p:sp>
      <p:sp>
        <p:nvSpPr>
          <p:cNvPr name="TextBox 16" id="16"/>
          <p:cNvSpPr txBox="true"/>
          <p:nvPr/>
        </p:nvSpPr>
        <p:spPr>
          <a:xfrm rot="0">
            <a:off x="9829800" y="5079997"/>
            <a:ext cx="3555997" cy="463692"/>
          </a:xfrm>
          <a:prstGeom prst="rect">
            <a:avLst/>
          </a:prstGeom>
        </p:spPr>
        <p:txBody>
          <a:bodyPr anchor="t" rtlCol="false" tIns="0" lIns="0" bIns="0" rIns="0">
            <a:spAutoFit/>
          </a:bodyPr>
          <a:lstStyle/>
          <a:p>
            <a:pPr algn="ctr">
              <a:lnSpc>
                <a:spcPts val="3743"/>
              </a:lnSpc>
            </a:pPr>
            <a:r>
              <a:rPr lang="en-US" sz="2599" b="true">
                <a:solidFill>
                  <a:srgbClr val="1B293E"/>
                </a:solidFill>
                <a:latin typeface="Times New Roman Bold"/>
                <a:ea typeface="Times New Roman Bold"/>
                <a:cs typeface="Times New Roman Bold"/>
                <a:sym typeface="Times New Roman Bold"/>
              </a:rPr>
              <a:t>Raw có, Cleaned thiếu</a:t>
            </a:r>
          </a:p>
        </p:txBody>
      </p:sp>
      <p:grpSp>
        <p:nvGrpSpPr>
          <p:cNvPr name="Group 17" id="17"/>
          <p:cNvGrpSpPr/>
          <p:nvPr/>
        </p:nvGrpSpPr>
        <p:grpSpPr>
          <a:xfrm rot="0">
            <a:off x="13971270" y="3214373"/>
            <a:ext cx="4048754" cy="3578857"/>
            <a:chOff x="0" y="0"/>
            <a:chExt cx="5398338" cy="4771809"/>
          </a:xfrm>
        </p:grpSpPr>
        <p:sp>
          <p:nvSpPr>
            <p:cNvPr name="Freeform 18" id="18"/>
            <p:cNvSpPr/>
            <p:nvPr/>
          </p:nvSpPr>
          <p:spPr>
            <a:xfrm flipH="false" flipV="false" rot="0">
              <a:off x="0" y="0"/>
              <a:ext cx="5398389" cy="4771771"/>
            </a:xfrm>
            <a:custGeom>
              <a:avLst/>
              <a:gdLst/>
              <a:ahLst/>
              <a:cxnLst/>
              <a:rect r="r" b="b" t="t" l="l"/>
              <a:pathLst>
                <a:path h="4771771" w="5398389">
                  <a:moveTo>
                    <a:pt x="0" y="0"/>
                  </a:moveTo>
                  <a:lnTo>
                    <a:pt x="5398389" y="0"/>
                  </a:lnTo>
                  <a:lnTo>
                    <a:pt x="5398389" y="4771771"/>
                  </a:lnTo>
                  <a:lnTo>
                    <a:pt x="0" y="4771771"/>
                  </a:lnTo>
                  <a:close/>
                </a:path>
              </a:pathLst>
            </a:custGeom>
            <a:solidFill>
              <a:srgbClr val="FFFFFF"/>
            </a:solidFill>
            <a:ln w="22858" cap="sq">
              <a:solidFill>
                <a:srgbClr val="D1DEED"/>
              </a:solidFill>
              <a:prstDash val="solid"/>
              <a:miter/>
            </a:ln>
          </p:spPr>
        </p:sp>
      </p:grpSp>
      <p:sp>
        <p:nvSpPr>
          <p:cNvPr name="TextBox 19" id="19"/>
          <p:cNvSpPr txBox="true"/>
          <p:nvPr/>
        </p:nvSpPr>
        <p:spPr>
          <a:xfrm rot="0">
            <a:off x="14185897" y="3752850"/>
            <a:ext cx="3619500"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1.159.758</a:t>
            </a:r>
          </a:p>
        </p:txBody>
      </p:sp>
      <p:sp>
        <p:nvSpPr>
          <p:cNvPr name="TextBox 20" id="20"/>
          <p:cNvSpPr txBox="true"/>
          <p:nvPr/>
        </p:nvSpPr>
        <p:spPr>
          <a:xfrm rot="0">
            <a:off x="14211300" y="5079997"/>
            <a:ext cx="3555997" cy="463692"/>
          </a:xfrm>
          <a:prstGeom prst="rect">
            <a:avLst/>
          </a:prstGeom>
        </p:spPr>
        <p:txBody>
          <a:bodyPr anchor="t" rtlCol="false" tIns="0" lIns="0" bIns="0" rIns="0">
            <a:spAutoFit/>
          </a:bodyPr>
          <a:lstStyle/>
          <a:p>
            <a:pPr algn="ctr">
              <a:lnSpc>
                <a:spcPts val="3743"/>
              </a:lnSpc>
            </a:pPr>
            <a:r>
              <a:rPr lang="en-US" sz="2599" b="true">
                <a:solidFill>
                  <a:srgbClr val="1B293E"/>
                </a:solidFill>
                <a:latin typeface="Times New Roman Bold"/>
                <a:ea typeface="Times New Roman Bold"/>
                <a:cs typeface="Times New Roman Bold"/>
                <a:sym typeface="Times New Roman Bold"/>
              </a:rPr>
              <a:t>Giờ Raw bằng 0</a:t>
            </a:r>
          </a:p>
        </p:txBody>
      </p:sp>
      <p:sp>
        <p:nvSpPr>
          <p:cNvPr name="Freeform 21" id="21"/>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2" id="22"/>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23" id="23"/>
          <p:cNvGrpSpPr/>
          <p:nvPr/>
        </p:nvGrpSpPr>
        <p:grpSpPr>
          <a:xfrm rot="0">
            <a:off x="978979" y="7343204"/>
            <a:ext cx="16339185" cy="1663065"/>
            <a:chOff x="0" y="0"/>
            <a:chExt cx="21785580" cy="2217420"/>
          </a:xfrm>
        </p:grpSpPr>
        <p:sp>
          <p:nvSpPr>
            <p:cNvPr name="Freeform 24" id="24"/>
            <p:cNvSpPr/>
            <p:nvPr/>
          </p:nvSpPr>
          <p:spPr>
            <a:xfrm flipH="false" flipV="false" rot="0">
              <a:off x="0" y="0"/>
              <a:ext cx="21785580" cy="2217420"/>
            </a:xfrm>
            <a:custGeom>
              <a:avLst/>
              <a:gdLst/>
              <a:ahLst/>
              <a:cxnLst/>
              <a:rect r="r" b="b" t="t" l="l"/>
              <a:pathLst>
                <a:path h="2217420" w="21785580">
                  <a:moveTo>
                    <a:pt x="0" y="177419"/>
                  </a:moveTo>
                  <a:cubicBezTo>
                    <a:pt x="0" y="79375"/>
                    <a:pt x="79375" y="0"/>
                    <a:pt x="177419" y="0"/>
                  </a:cubicBezTo>
                  <a:lnTo>
                    <a:pt x="21608162" y="0"/>
                  </a:lnTo>
                  <a:cubicBezTo>
                    <a:pt x="21706078" y="0"/>
                    <a:pt x="21785580" y="79375"/>
                    <a:pt x="21785580" y="177419"/>
                  </a:cubicBezTo>
                  <a:lnTo>
                    <a:pt x="21785580" y="2040001"/>
                  </a:lnTo>
                  <a:cubicBezTo>
                    <a:pt x="21785580" y="2137918"/>
                    <a:pt x="21706205" y="2217420"/>
                    <a:pt x="21608162" y="2217420"/>
                  </a:cubicBezTo>
                  <a:lnTo>
                    <a:pt x="177419" y="2217420"/>
                  </a:lnTo>
                  <a:cubicBezTo>
                    <a:pt x="79375" y="2217420"/>
                    <a:pt x="0" y="2138045"/>
                    <a:pt x="0" y="2040001"/>
                  </a:cubicBezTo>
                  <a:close/>
                </a:path>
              </a:pathLst>
            </a:custGeom>
            <a:solidFill>
              <a:srgbClr val="EFF5FC"/>
            </a:solidFill>
            <a:ln w="17145" cap="sq">
              <a:solidFill>
                <a:srgbClr val="D9E4F4"/>
              </a:solidFill>
              <a:prstDash val="solid"/>
              <a:miter/>
            </a:ln>
          </p:spPr>
        </p:sp>
      </p:grpSp>
      <p:sp>
        <p:nvSpPr>
          <p:cNvPr name="TextBox 25" id="25"/>
          <p:cNvSpPr txBox="true"/>
          <p:nvPr/>
        </p:nvSpPr>
        <p:spPr>
          <a:xfrm rot="0">
            <a:off x="1280160" y="7573518"/>
            <a:ext cx="15709392" cy="743316"/>
          </a:xfrm>
          <a:prstGeom prst="rect">
            <a:avLst/>
          </a:prstGeom>
        </p:spPr>
        <p:txBody>
          <a:bodyPr anchor="t" rtlCol="false" tIns="0" lIns="0" bIns="0" rIns="0">
            <a:spAutoFit/>
          </a:bodyPr>
          <a:lstStyle/>
          <a:p>
            <a:pPr algn="l">
              <a:lnSpc>
                <a:spcPts val="2931"/>
              </a:lnSpc>
            </a:pPr>
            <a:r>
              <a:rPr lang="en-US" sz="2070" b="true">
                <a:solidFill>
                  <a:srgbClr val="0E43A6"/>
                </a:solidFill>
                <a:latin typeface="Times New Roman Bold"/>
                <a:ea typeface="Times New Roman Bold"/>
                <a:cs typeface="Times New Roman Bold"/>
                <a:sym typeface="Times New Roman Bold"/>
              </a:rPr>
              <a:t>HƯỚNG XỬ LÝ: Cleaned thiếu → không dùng làm nhãn Train/Test; Raw thiếu → giữ NaN; điện bằng 0 → giữ để khảo sát, không mặc định là lỗi. Điểm IQR được đánh dấu, không xóa hàng loạt.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TIỀN XỬ LÝ: 6 BƯỚC</a:t>
            </a:r>
          </a:p>
        </p:txBody>
      </p:sp>
      <p:grpSp>
        <p:nvGrpSpPr>
          <p:cNvPr name="Group 4" id="4"/>
          <p:cNvGrpSpPr/>
          <p:nvPr/>
        </p:nvGrpSpPr>
        <p:grpSpPr>
          <a:xfrm rot="0">
            <a:off x="880748" y="3179445"/>
            <a:ext cx="5375910" cy="2404110"/>
            <a:chOff x="0" y="0"/>
            <a:chExt cx="7167880" cy="3205480"/>
          </a:xfrm>
        </p:grpSpPr>
        <p:sp>
          <p:nvSpPr>
            <p:cNvPr name="Freeform 5" id="5"/>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6" id="6"/>
          <p:cNvSpPr txBox="true"/>
          <p:nvPr/>
        </p:nvSpPr>
        <p:spPr>
          <a:xfrm rot="0">
            <a:off x="1117597" y="3254378"/>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01</a:t>
            </a:r>
          </a:p>
        </p:txBody>
      </p:sp>
      <p:sp>
        <p:nvSpPr>
          <p:cNvPr name="TextBox 7" id="7"/>
          <p:cNvSpPr txBox="true"/>
          <p:nvPr/>
        </p:nvSpPr>
        <p:spPr>
          <a:xfrm rot="0">
            <a:off x="2197103" y="3429000"/>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CHUẨN HÓA</a:t>
            </a:r>
          </a:p>
        </p:txBody>
      </p:sp>
      <p:sp>
        <p:nvSpPr>
          <p:cNvPr name="TextBox 8" id="8"/>
          <p:cNvSpPr txBox="true"/>
          <p:nvPr/>
        </p:nvSpPr>
        <p:spPr>
          <a:xfrm rot="0">
            <a:off x="2197103" y="4127497"/>
            <a:ext cx="3708397" cy="8443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timestamp về datetime; kiểm tra khóa</a:t>
            </a:r>
          </a:p>
        </p:txBody>
      </p:sp>
      <p:grpSp>
        <p:nvGrpSpPr>
          <p:cNvPr name="Group 9" id="9"/>
          <p:cNvGrpSpPr/>
          <p:nvPr/>
        </p:nvGrpSpPr>
        <p:grpSpPr>
          <a:xfrm rot="0">
            <a:off x="6659242" y="3179445"/>
            <a:ext cx="5375910" cy="2404110"/>
            <a:chOff x="0" y="0"/>
            <a:chExt cx="7167880" cy="3205480"/>
          </a:xfrm>
        </p:grpSpPr>
        <p:sp>
          <p:nvSpPr>
            <p:cNvPr name="Freeform 10" id="10"/>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11" id="11"/>
          <p:cNvSpPr txBox="true"/>
          <p:nvPr/>
        </p:nvSpPr>
        <p:spPr>
          <a:xfrm rot="0">
            <a:off x="6896100" y="3254378"/>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02</a:t>
            </a:r>
          </a:p>
        </p:txBody>
      </p:sp>
      <p:sp>
        <p:nvSpPr>
          <p:cNvPr name="TextBox 12" id="12"/>
          <p:cNvSpPr txBox="true"/>
          <p:nvPr/>
        </p:nvSpPr>
        <p:spPr>
          <a:xfrm rot="0">
            <a:off x="7975597" y="3429000"/>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LƯỚI GIỜ</a:t>
            </a:r>
          </a:p>
        </p:txBody>
      </p:sp>
      <p:sp>
        <p:nvSpPr>
          <p:cNvPr name="TextBox 13" id="13"/>
          <p:cNvSpPr txBox="true"/>
          <p:nvPr/>
        </p:nvSpPr>
        <p:spPr>
          <a:xfrm rot="0">
            <a:off x="7975597" y="4127497"/>
            <a:ext cx="3708397" cy="8443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Sắp xếp theo tòa và bổ sung mốc giờ</a:t>
            </a:r>
          </a:p>
        </p:txBody>
      </p:sp>
      <p:grpSp>
        <p:nvGrpSpPr>
          <p:cNvPr name="Group 14" id="14"/>
          <p:cNvGrpSpPr/>
          <p:nvPr/>
        </p:nvGrpSpPr>
        <p:grpSpPr>
          <a:xfrm rot="0">
            <a:off x="12437745" y="3179445"/>
            <a:ext cx="5375910" cy="2404110"/>
            <a:chOff x="0" y="0"/>
            <a:chExt cx="7167880" cy="3205480"/>
          </a:xfrm>
        </p:grpSpPr>
        <p:sp>
          <p:nvSpPr>
            <p:cNvPr name="Freeform 15" id="15"/>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16" id="16"/>
          <p:cNvSpPr txBox="true"/>
          <p:nvPr/>
        </p:nvSpPr>
        <p:spPr>
          <a:xfrm rot="0">
            <a:off x="12674603" y="3254378"/>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03</a:t>
            </a:r>
          </a:p>
        </p:txBody>
      </p:sp>
      <p:sp>
        <p:nvSpPr>
          <p:cNvPr name="TextBox 17" id="17"/>
          <p:cNvSpPr txBox="true"/>
          <p:nvPr/>
        </p:nvSpPr>
        <p:spPr>
          <a:xfrm rot="0">
            <a:off x="13754100" y="3429000"/>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KIỂM TRA THIẾU</a:t>
            </a:r>
          </a:p>
        </p:txBody>
      </p:sp>
      <p:sp>
        <p:nvSpPr>
          <p:cNvPr name="TextBox 18" id="18"/>
          <p:cNvSpPr txBox="true"/>
          <p:nvPr/>
        </p:nvSpPr>
        <p:spPr>
          <a:xfrm rot="0">
            <a:off x="13754100" y="4127497"/>
            <a:ext cx="3708397" cy="4252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Phân biệt NaN, số 0 và số âm</a:t>
            </a:r>
          </a:p>
        </p:txBody>
      </p:sp>
      <p:grpSp>
        <p:nvGrpSpPr>
          <p:cNvPr name="Group 19" id="19"/>
          <p:cNvGrpSpPr/>
          <p:nvPr/>
        </p:nvGrpSpPr>
        <p:grpSpPr>
          <a:xfrm rot="0">
            <a:off x="880748" y="5973442"/>
            <a:ext cx="5375910" cy="2404110"/>
            <a:chOff x="0" y="0"/>
            <a:chExt cx="7167880" cy="3205480"/>
          </a:xfrm>
        </p:grpSpPr>
        <p:sp>
          <p:nvSpPr>
            <p:cNvPr name="Freeform 20" id="20"/>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21" id="21"/>
          <p:cNvSpPr txBox="true"/>
          <p:nvPr/>
        </p:nvSpPr>
        <p:spPr>
          <a:xfrm rot="0">
            <a:off x="1117597" y="6048375"/>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04</a:t>
            </a:r>
          </a:p>
        </p:txBody>
      </p:sp>
      <p:sp>
        <p:nvSpPr>
          <p:cNvPr name="TextBox 22" id="22"/>
          <p:cNvSpPr txBox="true"/>
          <p:nvPr/>
        </p:nvSpPr>
        <p:spPr>
          <a:xfrm rot="0">
            <a:off x="2197103" y="6222997"/>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ĐÁNH DẤU IQR</a:t>
            </a:r>
          </a:p>
        </p:txBody>
      </p:sp>
      <p:sp>
        <p:nvSpPr>
          <p:cNvPr name="TextBox 23" id="23"/>
          <p:cNvSpPr txBox="true"/>
          <p:nvPr/>
        </p:nvSpPr>
        <p:spPr>
          <a:xfrm rot="0">
            <a:off x="2197103" y="6921503"/>
            <a:ext cx="3708397" cy="8443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629.420 điểm vượt IQR; không xóa</a:t>
            </a:r>
          </a:p>
        </p:txBody>
      </p:sp>
      <p:grpSp>
        <p:nvGrpSpPr>
          <p:cNvPr name="Group 24" id="24"/>
          <p:cNvGrpSpPr/>
          <p:nvPr/>
        </p:nvGrpSpPr>
        <p:grpSpPr>
          <a:xfrm rot="0">
            <a:off x="6659242" y="5973442"/>
            <a:ext cx="5375910" cy="2404110"/>
            <a:chOff x="0" y="0"/>
            <a:chExt cx="7167880" cy="3205480"/>
          </a:xfrm>
        </p:grpSpPr>
        <p:sp>
          <p:nvSpPr>
            <p:cNvPr name="Freeform 25" id="25"/>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26" id="26"/>
          <p:cNvSpPr txBox="true"/>
          <p:nvPr/>
        </p:nvSpPr>
        <p:spPr>
          <a:xfrm rot="0">
            <a:off x="6896100" y="6048375"/>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05</a:t>
            </a:r>
          </a:p>
        </p:txBody>
      </p:sp>
      <p:sp>
        <p:nvSpPr>
          <p:cNvPr name="TextBox 27" id="27"/>
          <p:cNvSpPr txBox="true"/>
          <p:nvPr/>
        </p:nvSpPr>
        <p:spPr>
          <a:xfrm rot="0">
            <a:off x="7975597" y="6222997"/>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TÍCH HỢP</a:t>
            </a:r>
          </a:p>
        </p:txBody>
      </p:sp>
      <p:sp>
        <p:nvSpPr>
          <p:cNvPr name="TextBox 28" id="28"/>
          <p:cNvSpPr txBox="true"/>
          <p:nvPr/>
        </p:nvSpPr>
        <p:spPr>
          <a:xfrm rot="0">
            <a:off x="7975597" y="6921503"/>
            <a:ext cx="3708397" cy="8443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Ghép raw, cleaned, metadata, weather</a:t>
            </a:r>
          </a:p>
        </p:txBody>
      </p:sp>
      <p:grpSp>
        <p:nvGrpSpPr>
          <p:cNvPr name="Group 29" id="29"/>
          <p:cNvGrpSpPr/>
          <p:nvPr/>
        </p:nvGrpSpPr>
        <p:grpSpPr>
          <a:xfrm rot="0">
            <a:off x="12437745" y="5973442"/>
            <a:ext cx="5375910" cy="2404110"/>
            <a:chOff x="0" y="0"/>
            <a:chExt cx="7167880" cy="3205480"/>
          </a:xfrm>
        </p:grpSpPr>
        <p:sp>
          <p:nvSpPr>
            <p:cNvPr name="Freeform 30" id="30"/>
            <p:cNvSpPr/>
            <p:nvPr/>
          </p:nvSpPr>
          <p:spPr>
            <a:xfrm flipH="false" flipV="false" rot="0">
              <a:off x="0" y="0"/>
              <a:ext cx="7167880" cy="3205480"/>
            </a:xfrm>
            <a:custGeom>
              <a:avLst/>
              <a:gdLst/>
              <a:ahLst/>
              <a:cxnLst/>
              <a:rect r="r" b="b" t="t" l="l"/>
              <a:pathLst>
                <a:path h="3205480" w="7167880">
                  <a:moveTo>
                    <a:pt x="0" y="0"/>
                  </a:moveTo>
                  <a:lnTo>
                    <a:pt x="7167880" y="0"/>
                  </a:lnTo>
                  <a:lnTo>
                    <a:pt x="7167880" y="3205480"/>
                  </a:lnTo>
                  <a:lnTo>
                    <a:pt x="0" y="3205480"/>
                  </a:lnTo>
                  <a:close/>
                </a:path>
              </a:pathLst>
            </a:custGeom>
            <a:solidFill>
              <a:srgbClr val="FFFFFF"/>
            </a:solidFill>
            <a:ln w="16509" cap="sq">
              <a:solidFill>
                <a:srgbClr val="D1DEED"/>
              </a:solidFill>
              <a:prstDash val="solid"/>
              <a:miter/>
            </a:ln>
          </p:spPr>
        </p:sp>
      </p:grpSp>
      <p:sp>
        <p:nvSpPr>
          <p:cNvPr name="TextBox 31" id="31"/>
          <p:cNvSpPr txBox="true"/>
          <p:nvPr/>
        </p:nvSpPr>
        <p:spPr>
          <a:xfrm rot="0">
            <a:off x="12674603" y="6048375"/>
            <a:ext cx="927097" cy="765551"/>
          </a:xfrm>
          <a:prstGeom prst="rect">
            <a:avLst/>
          </a:prstGeom>
        </p:spPr>
        <p:txBody>
          <a:bodyPr anchor="t" rtlCol="false" tIns="0" lIns="0" bIns="0" rIns="0">
            <a:spAutoFit/>
          </a:bodyPr>
          <a:lstStyle/>
          <a:p>
            <a:pPr algn="l">
              <a:lnSpc>
                <a:spcPts val="6132"/>
              </a:lnSpc>
            </a:pPr>
            <a:r>
              <a:rPr lang="en-US" sz="4258" b="true">
                <a:solidFill>
                  <a:srgbClr val="0643A6"/>
                </a:solidFill>
                <a:latin typeface="Times New Roman Bold"/>
                <a:ea typeface="Times New Roman Bold"/>
                <a:cs typeface="Times New Roman Bold"/>
                <a:sym typeface="Times New Roman Bold"/>
              </a:rPr>
              <a:t>06</a:t>
            </a:r>
          </a:p>
        </p:txBody>
      </p:sp>
      <p:sp>
        <p:nvSpPr>
          <p:cNvPr name="TextBox 32" id="32"/>
          <p:cNvSpPr txBox="true"/>
          <p:nvPr/>
        </p:nvSpPr>
        <p:spPr>
          <a:xfrm rot="0">
            <a:off x="13754100" y="6222997"/>
            <a:ext cx="3848100" cy="479725"/>
          </a:xfrm>
          <a:prstGeom prst="rect">
            <a:avLst/>
          </a:prstGeom>
        </p:spPr>
        <p:txBody>
          <a:bodyPr anchor="t" rtlCol="false" tIns="0" lIns="0" bIns="0" rIns="0">
            <a:spAutoFit/>
          </a:bodyPr>
          <a:lstStyle/>
          <a:p>
            <a:pPr algn="l">
              <a:lnSpc>
                <a:spcPts val="3885"/>
              </a:lnSpc>
            </a:pPr>
            <a:r>
              <a:rPr lang="en-US" sz="2698" b="true">
                <a:solidFill>
                  <a:srgbClr val="1B293E"/>
                </a:solidFill>
                <a:latin typeface="Times New Roman Bold"/>
                <a:ea typeface="Times New Roman Bold"/>
                <a:cs typeface="Times New Roman Bold"/>
                <a:sym typeface="Times New Roman Bold"/>
              </a:rPr>
              <a:t>LỌC TÒA</a:t>
            </a:r>
          </a:p>
        </p:txBody>
      </p:sp>
      <p:sp>
        <p:nvSpPr>
          <p:cNvPr name="TextBox 33" id="33"/>
          <p:cNvSpPr txBox="true"/>
          <p:nvPr/>
        </p:nvSpPr>
        <p:spPr>
          <a:xfrm rot="0">
            <a:off x="13754100" y="6921503"/>
            <a:ext cx="3708397" cy="844311"/>
          </a:xfrm>
          <a:prstGeom prst="rect">
            <a:avLst/>
          </a:prstGeom>
        </p:spPr>
        <p:txBody>
          <a:bodyPr anchor="t" rtlCol="false" tIns="0" lIns="0" bIns="0" rIns="0">
            <a:spAutoFit/>
          </a:bodyPr>
          <a:lstStyle/>
          <a:p>
            <a:pPr algn="l">
              <a:lnSpc>
                <a:spcPts val="3311"/>
              </a:lnSpc>
            </a:pPr>
            <a:r>
              <a:rPr lang="en-US" sz="2299">
                <a:solidFill>
                  <a:srgbClr val="53637A"/>
                </a:solidFill>
                <a:latin typeface="Times New Roman"/>
                <a:ea typeface="Times New Roman"/>
                <a:cs typeface="Times New Roman"/>
                <a:sym typeface="Times New Roman"/>
              </a:rPr>
              <a:t>Train ≥1.000; Val/Test ≥300 mỗi kỳ</a:t>
            </a:r>
          </a:p>
        </p:txBody>
      </p:sp>
      <p:sp>
        <p:nvSpPr>
          <p:cNvPr name="Freeform 34" id="34"/>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5" id="3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PHÂN BỐ TIÊU THỤ ĐIỆN RAW</a:t>
            </a:r>
          </a:p>
        </p:txBody>
      </p:sp>
      <p:grpSp>
        <p:nvGrpSpPr>
          <p:cNvPr name="Group 4" id="4"/>
          <p:cNvGrpSpPr/>
          <p:nvPr/>
        </p:nvGrpSpPr>
        <p:grpSpPr>
          <a:xfrm rot="0">
            <a:off x="1146172" y="3089272"/>
            <a:ext cx="10763250" cy="5797544"/>
            <a:chOff x="0" y="0"/>
            <a:chExt cx="14351000" cy="7730058"/>
          </a:xfrm>
        </p:grpSpPr>
        <p:sp>
          <p:nvSpPr>
            <p:cNvPr name="Freeform 5" id="5"/>
            <p:cNvSpPr/>
            <p:nvPr/>
          </p:nvSpPr>
          <p:spPr>
            <a:xfrm flipH="false" flipV="false" rot="0">
              <a:off x="0" y="0"/>
              <a:ext cx="14351000" cy="7730109"/>
            </a:xfrm>
            <a:custGeom>
              <a:avLst/>
              <a:gdLst/>
              <a:ahLst/>
              <a:cxnLst/>
              <a:rect r="r" b="b" t="t" l="l"/>
              <a:pathLst>
                <a:path h="7730109" w="14351000">
                  <a:moveTo>
                    <a:pt x="0" y="0"/>
                  </a:moveTo>
                  <a:lnTo>
                    <a:pt x="14351000" y="0"/>
                  </a:lnTo>
                  <a:lnTo>
                    <a:pt x="14351000" y="7730109"/>
                  </a:lnTo>
                  <a:lnTo>
                    <a:pt x="0" y="7730109"/>
                  </a:lnTo>
                  <a:close/>
                </a:path>
              </a:pathLst>
            </a:custGeom>
            <a:solidFill>
              <a:srgbClr val="FFFFFF"/>
            </a:solidFill>
            <a:ln w="19048" cap="sq">
              <a:solidFill>
                <a:srgbClr val="D1DEED"/>
              </a:solidFill>
              <a:prstDash val="solid"/>
              <a:miter/>
            </a:ln>
          </p:spPr>
        </p:sp>
      </p:grpSp>
      <p:grpSp>
        <p:nvGrpSpPr>
          <p:cNvPr name="Group 6" id="6"/>
          <p:cNvGrpSpPr/>
          <p:nvPr/>
        </p:nvGrpSpPr>
        <p:grpSpPr>
          <a:xfrm rot="0">
            <a:off x="1333500" y="3416303"/>
            <a:ext cx="10388603" cy="4978403"/>
            <a:chOff x="0" y="0"/>
            <a:chExt cx="13851471" cy="6637871"/>
          </a:xfrm>
        </p:grpSpPr>
        <p:sp>
          <p:nvSpPr>
            <p:cNvPr name="Freeform 7" id="7" descr="image.png"/>
            <p:cNvSpPr/>
            <p:nvPr/>
          </p:nvSpPr>
          <p:spPr>
            <a:xfrm flipH="false" flipV="false" rot="0">
              <a:off x="0" y="0"/>
              <a:ext cx="13851510" cy="6637909"/>
            </a:xfrm>
            <a:custGeom>
              <a:avLst/>
              <a:gdLst/>
              <a:ahLst/>
              <a:cxnLst/>
              <a:rect r="r" b="b" t="t" l="l"/>
              <a:pathLst>
                <a:path h="6637909" w="13851510">
                  <a:moveTo>
                    <a:pt x="0" y="0"/>
                  </a:moveTo>
                  <a:lnTo>
                    <a:pt x="13851510" y="0"/>
                  </a:lnTo>
                  <a:lnTo>
                    <a:pt x="13851510" y="6637909"/>
                  </a:lnTo>
                  <a:lnTo>
                    <a:pt x="0" y="6637909"/>
                  </a:lnTo>
                  <a:lnTo>
                    <a:pt x="0" y="0"/>
                  </a:lnTo>
                  <a:close/>
                </a:path>
              </a:pathLst>
            </a:custGeom>
            <a:blipFill>
              <a:blip r:embed="rId3"/>
              <a:stretch>
                <a:fillRect l="0" t="-16" r="0" b="-15"/>
              </a:stretch>
            </a:blipFill>
          </p:spPr>
        </p:sp>
      </p:grpSp>
      <p:grpSp>
        <p:nvGrpSpPr>
          <p:cNvPr name="Group 8" id="8"/>
          <p:cNvGrpSpPr/>
          <p:nvPr/>
        </p:nvGrpSpPr>
        <p:grpSpPr>
          <a:xfrm rot="0">
            <a:off x="12220575" y="3089272"/>
            <a:ext cx="4845044" cy="5797544"/>
            <a:chOff x="0" y="0"/>
            <a:chExt cx="6460058" cy="7730058"/>
          </a:xfrm>
        </p:grpSpPr>
        <p:sp>
          <p:nvSpPr>
            <p:cNvPr name="Freeform 9" id="9"/>
            <p:cNvSpPr/>
            <p:nvPr/>
          </p:nvSpPr>
          <p:spPr>
            <a:xfrm flipH="false" flipV="false" rot="0">
              <a:off x="0" y="0"/>
              <a:ext cx="6460109" cy="7730109"/>
            </a:xfrm>
            <a:custGeom>
              <a:avLst/>
              <a:gdLst/>
              <a:ahLst/>
              <a:cxnLst/>
              <a:rect r="r" b="b" t="t" l="l"/>
              <a:pathLst>
                <a:path h="7730109" w="6460109">
                  <a:moveTo>
                    <a:pt x="0" y="0"/>
                  </a:moveTo>
                  <a:lnTo>
                    <a:pt x="6460109" y="0"/>
                  </a:lnTo>
                  <a:lnTo>
                    <a:pt x="6460109" y="7730109"/>
                  </a:lnTo>
                  <a:lnTo>
                    <a:pt x="0" y="7730109"/>
                  </a:lnTo>
                  <a:close/>
                </a:path>
              </a:pathLst>
            </a:custGeom>
            <a:solidFill>
              <a:srgbClr val="FFFFFF"/>
            </a:solidFill>
            <a:ln w="19048" cap="sq">
              <a:solidFill>
                <a:srgbClr val="D1DEED"/>
              </a:solidFill>
              <a:prstDash val="solid"/>
              <a:miter/>
            </a:ln>
          </p:spPr>
        </p:sp>
      </p:grpSp>
      <p:sp>
        <p:nvSpPr>
          <p:cNvPr name="TextBox 10" id="10"/>
          <p:cNvSpPr txBox="true"/>
          <p:nvPr/>
        </p:nvSpPr>
        <p:spPr>
          <a:xfrm rot="0">
            <a:off x="12585697" y="3562350"/>
            <a:ext cx="4076700" cy="358155"/>
          </a:xfrm>
          <a:prstGeom prst="rect">
            <a:avLst/>
          </a:prstGeom>
        </p:spPr>
        <p:txBody>
          <a:bodyPr anchor="t" rtlCol="false" tIns="0" lIns="0" bIns="0" rIns="0">
            <a:spAutoFit/>
          </a:bodyPr>
          <a:lstStyle/>
          <a:p>
            <a:pPr algn="l">
              <a:lnSpc>
                <a:spcPts val="2879"/>
              </a:lnSpc>
            </a:pPr>
            <a:r>
              <a:rPr lang="en-US" sz="1999" b="true">
                <a:solidFill>
                  <a:srgbClr val="53637A"/>
                </a:solidFill>
                <a:latin typeface="Times New Roman Bold"/>
                <a:ea typeface="Times New Roman Bold"/>
                <a:cs typeface="Times New Roman Bold"/>
                <a:sym typeface="Times New Roman Bold"/>
              </a:rPr>
              <a:t>TRUNG BÌNH</a:t>
            </a:r>
          </a:p>
        </p:txBody>
      </p:sp>
      <p:sp>
        <p:nvSpPr>
          <p:cNvPr name="TextBox 11" id="11"/>
          <p:cNvSpPr txBox="true"/>
          <p:nvPr/>
        </p:nvSpPr>
        <p:spPr>
          <a:xfrm rot="0">
            <a:off x="12585697" y="4022722"/>
            <a:ext cx="4076700" cy="588279"/>
          </a:xfrm>
          <a:prstGeom prst="rect">
            <a:avLst/>
          </a:prstGeom>
        </p:spPr>
        <p:txBody>
          <a:bodyPr anchor="t" rtlCol="false" tIns="0" lIns="0" bIns="0" rIns="0">
            <a:spAutoFit/>
          </a:bodyPr>
          <a:lstStyle/>
          <a:p>
            <a:pPr algn="l">
              <a:lnSpc>
                <a:spcPts val="4607"/>
              </a:lnSpc>
            </a:pPr>
            <a:r>
              <a:rPr lang="en-US" sz="3199" b="true">
                <a:solidFill>
                  <a:srgbClr val="0643A6"/>
                </a:solidFill>
                <a:latin typeface="Times New Roman Bold"/>
                <a:ea typeface="Times New Roman Bold"/>
                <a:cs typeface="Times New Roman Bold"/>
                <a:sym typeface="Times New Roman Bold"/>
              </a:rPr>
              <a:t>138,542 kWh</a:t>
            </a:r>
          </a:p>
        </p:txBody>
      </p:sp>
      <p:sp>
        <p:nvSpPr>
          <p:cNvPr name="TextBox 12" id="12"/>
          <p:cNvSpPr txBox="true"/>
          <p:nvPr/>
        </p:nvSpPr>
        <p:spPr>
          <a:xfrm rot="0">
            <a:off x="12585697" y="5238750"/>
            <a:ext cx="4076700" cy="358155"/>
          </a:xfrm>
          <a:prstGeom prst="rect">
            <a:avLst/>
          </a:prstGeom>
        </p:spPr>
        <p:txBody>
          <a:bodyPr anchor="t" rtlCol="false" tIns="0" lIns="0" bIns="0" rIns="0">
            <a:spAutoFit/>
          </a:bodyPr>
          <a:lstStyle/>
          <a:p>
            <a:pPr algn="l">
              <a:lnSpc>
                <a:spcPts val="2879"/>
              </a:lnSpc>
            </a:pPr>
            <a:r>
              <a:rPr lang="en-US" sz="1999" b="true">
                <a:solidFill>
                  <a:srgbClr val="53637A"/>
                </a:solidFill>
                <a:latin typeface="Times New Roman Bold"/>
                <a:ea typeface="Times New Roman Bold"/>
                <a:cs typeface="Times New Roman Bold"/>
                <a:sym typeface="Times New Roman Bold"/>
              </a:rPr>
              <a:t>TRUNG VỊ</a:t>
            </a:r>
          </a:p>
        </p:txBody>
      </p:sp>
      <p:sp>
        <p:nvSpPr>
          <p:cNvPr name="TextBox 13" id="13"/>
          <p:cNvSpPr txBox="true"/>
          <p:nvPr/>
        </p:nvSpPr>
        <p:spPr>
          <a:xfrm rot="0">
            <a:off x="12585697" y="5699122"/>
            <a:ext cx="4076700" cy="588279"/>
          </a:xfrm>
          <a:prstGeom prst="rect">
            <a:avLst/>
          </a:prstGeom>
        </p:spPr>
        <p:txBody>
          <a:bodyPr anchor="t" rtlCol="false" tIns="0" lIns="0" bIns="0" rIns="0">
            <a:spAutoFit/>
          </a:bodyPr>
          <a:lstStyle/>
          <a:p>
            <a:pPr algn="l">
              <a:lnSpc>
                <a:spcPts val="4607"/>
              </a:lnSpc>
            </a:pPr>
            <a:r>
              <a:rPr lang="en-US" sz="3199" b="true">
                <a:solidFill>
                  <a:srgbClr val="0643A6"/>
                </a:solidFill>
                <a:latin typeface="Times New Roman Bold"/>
                <a:ea typeface="Times New Roman Bold"/>
                <a:cs typeface="Times New Roman Bold"/>
                <a:sym typeface="Times New Roman Bold"/>
              </a:rPr>
              <a:t>54,377 kWh</a:t>
            </a:r>
          </a:p>
        </p:txBody>
      </p:sp>
      <p:sp>
        <p:nvSpPr>
          <p:cNvPr name="TextBox 14" id="14"/>
          <p:cNvSpPr txBox="true"/>
          <p:nvPr/>
        </p:nvSpPr>
        <p:spPr>
          <a:xfrm rot="0">
            <a:off x="12585697" y="6915150"/>
            <a:ext cx="4076700" cy="358155"/>
          </a:xfrm>
          <a:prstGeom prst="rect">
            <a:avLst/>
          </a:prstGeom>
        </p:spPr>
        <p:txBody>
          <a:bodyPr anchor="t" rtlCol="false" tIns="0" lIns="0" bIns="0" rIns="0">
            <a:spAutoFit/>
          </a:bodyPr>
          <a:lstStyle/>
          <a:p>
            <a:pPr algn="l">
              <a:lnSpc>
                <a:spcPts val="2879"/>
              </a:lnSpc>
            </a:pPr>
            <a:r>
              <a:rPr lang="en-US" sz="1999" b="true">
                <a:solidFill>
                  <a:srgbClr val="53637A"/>
                </a:solidFill>
                <a:latin typeface="Times New Roman Bold"/>
                <a:ea typeface="Times New Roman Bold"/>
                <a:cs typeface="Times New Roman Bold"/>
                <a:sym typeface="Times New Roman Bold"/>
              </a:rPr>
              <a:t>LỚN NHẤT</a:t>
            </a:r>
          </a:p>
        </p:txBody>
      </p:sp>
      <p:sp>
        <p:nvSpPr>
          <p:cNvPr name="TextBox 15" id="15"/>
          <p:cNvSpPr txBox="true"/>
          <p:nvPr/>
        </p:nvSpPr>
        <p:spPr>
          <a:xfrm rot="0">
            <a:off x="12585697" y="7375522"/>
            <a:ext cx="4076700" cy="588279"/>
          </a:xfrm>
          <a:prstGeom prst="rect">
            <a:avLst/>
          </a:prstGeom>
        </p:spPr>
        <p:txBody>
          <a:bodyPr anchor="t" rtlCol="false" tIns="0" lIns="0" bIns="0" rIns="0">
            <a:spAutoFit/>
          </a:bodyPr>
          <a:lstStyle/>
          <a:p>
            <a:pPr algn="l">
              <a:lnSpc>
                <a:spcPts val="4607"/>
              </a:lnSpc>
            </a:pPr>
            <a:r>
              <a:rPr lang="en-US" sz="3199" b="true">
                <a:solidFill>
                  <a:srgbClr val="0643A6"/>
                </a:solidFill>
                <a:latin typeface="Times New Roman Bold"/>
                <a:ea typeface="Times New Roman Bold"/>
                <a:cs typeface="Times New Roman Bold"/>
                <a:sym typeface="Times New Roman Bold"/>
              </a:rPr>
              <a:t>221.228 kWh</a:t>
            </a:r>
          </a:p>
        </p:txBody>
      </p:sp>
      <p:sp>
        <p:nvSpPr>
          <p:cNvPr name="Freeform 16" id="16"/>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PHÂN TÍCH BIẾN ĐỘNG THEO THỜI GIAN</a:t>
            </a:r>
          </a:p>
        </p:txBody>
      </p:sp>
      <p:grpSp>
        <p:nvGrpSpPr>
          <p:cNvPr name="Group 4" id="4"/>
          <p:cNvGrpSpPr/>
          <p:nvPr/>
        </p:nvGrpSpPr>
        <p:grpSpPr>
          <a:xfrm rot="0">
            <a:off x="1009650" y="3028950"/>
            <a:ext cx="8026394" cy="5841997"/>
            <a:chOff x="0" y="0"/>
            <a:chExt cx="10701858" cy="7789329"/>
          </a:xfrm>
        </p:grpSpPr>
        <p:sp>
          <p:nvSpPr>
            <p:cNvPr name="Freeform 5" id="5"/>
            <p:cNvSpPr/>
            <p:nvPr/>
          </p:nvSpPr>
          <p:spPr>
            <a:xfrm flipH="false" flipV="false" rot="0">
              <a:off x="0" y="0"/>
              <a:ext cx="10701909" cy="7789291"/>
            </a:xfrm>
            <a:custGeom>
              <a:avLst/>
              <a:gdLst/>
              <a:ahLst/>
              <a:cxnLst/>
              <a:rect r="r" b="b" t="t" l="l"/>
              <a:pathLst>
                <a:path h="7789291" w="10701909">
                  <a:moveTo>
                    <a:pt x="0" y="0"/>
                  </a:moveTo>
                  <a:lnTo>
                    <a:pt x="10701909" y="0"/>
                  </a:lnTo>
                  <a:lnTo>
                    <a:pt x="10701909" y="7789291"/>
                  </a:lnTo>
                  <a:lnTo>
                    <a:pt x="0" y="7789291"/>
                  </a:lnTo>
                  <a:close/>
                </a:path>
              </a:pathLst>
            </a:custGeom>
            <a:solidFill>
              <a:srgbClr val="FFFFFF"/>
            </a:solidFill>
            <a:ln w="12699" cap="sq">
              <a:solidFill>
                <a:srgbClr val="D1DEED"/>
              </a:solidFill>
              <a:prstDash val="solid"/>
              <a:miter/>
            </a:ln>
          </p:spPr>
        </p:sp>
      </p:grpSp>
      <p:grpSp>
        <p:nvGrpSpPr>
          <p:cNvPr name="Group 6" id="6"/>
          <p:cNvGrpSpPr/>
          <p:nvPr/>
        </p:nvGrpSpPr>
        <p:grpSpPr>
          <a:xfrm rot="0">
            <a:off x="9277350" y="3028950"/>
            <a:ext cx="7988294" cy="5841997"/>
            <a:chOff x="0" y="0"/>
            <a:chExt cx="10651058" cy="7789329"/>
          </a:xfrm>
        </p:grpSpPr>
        <p:sp>
          <p:nvSpPr>
            <p:cNvPr name="Freeform 7" id="7"/>
            <p:cNvSpPr/>
            <p:nvPr/>
          </p:nvSpPr>
          <p:spPr>
            <a:xfrm flipH="false" flipV="false" rot="0">
              <a:off x="0" y="0"/>
              <a:ext cx="10651109" cy="7789291"/>
            </a:xfrm>
            <a:custGeom>
              <a:avLst/>
              <a:gdLst/>
              <a:ahLst/>
              <a:cxnLst/>
              <a:rect r="r" b="b" t="t" l="l"/>
              <a:pathLst>
                <a:path h="7789291" w="10651109">
                  <a:moveTo>
                    <a:pt x="0" y="0"/>
                  </a:moveTo>
                  <a:lnTo>
                    <a:pt x="10651109" y="0"/>
                  </a:lnTo>
                  <a:lnTo>
                    <a:pt x="10651109" y="7789291"/>
                  </a:lnTo>
                  <a:lnTo>
                    <a:pt x="0" y="7789291"/>
                  </a:lnTo>
                  <a:close/>
                </a:path>
              </a:pathLst>
            </a:custGeom>
            <a:solidFill>
              <a:srgbClr val="FFFFFF"/>
            </a:solidFill>
            <a:ln w="12699" cap="sq">
              <a:solidFill>
                <a:srgbClr val="D1DEED"/>
              </a:solidFill>
              <a:prstDash val="solid"/>
              <a:miter/>
            </a:ln>
          </p:spPr>
        </p:sp>
      </p:grpSp>
      <p:grpSp>
        <p:nvGrpSpPr>
          <p:cNvPr name="Group 8" id="8"/>
          <p:cNvGrpSpPr/>
          <p:nvPr/>
        </p:nvGrpSpPr>
        <p:grpSpPr>
          <a:xfrm rot="0">
            <a:off x="1193797" y="4076700"/>
            <a:ext cx="7721603" cy="4013197"/>
            <a:chOff x="0" y="0"/>
            <a:chExt cx="10295471" cy="5350929"/>
          </a:xfrm>
        </p:grpSpPr>
        <p:sp>
          <p:nvSpPr>
            <p:cNvPr name="Freeform 9" id="9" descr="image.png"/>
            <p:cNvSpPr/>
            <p:nvPr/>
          </p:nvSpPr>
          <p:spPr>
            <a:xfrm flipH="false" flipV="false" rot="0">
              <a:off x="0" y="0"/>
              <a:ext cx="10295509" cy="5350891"/>
            </a:xfrm>
            <a:custGeom>
              <a:avLst/>
              <a:gdLst/>
              <a:ahLst/>
              <a:cxnLst/>
              <a:rect r="r" b="b" t="t" l="l"/>
              <a:pathLst>
                <a:path h="5350891" w="10295509">
                  <a:moveTo>
                    <a:pt x="0" y="0"/>
                  </a:moveTo>
                  <a:lnTo>
                    <a:pt x="10295509" y="0"/>
                  </a:lnTo>
                  <a:lnTo>
                    <a:pt x="10295509" y="5350891"/>
                  </a:lnTo>
                  <a:lnTo>
                    <a:pt x="0" y="5350891"/>
                  </a:lnTo>
                  <a:lnTo>
                    <a:pt x="0" y="0"/>
                  </a:lnTo>
                  <a:close/>
                </a:path>
              </a:pathLst>
            </a:custGeom>
            <a:blipFill>
              <a:blip r:embed="rId3"/>
              <a:stretch>
                <a:fillRect l="0" t="-25" r="0" b="-26"/>
              </a:stretch>
            </a:blipFill>
          </p:spPr>
        </p:sp>
      </p:grpSp>
      <p:grpSp>
        <p:nvGrpSpPr>
          <p:cNvPr name="Group 10" id="10"/>
          <p:cNvGrpSpPr/>
          <p:nvPr/>
        </p:nvGrpSpPr>
        <p:grpSpPr>
          <a:xfrm rot="0">
            <a:off x="9461497" y="4000500"/>
            <a:ext cx="7708897" cy="4064003"/>
            <a:chOff x="0" y="0"/>
            <a:chExt cx="10278529" cy="5418671"/>
          </a:xfrm>
        </p:grpSpPr>
        <p:sp>
          <p:nvSpPr>
            <p:cNvPr name="Freeform 11" id="11"/>
            <p:cNvSpPr/>
            <p:nvPr/>
          </p:nvSpPr>
          <p:spPr>
            <a:xfrm flipH="false" flipV="false" rot="0">
              <a:off x="0" y="0"/>
              <a:ext cx="10278491" cy="5418709"/>
            </a:xfrm>
            <a:custGeom>
              <a:avLst/>
              <a:gdLst/>
              <a:ahLst/>
              <a:cxnLst/>
              <a:rect r="r" b="b" t="t" l="l"/>
              <a:pathLst>
                <a:path h="5418709" w="10278491">
                  <a:moveTo>
                    <a:pt x="0" y="0"/>
                  </a:moveTo>
                  <a:lnTo>
                    <a:pt x="10278491" y="0"/>
                  </a:lnTo>
                  <a:lnTo>
                    <a:pt x="10278491" y="5418709"/>
                  </a:lnTo>
                  <a:lnTo>
                    <a:pt x="0" y="5418709"/>
                  </a:lnTo>
                  <a:lnTo>
                    <a:pt x="0" y="0"/>
                  </a:lnTo>
                  <a:close/>
                </a:path>
              </a:pathLst>
            </a:custGeom>
            <a:blipFill>
              <a:blip r:embed="rId4"/>
              <a:stretch>
                <a:fillRect l="-4261" t="0" r="-4261" b="0"/>
              </a:stretch>
            </a:blipFill>
          </p:spPr>
        </p:sp>
      </p:grpSp>
      <p:sp>
        <p:nvSpPr>
          <p:cNvPr name="Freeform 12" id="12"/>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3" id="13"/>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4" id="14"/>
          <p:cNvSpPr txBox="true"/>
          <p:nvPr/>
        </p:nvSpPr>
        <p:spPr>
          <a:xfrm rot="0">
            <a:off x="1016003" y="2044703"/>
            <a:ext cx="15875003" cy="479725"/>
          </a:xfrm>
          <a:prstGeom prst="rect">
            <a:avLst/>
          </a:prstGeom>
        </p:spPr>
        <p:txBody>
          <a:bodyPr anchor="t" rtlCol="false" tIns="0" lIns="0" bIns="0" rIns="0">
            <a:spAutoFit/>
          </a:bodyPr>
          <a:lstStyle/>
          <a:p>
            <a:pPr algn="l">
              <a:lnSpc>
                <a:spcPts val="3885"/>
              </a:lnSpc>
            </a:pPr>
            <a:r>
              <a:rPr lang="en-US" sz="2698">
                <a:solidFill>
                  <a:srgbClr val="53637A"/>
                </a:solidFill>
                <a:latin typeface="Times New Roman"/>
                <a:ea typeface="Times New Roman"/>
                <a:cs typeface="Times New Roman"/>
                <a:sym typeface="Times New Roman"/>
              </a:rPr>
              <a:t>EDA trên dữ liệu FULL 2016–2017 · biểu đồ theo giờ và thứ trong tuần</a:t>
            </a:r>
          </a:p>
        </p:txBody>
      </p:sp>
      <p:sp>
        <p:nvSpPr>
          <p:cNvPr name="TextBox 15" id="15"/>
          <p:cNvSpPr txBox="true"/>
          <p:nvPr/>
        </p:nvSpPr>
        <p:spPr>
          <a:xfrm rot="0">
            <a:off x="1333500" y="3140078"/>
            <a:ext cx="7365997" cy="521223"/>
          </a:xfrm>
          <a:prstGeom prst="rect">
            <a:avLst/>
          </a:prstGeom>
        </p:spPr>
        <p:txBody>
          <a:bodyPr anchor="t" rtlCol="false" tIns="0" lIns="0" bIns="0" rIns="0">
            <a:spAutoFit/>
          </a:bodyPr>
          <a:lstStyle/>
          <a:p>
            <a:pPr algn="ctr">
              <a:lnSpc>
                <a:spcPts val="4175"/>
              </a:lnSpc>
            </a:pPr>
            <a:r>
              <a:rPr lang="en-US" sz="2899" b="true">
                <a:solidFill>
                  <a:srgbClr val="0643A6"/>
                </a:solidFill>
                <a:latin typeface="Times New Roman Bold"/>
                <a:ea typeface="Times New Roman Bold"/>
                <a:cs typeface="Times New Roman Bold"/>
                <a:sym typeface="Times New Roman Bold"/>
              </a:rPr>
              <a:t>Điện trung bình theo giờ</a:t>
            </a:r>
          </a:p>
        </p:txBody>
      </p:sp>
      <p:sp>
        <p:nvSpPr>
          <p:cNvPr name="TextBox 16" id="16"/>
          <p:cNvSpPr txBox="true"/>
          <p:nvPr/>
        </p:nvSpPr>
        <p:spPr>
          <a:xfrm rot="0">
            <a:off x="9575797" y="3140078"/>
            <a:ext cx="7353300" cy="521223"/>
          </a:xfrm>
          <a:prstGeom prst="rect">
            <a:avLst/>
          </a:prstGeom>
        </p:spPr>
        <p:txBody>
          <a:bodyPr anchor="t" rtlCol="false" tIns="0" lIns="0" bIns="0" rIns="0">
            <a:spAutoFit/>
          </a:bodyPr>
          <a:lstStyle/>
          <a:p>
            <a:pPr algn="ctr">
              <a:lnSpc>
                <a:spcPts val="4175"/>
              </a:lnSpc>
            </a:pPr>
            <a:r>
              <a:rPr lang="en-US" sz="2899" b="true">
                <a:solidFill>
                  <a:srgbClr val="0643A6"/>
                </a:solidFill>
                <a:latin typeface="Times New Roman Bold"/>
                <a:ea typeface="Times New Roman Bold"/>
                <a:cs typeface="Times New Roman Bold"/>
                <a:sym typeface="Times New Roman Bold"/>
              </a:rPr>
              <a:t>Theo giờ và thứ trong tuần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10 ĐẶC TRƯNG ĐẦU VÀO</a:t>
            </a:r>
          </a:p>
        </p:txBody>
      </p:sp>
      <p:grpSp>
        <p:nvGrpSpPr>
          <p:cNvPr name="Group 4" id="4"/>
          <p:cNvGrpSpPr/>
          <p:nvPr/>
        </p:nvGrpSpPr>
        <p:grpSpPr>
          <a:xfrm rot="0">
            <a:off x="737873" y="3138173"/>
            <a:ext cx="4099560" cy="5356860"/>
            <a:chOff x="0" y="0"/>
            <a:chExt cx="5466080" cy="7142480"/>
          </a:xfrm>
        </p:grpSpPr>
        <p:sp>
          <p:nvSpPr>
            <p:cNvPr name="Freeform 5" id="5"/>
            <p:cNvSpPr/>
            <p:nvPr/>
          </p:nvSpPr>
          <p:spPr>
            <a:xfrm flipH="false" flipV="false" rot="0">
              <a:off x="0" y="0"/>
              <a:ext cx="5466080" cy="7142480"/>
            </a:xfrm>
            <a:custGeom>
              <a:avLst/>
              <a:gdLst/>
              <a:ahLst/>
              <a:cxnLst/>
              <a:rect r="r" b="b" t="t" l="l"/>
              <a:pathLst>
                <a:path h="7142480" w="5466080">
                  <a:moveTo>
                    <a:pt x="0" y="0"/>
                  </a:moveTo>
                  <a:lnTo>
                    <a:pt x="5466080" y="0"/>
                  </a:lnTo>
                  <a:lnTo>
                    <a:pt x="5466080" y="7142480"/>
                  </a:lnTo>
                  <a:lnTo>
                    <a:pt x="0" y="7142480"/>
                  </a:lnTo>
                  <a:close/>
                </a:path>
              </a:pathLst>
            </a:custGeom>
            <a:solidFill>
              <a:srgbClr val="FFFFFF"/>
            </a:solidFill>
            <a:ln w="22858" cap="sq">
              <a:solidFill>
                <a:srgbClr val="D1DEED"/>
              </a:solidFill>
              <a:prstDash val="solid"/>
              <a:miter/>
            </a:ln>
          </p:spPr>
        </p:sp>
      </p:grpSp>
      <p:sp>
        <p:nvSpPr>
          <p:cNvPr name="TextBox 6" id="6"/>
          <p:cNvSpPr txBox="true"/>
          <p:nvPr/>
        </p:nvSpPr>
        <p:spPr>
          <a:xfrm rot="0">
            <a:off x="990600" y="3349628"/>
            <a:ext cx="3606803" cy="438180"/>
          </a:xfrm>
          <a:prstGeom prst="rect">
            <a:avLst/>
          </a:prstGeom>
        </p:spPr>
        <p:txBody>
          <a:bodyPr anchor="t" rtlCol="false" tIns="0" lIns="0" bIns="0" rIns="0">
            <a:spAutoFit/>
          </a:bodyPr>
          <a:lstStyle/>
          <a:p>
            <a:pPr algn="ctr">
              <a:lnSpc>
                <a:spcPts val="3598"/>
              </a:lnSpc>
            </a:pPr>
            <a:r>
              <a:rPr lang="en-US" sz="2499" b="true">
                <a:solidFill>
                  <a:srgbClr val="0643A6"/>
                </a:solidFill>
                <a:latin typeface="Times New Roman Bold"/>
                <a:ea typeface="Times New Roman Bold"/>
                <a:cs typeface="Times New Roman Bold"/>
                <a:sym typeface="Times New Roman Bold"/>
              </a:rPr>
              <a:t>THỜI GIAN</a:t>
            </a:r>
          </a:p>
        </p:txBody>
      </p:sp>
      <p:sp>
        <p:nvSpPr>
          <p:cNvPr name="TextBox 7" id="7"/>
          <p:cNvSpPr txBox="true"/>
          <p:nvPr/>
        </p:nvSpPr>
        <p:spPr>
          <a:xfrm rot="0">
            <a:off x="990600" y="4064003"/>
            <a:ext cx="3606803" cy="425211"/>
          </a:xfrm>
          <a:prstGeom prst="rect">
            <a:avLst/>
          </a:prstGeom>
        </p:spPr>
        <p:txBody>
          <a:bodyPr anchor="t" rtlCol="false" tIns="0" lIns="0" bIns="0" rIns="0">
            <a:spAutoFit/>
          </a:bodyPr>
          <a:lstStyle/>
          <a:p>
            <a:pPr algn="ctr">
              <a:lnSpc>
                <a:spcPts val="3311"/>
              </a:lnSpc>
            </a:pPr>
            <a:r>
              <a:rPr lang="en-US" sz="2299" b="true">
                <a:solidFill>
                  <a:srgbClr val="53637A"/>
                </a:solidFill>
                <a:latin typeface="Times New Roman Bold"/>
                <a:ea typeface="Times New Roman Bold"/>
                <a:cs typeface="Times New Roman Bold"/>
                <a:sym typeface="Times New Roman Bold"/>
              </a:rPr>
              <a:t>4 biến</a:t>
            </a:r>
          </a:p>
        </p:txBody>
      </p:sp>
      <p:sp>
        <p:nvSpPr>
          <p:cNvPr name="AutoShape 8" id="8"/>
          <p:cNvSpPr/>
          <p:nvPr/>
        </p:nvSpPr>
        <p:spPr>
          <a:xfrm rot="24360">
            <a:off x="1003259" y="4872038"/>
            <a:ext cx="3581486" cy="0"/>
          </a:xfrm>
          <a:prstGeom prst="line">
            <a:avLst/>
          </a:prstGeom>
          <a:ln cap="rnd" w="9525">
            <a:solidFill>
              <a:srgbClr val="D1DEED"/>
            </a:solidFill>
            <a:prstDash val="solid"/>
            <a:headEnd type="none" len="sm" w="sm"/>
            <a:tailEnd type="none" len="sm" w="sm"/>
          </a:ln>
        </p:spPr>
      </p:sp>
      <p:sp>
        <p:nvSpPr>
          <p:cNvPr name="TextBox 9" id="9"/>
          <p:cNvSpPr txBox="true"/>
          <p:nvPr/>
        </p:nvSpPr>
        <p:spPr>
          <a:xfrm rot="0">
            <a:off x="1104900" y="5035553"/>
            <a:ext cx="3390900" cy="2248692"/>
          </a:xfrm>
          <a:prstGeom prst="rect">
            <a:avLst/>
          </a:prstGeom>
        </p:spPr>
        <p:txBody>
          <a:bodyPr anchor="t" rtlCol="false" tIns="0" lIns="0" bIns="0" rIns="0">
            <a:spAutoFit/>
          </a:bodyPr>
          <a:lstStyle/>
          <a:p>
            <a:pPr algn="ctr">
              <a:lnSpc>
                <a:spcPts val="4462"/>
              </a:lnSpc>
            </a:pPr>
            <a:r>
              <a:rPr lang="en-US" sz="3099">
                <a:solidFill>
                  <a:srgbClr val="1B293E"/>
                </a:solidFill>
                <a:latin typeface="Times New Roman"/>
                <a:ea typeface="Times New Roman"/>
                <a:cs typeface="Times New Roman"/>
                <a:sym typeface="Times New Roman"/>
              </a:rPr>
              <a:t>hour</a:t>
            </a:r>
          </a:p>
          <a:p>
            <a:pPr algn="ctr">
              <a:lnSpc>
                <a:spcPts val="4462"/>
              </a:lnSpc>
            </a:pPr>
            <a:r>
              <a:rPr lang="en-US" sz="3099">
                <a:solidFill>
                  <a:srgbClr val="1B293E"/>
                </a:solidFill>
                <a:latin typeface="Times New Roman"/>
                <a:ea typeface="Times New Roman"/>
                <a:cs typeface="Times New Roman"/>
                <a:sym typeface="Times New Roman"/>
              </a:rPr>
              <a:t>weekday</a:t>
            </a:r>
          </a:p>
          <a:p>
            <a:pPr algn="ctr">
              <a:lnSpc>
                <a:spcPts val="4462"/>
              </a:lnSpc>
            </a:pPr>
            <a:r>
              <a:rPr lang="en-US" sz="3099">
                <a:solidFill>
                  <a:srgbClr val="1B293E"/>
                </a:solidFill>
                <a:latin typeface="Times New Roman"/>
                <a:ea typeface="Times New Roman"/>
                <a:cs typeface="Times New Roman"/>
                <a:sym typeface="Times New Roman"/>
              </a:rPr>
              <a:t>month</a:t>
            </a:r>
          </a:p>
          <a:p>
            <a:pPr algn="ctr">
              <a:lnSpc>
                <a:spcPts val="4462"/>
              </a:lnSpc>
            </a:pPr>
            <a:r>
              <a:rPr lang="en-US" sz="3099">
                <a:solidFill>
                  <a:srgbClr val="1B293E"/>
                </a:solidFill>
                <a:latin typeface="Times New Roman"/>
                <a:ea typeface="Times New Roman"/>
                <a:cs typeface="Times New Roman"/>
                <a:sym typeface="Times New Roman"/>
              </a:rPr>
              <a:t>weekend</a:t>
            </a:r>
          </a:p>
        </p:txBody>
      </p:sp>
      <p:grpSp>
        <p:nvGrpSpPr>
          <p:cNvPr name="Group 10" id="10"/>
          <p:cNvGrpSpPr/>
          <p:nvPr/>
        </p:nvGrpSpPr>
        <p:grpSpPr>
          <a:xfrm rot="0">
            <a:off x="5144767" y="3138173"/>
            <a:ext cx="4099560" cy="5356860"/>
            <a:chOff x="0" y="0"/>
            <a:chExt cx="5466080" cy="7142480"/>
          </a:xfrm>
        </p:grpSpPr>
        <p:sp>
          <p:nvSpPr>
            <p:cNvPr name="Freeform 11" id="11"/>
            <p:cNvSpPr/>
            <p:nvPr/>
          </p:nvSpPr>
          <p:spPr>
            <a:xfrm flipH="false" flipV="false" rot="0">
              <a:off x="0" y="0"/>
              <a:ext cx="5466080" cy="7142480"/>
            </a:xfrm>
            <a:custGeom>
              <a:avLst/>
              <a:gdLst/>
              <a:ahLst/>
              <a:cxnLst/>
              <a:rect r="r" b="b" t="t" l="l"/>
              <a:pathLst>
                <a:path h="7142480" w="5466080">
                  <a:moveTo>
                    <a:pt x="0" y="0"/>
                  </a:moveTo>
                  <a:lnTo>
                    <a:pt x="5466080" y="0"/>
                  </a:lnTo>
                  <a:lnTo>
                    <a:pt x="5466080" y="7142480"/>
                  </a:lnTo>
                  <a:lnTo>
                    <a:pt x="0" y="7142480"/>
                  </a:lnTo>
                  <a:close/>
                </a:path>
              </a:pathLst>
            </a:custGeom>
            <a:solidFill>
              <a:srgbClr val="FFFFFF"/>
            </a:solidFill>
            <a:ln w="22858" cap="sq">
              <a:solidFill>
                <a:srgbClr val="D1DEED"/>
              </a:solidFill>
              <a:prstDash val="solid"/>
              <a:miter/>
            </a:ln>
          </p:spPr>
        </p:sp>
      </p:grpSp>
      <p:sp>
        <p:nvSpPr>
          <p:cNvPr name="TextBox 12" id="12"/>
          <p:cNvSpPr txBox="true"/>
          <p:nvPr/>
        </p:nvSpPr>
        <p:spPr>
          <a:xfrm rot="0">
            <a:off x="5397503" y="3349628"/>
            <a:ext cx="3606803" cy="438180"/>
          </a:xfrm>
          <a:prstGeom prst="rect">
            <a:avLst/>
          </a:prstGeom>
        </p:spPr>
        <p:txBody>
          <a:bodyPr anchor="t" rtlCol="false" tIns="0" lIns="0" bIns="0" rIns="0">
            <a:spAutoFit/>
          </a:bodyPr>
          <a:lstStyle/>
          <a:p>
            <a:pPr algn="ctr">
              <a:lnSpc>
                <a:spcPts val="3598"/>
              </a:lnSpc>
            </a:pPr>
            <a:r>
              <a:rPr lang="en-US" sz="2499" b="true">
                <a:solidFill>
                  <a:srgbClr val="0643A6"/>
                </a:solidFill>
                <a:latin typeface="Times New Roman Bold"/>
                <a:ea typeface="Times New Roman Bold"/>
                <a:cs typeface="Times New Roman Bold"/>
                <a:sym typeface="Times New Roman Bold"/>
              </a:rPr>
              <a:t>TÒA NHÀ</a:t>
            </a:r>
          </a:p>
        </p:txBody>
      </p:sp>
      <p:sp>
        <p:nvSpPr>
          <p:cNvPr name="TextBox 13" id="13"/>
          <p:cNvSpPr txBox="true"/>
          <p:nvPr/>
        </p:nvSpPr>
        <p:spPr>
          <a:xfrm rot="0">
            <a:off x="5397503" y="4064003"/>
            <a:ext cx="3606803" cy="425211"/>
          </a:xfrm>
          <a:prstGeom prst="rect">
            <a:avLst/>
          </a:prstGeom>
        </p:spPr>
        <p:txBody>
          <a:bodyPr anchor="t" rtlCol="false" tIns="0" lIns="0" bIns="0" rIns="0">
            <a:spAutoFit/>
          </a:bodyPr>
          <a:lstStyle/>
          <a:p>
            <a:pPr algn="ctr">
              <a:lnSpc>
                <a:spcPts val="3311"/>
              </a:lnSpc>
            </a:pPr>
            <a:r>
              <a:rPr lang="en-US" sz="2299" b="true">
                <a:solidFill>
                  <a:srgbClr val="53637A"/>
                </a:solidFill>
                <a:latin typeface="Times New Roman Bold"/>
                <a:ea typeface="Times New Roman Bold"/>
                <a:cs typeface="Times New Roman Bold"/>
                <a:sym typeface="Times New Roman Bold"/>
              </a:rPr>
              <a:t>2 biến</a:t>
            </a:r>
          </a:p>
        </p:txBody>
      </p:sp>
      <p:sp>
        <p:nvSpPr>
          <p:cNvPr name="AutoShape 14" id="14"/>
          <p:cNvSpPr/>
          <p:nvPr/>
        </p:nvSpPr>
        <p:spPr>
          <a:xfrm rot="24360">
            <a:off x="5410152" y="4872038"/>
            <a:ext cx="3581486" cy="0"/>
          </a:xfrm>
          <a:prstGeom prst="line">
            <a:avLst/>
          </a:prstGeom>
          <a:ln cap="rnd" w="9525">
            <a:solidFill>
              <a:srgbClr val="D1DEED"/>
            </a:solidFill>
            <a:prstDash val="solid"/>
            <a:headEnd type="none" len="sm" w="sm"/>
            <a:tailEnd type="none" len="sm" w="sm"/>
          </a:ln>
        </p:spPr>
      </p:sp>
      <p:sp>
        <p:nvSpPr>
          <p:cNvPr name="TextBox 15" id="15"/>
          <p:cNvSpPr txBox="true"/>
          <p:nvPr/>
        </p:nvSpPr>
        <p:spPr>
          <a:xfrm rot="0">
            <a:off x="5511803" y="5035553"/>
            <a:ext cx="3390900" cy="1124742"/>
          </a:xfrm>
          <a:prstGeom prst="rect">
            <a:avLst/>
          </a:prstGeom>
        </p:spPr>
        <p:txBody>
          <a:bodyPr anchor="t" rtlCol="false" tIns="0" lIns="0" bIns="0" rIns="0">
            <a:spAutoFit/>
          </a:bodyPr>
          <a:lstStyle/>
          <a:p>
            <a:pPr algn="ctr">
              <a:lnSpc>
                <a:spcPts val="4462"/>
              </a:lnSpc>
            </a:pPr>
            <a:r>
              <a:rPr lang="en-US" sz="3099">
                <a:solidFill>
                  <a:srgbClr val="1B293E"/>
                </a:solidFill>
                <a:latin typeface="Times New Roman"/>
                <a:ea typeface="Times New Roman"/>
                <a:cs typeface="Times New Roman"/>
                <a:sym typeface="Times New Roman"/>
              </a:rPr>
              <a:t>building_code</a:t>
            </a:r>
          </a:p>
          <a:p>
            <a:pPr algn="ctr">
              <a:lnSpc>
                <a:spcPts val="4462"/>
              </a:lnSpc>
            </a:pPr>
            <a:r>
              <a:rPr lang="en-US" sz="3099">
                <a:solidFill>
                  <a:srgbClr val="1B293E"/>
                </a:solidFill>
                <a:latin typeface="Times New Roman"/>
                <a:ea typeface="Times New Roman"/>
                <a:cs typeface="Times New Roman"/>
                <a:sym typeface="Times New Roman"/>
              </a:rPr>
              <a:t>usage_code</a:t>
            </a:r>
          </a:p>
        </p:txBody>
      </p:sp>
      <p:grpSp>
        <p:nvGrpSpPr>
          <p:cNvPr name="Group 16" id="16"/>
          <p:cNvGrpSpPr/>
          <p:nvPr/>
        </p:nvGrpSpPr>
        <p:grpSpPr>
          <a:xfrm rot="0">
            <a:off x="9551670" y="3138173"/>
            <a:ext cx="4099560" cy="5356860"/>
            <a:chOff x="0" y="0"/>
            <a:chExt cx="5466080" cy="7142480"/>
          </a:xfrm>
        </p:grpSpPr>
        <p:sp>
          <p:nvSpPr>
            <p:cNvPr name="Freeform 17" id="17"/>
            <p:cNvSpPr/>
            <p:nvPr/>
          </p:nvSpPr>
          <p:spPr>
            <a:xfrm flipH="false" flipV="false" rot="0">
              <a:off x="0" y="0"/>
              <a:ext cx="5466080" cy="7142480"/>
            </a:xfrm>
            <a:custGeom>
              <a:avLst/>
              <a:gdLst/>
              <a:ahLst/>
              <a:cxnLst/>
              <a:rect r="r" b="b" t="t" l="l"/>
              <a:pathLst>
                <a:path h="7142480" w="5466080">
                  <a:moveTo>
                    <a:pt x="0" y="0"/>
                  </a:moveTo>
                  <a:lnTo>
                    <a:pt x="5466080" y="0"/>
                  </a:lnTo>
                  <a:lnTo>
                    <a:pt x="5466080" y="7142480"/>
                  </a:lnTo>
                  <a:lnTo>
                    <a:pt x="0" y="7142480"/>
                  </a:lnTo>
                  <a:close/>
                </a:path>
              </a:pathLst>
            </a:custGeom>
            <a:solidFill>
              <a:srgbClr val="FFFFFF"/>
            </a:solidFill>
            <a:ln w="22858" cap="sq">
              <a:solidFill>
                <a:srgbClr val="D1DEED"/>
              </a:solidFill>
              <a:prstDash val="solid"/>
              <a:miter/>
            </a:ln>
          </p:spPr>
        </p:sp>
      </p:grpSp>
      <p:sp>
        <p:nvSpPr>
          <p:cNvPr name="TextBox 18" id="18"/>
          <p:cNvSpPr txBox="true"/>
          <p:nvPr/>
        </p:nvSpPr>
        <p:spPr>
          <a:xfrm rot="0">
            <a:off x="9804397" y="3349628"/>
            <a:ext cx="3606803" cy="438180"/>
          </a:xfrm>
          <a:prstGeom prst="rect">
            <a:avLst/>
          </a:prstGeom>
        </p:spPr>
        <p:txBody>
          <a:bodyPr anchor="t" rtlCol="false" tIns="0" lIns="0" bIns="0" rIns="0">
            <a:spAutoFit/>
          </a:bodyPr>
          <a:lstStyle/>
          <a:p>
            <a:pPr algn="ctr">
              <a:lnSpc>
                <a:spcPts val="3598"/>
              </a:lnSpc>
            </a:pPr>
            <a:r>
              <a:rPr lang="en-US" sz="2499" b="true">
                <a:solidFill>
                  <a:srgbClr val="0643A6"/>
                </a:solidFill>
                <a:latin typeface="Times New Roman Bold"/>
                <a:ea typeface="Times New Roman Bold"/>
                <a:cs typeface="Times New Roman Bold"/>
                <a:sym typeface="Times New Roman Bold"/>
              </a:rPr>
              <a:t>LỊCH SỬ ĐIỆN</a:t>
            </a:r>
          </a:p>
        </p:txBody>
      </p:sp>
      <p:sp>
        <p:nvSpPr>
          <p:cNvPr name="TextBox 19" id="19"/>
          <p:cNvSpPr txBox="true"/>
          <p:nvPr/>
        </p:nvSpPr>
        <p:spPr>
          <a:xfrm rot="0">
            <a:off x="9804397" y="4064003"/>
            <a:ext cx="3606803" cy="425211"/>
          </a:xfrm>
          <a:prstGeom prst="rect">
            <a:avLst/>
          </a:prstGeom>
        </p:spPr>
        <p:txBody>
          <a:bodyPr anchor="t" rtlCol="false" tIns="0" lIns="0" bIns="0" rIns="0">
            <a:spAutoFit/>
          </a:bodyPr>
          <a:lstStyle/>
          <a:p>
            <a:pPr algn="ctr">
              <a:lnSpc>
                <a:spcPts val="3311"/>
              </a:lnSpc>
            </a:pPr>
            <a:r>
              <a:rPr lang="en-US" sz="2299" b="true">
                <a:solidFill>
                  <a:srgbClr val="53637A"/>
                </a:solidFill>
                <a:latin typeface="Times New Roman Bold"/>
                <a:ea typeface="Times New Roman Bold"/>
                <a:cs typeface="Times New Roman Bold"/>
                <a:sym typeface="Times New Roman Bold"/>
              </a:rPr>
              <a:t>3 biến</a:t>
            </a:r>
          </a:p>
        </p:txBody>
      </p:sp>
      <p:sp>
        <p:nvSpPr>
          <p:cNvPr name="AutoShape 20" id="20"/>
          <p:cNvSpPr/>
          <p:nvPr/>
        </p:nvSpPr>
        <p:spPr>
          <a:xfrm rot="24360">
            <a:off x="9817056" y="4872038"/>
            <a:ext cx="3581486" cy="0"/>
          </a:xfrm>
          <a:prstGeom prst="line">
            <a:avLst/>
          </a:prstGeom>
          <a:ln cap="rnd" w="9525">
            <a:solidFill>
              <a:srgbClr val="D1DEED"/>
            </a:solidFill>
            <a:prstDash val="solid"/>
            <a:headEnd type="none" len="sm" w="sm"/>
            <a:tailEnd type="none" len="sm" w="sm"/>
          </a:ln>
        </p:spPr>
      </p:sp>
      <p:sp>
        <p:nvSpPr>
          <p:cNvPr name="TextBox 21" id="21"/>
          <p:cNvSpPr txBox="true"/>
          <p:nvPr/>
        </p:nvSpPr>
        <p:spPr>
          <a:xfrm rot="0">
            <a:off x="9918697" y="5035553"/>
            <a:ext cx="3390900" cy="1686717"/>
          </a:xfrm>
          <a:prstGeom prst="rect">
            <a:avLst/>
          </a:prstGeom>
        </p:spPr>
        <p:txBody>
          <a:bodyPr anchor="t" rtlCol="false" tIns="0" lIns="0" bIns="0" rIns="0">
            <a:spAutoFit/>
          </a:bodyPr>
          <a:lstStyle/>
          <a:p>
            <a:pPr algn="ctr">
              <a:lnSpc>
                <a:spcPts val="4462"/>
              </a:lnSpc>
            </a:pPr>
            <a:r>
              <a:rPr lang="en-US" sz="3099">
                <a:solidFill>
                  <a:srgbClr val="1B293E"/>
                </a:solidFill>
                <a:latin typeface="Times New Roman"/>
                <a:ea typeface="Times New Roman"/>
                <a:cs typeface="Times New Roman"/>
                <a:sym typeface="Times New Roman"/>
              </a:rPr>
              <a:t>lag24</a:t>
            </a:r>
          </a:p>
          <a:p>
            <a:pPr algn="ctr">
              <a:lnSpc>
                <a:spcPts val="4462"/>
              </a:lnSpc>
            </a:pPr>
            <a:r>
              <a:rPr lang="en-US" sz="3099">
                <a:solidFill>
                  <a:srgbClr val="1B293E"/>
                </a:solidFill>
                <a:latin typeface="Times New Roman"/>
                <a:ea typeface="Times New Roman"/>
                <a:cs typeface="Times New Roman"/>
                <a:sym typeface="Times New Roman"/>
              </a:rPr>
              <a:t>lag168</a:t>
            </a:r>
          </a:p>
          <a:p>
            <a:pPr algn="ctr">
              <a:lnSpc>
                <a:spcPts val="4462"/>
              </a:lnSpc>
            </a:pPr>
            <a:r>
              <a:rPr lang="en-US" sz="3099">
                <a:solidFill>
                  <a:srgbClr val="1B293E"/>
                </a:solidFill>
                <a:latin typeface="Times New Roman"/>
                <a:ea typeface="Times New Roman"/>
                <a:cs typeface="Times New Roman"/>
                <a:sym typeface="Times New Roman"/>
              </a:rPr>
              <a:t>rolling24</a:t>
            </a:r>
          </a:p>
        </p:txBody>
      </p:sp>
      <p:grpSp>
        <p:nvGrpSpPr>
          <p:cNvPr name="Group 22" id="22"/>
          <p:cNvGrpSpPr/>
          <p:nvPr/>
        </p:nvGrpSpPr>
        <p:grpSpPr>
          <a:xfrm rot="0">
            <a:off x="13958573" y="3138173"/>
            <a:ext cx="4099560" cy="5356860"/>
            <a:chOff x="0" y="0"/>
            <a:chExt cx="5466080" cy="7142480"/>
          </a:xfrm>
        </p:grpSpPr>
        <p:sp>
          <p:nvSpPr>
            <p:cNvPr name="Freeform 23" id="23"/>
            <p:cNvSpPr/>
            <p:nvPr/>
          </p:nvSpPr>
          <p:spPr>
            <a:xfrm flipH="false" flipV="false" rot="0">
              <a:off x="0" y="0"/>
              <a:ext cx="5466080" cy="7142480"/>
            </a:xfrm>
            <a:custGeom>
              <a:avLst/>
              <a:gdLst/>
              <a:ahLst/>
              <a:cxnLst/>
              <a:rect r="r" b="b" t="t" l="l"/>
              <a:pathLst>
                <a:path h="7142480" w="5466080">
                  <a:moveTo>
                    <a:pt x="0" y="0"/>
                  </a:moveTo>
                  <a:lnTo>
                    <a:pt x="5466080" y="0"/>
                  </a:lnTo>
                  <a:lnTo>
                    <a:pt x="5466080" y="7142480"/>
                  </a:lnTo>
                  <a:lnTo>
                    <a:pt x="0" y="7142480"/>
                  </a:lnTo>
                  <a:close/>
                </a:path>
              </a:pathLst>
            </a:custGeom>
            <a:solidFill>
              <a:srgbClr val="FFFFFF"/>
            </a:solidFill>
            <a:ln w="22858" cap="sq">
              <a:solidFill>
                <a:srgbClr val="D1DEED"/>
              </a:solidFill>
              <a:prstDash val="solid"/>
              <a:miter/>
            </a:ln>
          </p:spPr>
        </p:sp>
      </p:grpSp>
      <p:sp>
        <p:nvSpPr>
          <p:cNvPr name="TextBox 24" id="24"/>
          <p:cNvSpPr txBox="true"/>
          <p:nvPr/>
        </p:nvSpPr>
        <p:spPr>
          <a:xfrm rot="0">
            <a:off x="14211300" y="3349628"/>
            <a:ext cx="3606803" cy="438180"/>
          </a:xfrm>
          <a:prstGeom prst="rect">
            <a:avLst/>
          </a:prstGeom>
        </p:spPr>
        <p:txBody>
          <a:bodyPr anchor="t" rtlCol="false" tIns="0" lIns="0" bIns="0" rIns="0">
            <a:spAutoFit/>
          </a:bodyPr>
          <a:lstStyle/>
          <a:p>
            <a:pPr algn="ctr">
              <a:lnSpc>
                <a:spcPts val="3598"/>
              </a:lnSpc>
            </a:pPr>
            <a:r>
              <a:rPr lang="en-US" sz="2499" b="true">
                <a:solidFill>
                  <a:srgbClr val="0643A6"/>
                </a:solidFill>
                <a:latin typeface="Times New Roman Bold"/>
                <a:ea typeface="Times New Roman Bold"/>
                <a:cs typeface="Times New Roman Bold"/>
                <a:sym typeface="Times New Roman Bold"/>
              </a:rPr>
              <a:t>THỜI TIẾT</a:t>
            </a:r>
          </a:p>
        </p:txBody>
      </p:sp>
      <p:sp>
        <p:nvSpPr>
          <p:cNvPr name="TextBox 25" id="25"/>
          <p:cNvSpPr txBox="true"/>
          <p:nvPr/>
        </p:nvSpPr>
        <p:spPr>
          <a:xfrm rot="0">
            <a:off x="14211300" y="4064003"/>
            <a:ext cx="3606803" cy="425211"/>
          </a:xfrm>
          <a:prstGeom prst="rect">
            <a:avLst/>
          </a:prstGeom>
        </p:spPr>
        <p:txBody>
          <a:bodyPr anchor="t" rtlCol="false" tIns="0" lIns="0" bIns="0" rIns="0">
            <a:spAutoFit/>
          </a:bodyPr>
          <a:lstStyle/>
          <a:p>
            <a:pPr algn="ctr">
              <a:lnSpc>
                <a:spcPts val="3311"/>
              </a:lnSpc>
            </a:pPr>
            <a:r>
              <a:rPr lang="en-US" sz="2299" b="true">
                <a:solidFill>
                  <a:srgbClr val="53637A"/>
                </a:solidFill>
                <a:latin typeface="Times New Roman Bold"/>
                <a:ea typeface="Times New Roman Bold"/>
                <a:cs typeface="Times New Roman Bold"/>
                <a:sym typeface="Times New Roman Bold"/>
              </a:rPr>
              <a:t>1 biến</a:t>
            </a:r>
          </a:p>
        </p:txBody>
      </p:sp>
      <p:sp>
        <p:nvSpPr>
          <p:cNvPr name="AutoShape 26" id="26"/>
          <p:cNvSpPr/>
          <p:nvPr/>
        </p:nvSpPr>
        <p:spPr>
          <a:xfrm rot="24360">
            <a:off x="14223959" y="4872038"/>
            <a:ext cx="3581486" cy="0"/>
          </a:xfrm>
          <a:prstGeom prst="line">
            <a:avLst/>
          </a:prstGeom>
          <a:ln cap="rnd" w="9525">
            <a:solidFill>
              <a:srgbClr val="D1DEED"/>
            </a:solidFill>
            <a:prstDash val="solid"/>
            <a:headEnd type="none" len="sm" w="sm"/>
            <a:tailEnd type="none" len="sm" w="sm"/>
          </a:ln>
        </p:spPr>
      </p:sp>
      <p:sp>
        <p:nvSpPr>
          <p:cNvPr name="TextBox 27" id="27"/>
          <p:cNvSpPr txBox="true"/>
          <p:nvPr/>
        </p:nvSpPr>
        <p:spPr>
          <a:xfrm rot="0">
            <a:off x="14325600" y="5035553"/>
            <a:ext cx="3390900" cy="562767"/>
          </a:xfrm>
          <a:prstGeom prst="rect">
            <a:avLst/>
          </a:prstGeom>
        </p:spPr>
        <p:txBody>
          <a:bodyPr anchor="t" rtlCol="false" tIns="0" lIns="0" bIns="0" rIns="0">
            <a:spAutoFit/>
          </a:bodyPr>
          <a:lstStyle/>
          <a:p>
            <a:pPr algn="ctr">
              <a:lnSpc>
                <a:spcPts val="4462"/>
              </a:lnSpc>
            </a:pPr>
            <a:r>
              <a:rPr lang="en-US" sz="3099">
                <a:solidFill>
                  <a:srgbClr val="1B293E"/>
                </a:solidFill>
                <a:latin typeface="Times New Roman"/>
                <a:ea typeface="Times New Roman"/>
                <a:cs typeface="Times New Roman"/>
                <a:sym typeface="Times New Roman"/>
              </a:rPr>
              <a:t>temp_lag24</a:t>
            </a:r>
          </a:p>
        </p:txBody>
      </p:sp>
      <p:sp>
        <p:nvSpPr>
          <p:cNvPr name="Freeform 28" id="28"/>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Freeform 3" id="3"/>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10 ĐẶC TRƯNG ĐẦU VÀO</a:t>
            </a:r>
          </a:p>
        </p:txBody>
      </p:sp>
      <p:grpSp>
        <p:nvGrpSpPr>
          <p:cNvPr name="Group 6" id="6"/>
          <p:cNvGrpSpPr/>
          <p:nvPr/>
        </p:nvGrpSpPr>
        <p:grpSpPr>
          <a:xfrm rot="0">
            <a:off x="990600" y="2682005"/>
            <a:ext cx="16879908" cy="5356860"/>
            <a:chOff x="0" y="0"/>
            <a:chExt cx="22506544" cy="7142480"/>
          </a:xfrm>
        </p:grpSpPr>
        <p:sp>
          <p:nvSpPr>
            <p:cNvPr name="Freeform 7" id="7"/>
            <p:cNvSpPr/>
            <p:nvPr/>
          </p:nvSpPr>
          <p:spPr>
            <a:xfrm flipH="false" flipV="false" rot="0">
              <a:off x="0" y="0"/>
              <a:ext cx="22506544" cy="7142480"/>
            </a:xfrm>
            <a:custGeom>
              <a:avLst/>
              <a:gdLst/>
              <a:ahLst/>
              <a:cxnLst/>
              <a:rect r="r" b="b" t="t" l="l"/>
              <a:pathLst>
                <a:path h="7142480" w="22506544">
                  <a:moveTo>
                    <a:pt x="0" y="0"/>
                  </a:moveTo>
                  <a:lnTo>
                    <a:pt x="22506544" y="0"/>
                  </a:lnTo>
                  <a:lnTo>
                    <a:pt x="22506544" y="7142480"/>
                  </a:lnTo>
                  <a:lnTo>
                    <a:pt x="0" y="7142480"/>
                  </a:lnTo>
                  <a:close/>
                </a:path>
              </a:pathLst>
            </a:custGeom>
            <a:solidFill>
              <a:srgbClr val="FFFFFF"/>
            </a:solidFill>
            <a:ln w="22858" cap="sq">
              <a:solidFill>
                <a:srgbClr val="D1DEED"/>
              </a:solidFill>
              <a:prstDash val="solid"/>
              <a:miter/>
            </a:ln>
          </p:spPr>
        </p:sp>
      </p:grpSp>
      <p:sp>
        <p:nvSpPr>
          <p:cNvPr name="TextBox 8" id="8"/>
          <p:cNvSpPr txBox="true"/>
          <p:nvPr/>
        </p:nvSpPr>
        <p:spPr>
          <a:xfrm rot="0">
            <a:off x="1398424" y="2885752"/>
            <a:ext cx="14139603" cy="5400040"/>
          </a:xfrm>
          <a:prstGeom prst="rect">
            <a:avLst/>
          </a:prstGeom>
        </p:spPr>
        <p:txBody>
          <a:bodyPr anchor="t" rtlCol="false" tIns="0" lIns="0" bIns="0" rIns="0">
            <a:spAutoFit/>
          </a:bodyPr>
          <a:lstStyle/>
          <a:p>
            <a:pPr algn="l">
              <a:lnSpc>
                <a:spcPts val="4759"/>
              </a:lnSpc>
            </a:pPr>
            <a:r>
              <a:rPr lang="en-US" sz="3399">
                <a:solidFill>
                  <a:srgbClr val="1B293E"/>
                </a:solidFill>
                <a:latin typeface="Times New Roman"/>
                <a:ea typeface="Times New Roman"/>
                <a:cs typeface="Times New Roman"/>
                <a:sym typeface="Times New Roman"/>
              </a:rPr>
              <a:t>Thời gian (4 biến): hour, weekday, month, weekend – xác định giờ, thứ, tháng và ngày cuối tuần.</a:t>
            </a:r>
          </a:p>
          <a:p>
            <a:pPr algn="l">
              <a:lnSpc>
                <a:spcPts val="4759"/>
              </a:lnSpc>
            </a:pPr>
            <a:r>
              <a:rPr lang="en-US" sz="3399">
                <a:solidFill>
                  <a:srgbClr val="1B293E"/>
                </a:solidFill>
                <a:latin typeface="Times New Roman"/>
                <a:ea typeface="Times New Roman"/>
                <a:cs typeface="Times New Roman"/>
                <a:sym typeface="Times New Roman"/>
              </a:rPr>
              <a:t>Tòa nhà (2 biến): building_code, usage_code – xác định mã tòa nhà và loại công năng sử dụng.</a:t>
            </a:r>
          </a:p>
          <a:p>
            <a:pPr algn="l">
              <a:lnSpc>
                <a:spcPts val="4759"/>
              </a:lnSpc>
            </a:pPr>
            <a:r>
              <a:rPr lang="en-US" sz="3399">
                <a:solidFill>
                  <a:srgbClr val="1B293E"/>
                </a:solidFill>
                <a:latin typeface="Times New Roman"/>
                <a:ea typeface="Times New Roman"/>
                <a:cs typeface="Times New Roman"/>
                <a:sym typeface="Times New Roman"/>
              </a:rPr>
              <a:t>Lịch sử điện (3 biến): lag24, lag168, rolling24 – điện năng 24 giờ trước, 168 giờ trước và trung bình 24 giờ trong quá khứ.</a:t>
            </a:r>
          </a:p>
          <a:p>
            <a:pPr algn="l">
              <a:lnSpc>
                <a:spcPts val="4759"/>
              </a:lnSpc>
            </a:pPr>
            <a:r>
              <a:rPr lang="en-US" sz="3399">
                <a:solidFill>
                  <a:srgbClr val="1B293E"/>
                </a:solidFill>
                <a:latin typeface="Times New Roman"/>
                <a:ea typeface="Times New Roman"/>
                <a:cs typeface="Times New Roman"/>
                <a:sym typeface="Times New Roman"/>
              </a:rPr>
              <a:t>Thời tiết (1 biến): temp_lag24 – nhiệt độ không khí cách thời điểm dự báo 24 giờ.</a:t>
            </a:r>
          </a:p>
          <a:p>
            <a:pPr algn="l">
              <a:lnSpc>
                <a:spcPts val="475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CHIA DỮ LIỆU THEO THỜI GIAN</a:t>
            </a:r>
          </a:p>
        </p:txBody>
      </p:sp>
      <p:grpSp>
        <p:nvGrpSpPr>
          <p:cNvPr name="Group 4" id="4"/>
          <p:cNvGrpSpPr/>
          <p:nvPr/>
        </p:nvGrpSpPr>
        <p:grpSpPr>
          <a:xfrm rot="0">
            <a:off x="1628137" y="3190237"/>
            <a:ext cx="4312920" cy="2763517"/>
            <a:chOff x="0" y="0"/>
            <a:chExt cx="5750560" cy="3684689"/>
          </a:xfrm>
        </p:grpSpPr>
        <p:sp>
          <p:nvSpPr>
            <p:cNvPr name="Freeform 5" id="5"/>
            <p:cNvSpPr/>
            <p:nvPr/>
          </p:nvSpPr>
          <p:spPr>
            <a:xfrm flipH="false" flipV="false" rot="0">
              <a:off x="0" y="0"/>
              <a:ext cx="5750560" cy="3684651"/>
            </a:xfrm>
            <a:custGeom>
              <a:avLst/>
              <a:gdLst/>
              <a:ahLst/>
              <a:cxnLst/>
              <a:rect r="r" b="b" t="t" l="l"/>
              <a:pathLst>
                <a:path h="3684651" w="5750560">
                  <a:moveTo>
                    <a:pt x="0" y="0"/>
                  </a:moveTo>
                  <a:lnTo>
                    <a:pt x="5750560" y="0"/>
                  </a:lnTo>
                  <a:lnTo>
                    <a:pt x="5750560" y="3684651"/>
                  </a:lnTo>
                  <a:lnTo>
                    <a:pt x="0" y="3684651"/>
                  </a:lnTo>
                  <a:close/>
                </a:path>
              </a:pathLst>
            </a:custGeom>
            <a:solidFill>
              <a:srgbClr val="FFFFFF"/>
            </a:solidFill>
            <a:ln w="20319" cap="sq">
              <a:solidFill>
                <a:srgbClr val="D1DEED"/>
              </a:solidFill>
              <a:prstDash val="solid"/>
              <a:miter/>
            </a:ln>
          </p:spPr>
        </p:sp>
      </p:grpSp>
      <p:sp>
        <p:nvSpPr>
          <p:cNvPr name="TextBox 6" id="6"/>
          <p:cNvSpPr txBox="true"/>
          <p:nvPr/>
        </p:nvSpPr>
        <p:spPr>
          <a:xfrm rot="0">
            <a:off x="1765297" y="3305175"/>
            <a:ext cx="4013197" cy="505236"/>
          </a:xfrm>
          <a:prstGeom prst="rect">
            <a:avLst/>
          </a:prstGeom>
        </p:spPr>
        <p:txBody>
          <a:bodyPr anchor="t" rtlCol="false" tIns="0" lIns="0" bIns="0" rIns="0">
            <a:spAutoFit/>
          </a:bodyPr>
          <a:lstStyle/>
          <a:p>
            <a:pPr algn="ctr">
              <a:lnSpc>
                <a:spcPts val="4030"/>
              </a:lnSpc>
            </a:pPr>
            <a:r>
              <a:rPr lang="en-US" sz="2799" b="true">
                <a:solidFill>
                  <a:srgbClr val="0643A6"/>
                </a:solidFill>
                <a:latin typeface="Times New Roman Bold"/>
                <a:ea typeface="Times New Roman Bold"/>
                <a:cs typeface="Times New Roman Bold"/>
                <a:sym typeface="Times New Roman Bold"/>
              </a:rPr>
              <a:t>TRAIN</a:t>
            </a:r>
          </a:p>
        </p:txBody>
      </p:sp>
      <p:sp>
        <p:nvSpPr>
          <p:cNvPr name="TextBox 7" id="7"/>
          <p:cNvSpPr txBox="true"/>
          <p:nvPr/>
        </p:nvSpPr>
        <p:spPr>
          <a:xfrm rot="0">
            <a:off x="1765297" y="4013197"/>
            <a:ext cx="4013197" cy="479725"/>
          </a:xfrm>
          <a:prstGeom prst="rect">
            <a:avLst/>
          </a:prstGeom>
        </p:spPr>
        <p:txBody>
          <a:bodyPr anchor="t" rtlCol="false" tIns="0" lIns="0" bIns="0" rIns="0">
            <a:spAutoFit/>
          </a:bodyPr>
          <a:lstStyle/>
          <a:p>
            <a:pPr algn="ctr">
              <a:lnSpc>
                <a:spcPts val="3885"/>
              </a:lnSpc>
            </a:pPr>
            <a:r>
              <a:rPr lang="en-US" sz="2698">
                <a:solidFill>
                  <a:srgbClr val="1B293E"/>
                </a:solidFill>
                <a:latin typeface="Times New Roman"/>
                <a:ea typeface="Times New Roman"/>
                <a:cs typeface="Times New Roman"/>
                <a:sym typeface="Times New Roman"/>
              </a:rPr>
              <a:t>01–12/2016</a:t>
            </a:r>
          </a:p>
        </p:txBody>
      </p:sp>
      <p:sp>
        <p:nvSpPr>
          <p:cNvPr name="TextBox 8" id="8"/>
          <p:cNvSpPr txBox="true"/>
          <p:nvPr/>
        </p:nvSpPr>
        <p:spPr>
          <a:xfrm rot="0">
            <a:off x="1739903" y="4759328"/>
            <a:ext cx="4064003" cy="588279"/>
          </a:xfrm>
          <a:prstGeom prst="rect">
            <a:avLst/>
          </a:prstGeom>
        </p:spPr>
        <p:txBody>
          <a:bodyPr anchor="t" rtlCol="false" tIns="0" lIns="0" bIns="0" rIns="0">
            <a:spAutoFit/>
          </a:bodyPr>
          <a:lstStyle/>
          <a:p>
            <a:pPr algn="ctr">
              <a:lnSpc>
                <a:spcPts val="4607"/>
              </a:lnSpc>
            </a:pPr>
            <a:r>
              <a:rPr lang="en-US" sz="3199" b="true">
                <a:solidFill>
                  <a:srgbClr val="0643A6"/>
                </a:solidFill>
                <a:latin typeface="Times New Roman Bold"/>
                <a:ea typeface="Times New Roman Bold"/>
                <a:cs typeface="Times New Roman Bold"/>
                <a:sym typeface="Times New Roman Bold"/>
              </a:rPr>
              <a:t>12.707.212 dòng</a:t>
            </a:r>
          </a:p>
        </p:txBody>
      </p:sp>
      <p:grpSp>
        <p:nvGrpSpPr>
          <p:cNvPr name="Group 9" id="9"/>
          <p:cNvGrpSpPr/>
          <p:nvPr/>
        </p:nvGrpSpPr>
        <p:grpSpPr>
          <a:xfrm rot="0">
            <a:off x="7203443" y="3190237"/>
            <a:ext cx="4312920" cy="2763517"/>
            <a:chOff x="0" y="0"/>
            <a:chExt cx="5750560" cy="3684689"/>
          </a:xfrm>
        </p:grpSpPr>
        <p:sp>
          <p:nvSpPr>
            <p:cNvPr name="Freeform 10" id="10"/>
            <p:cNvSpPr/>
            <p:nvPr/>
          </p:nvSpPr>
          <p:spPr>
            <a:xfrm flipH="false" flipV="false" rot="0">
              <a:off x="0" y="0"/>
              <a:ext cx="5750560" cy="3684651"/>
            </a:xfrm>
            <a:custGeom>
              <a:avLst/>
              <a:gdLst/>
              <a:ahLst/>
              <a:cxnLst/>
              <a:rect r="r" b="b" t="t" l="l"/>
              <a:pathLst>
                <a:path h="3684651" w="5750560">
                  <a:moveTo>
                    <a:pt x="0" y="0"/>
                  </a:moveTo>
                  <a:lnTo>
                    <a:pt x="5750560" y="0"/>
                  </a:lnTo>
                  <a:lnTo>
                    <a:pt x="5750560" y="3684651"/>
                  </a:lnTo>
                  <a:lnTo>
                    <a:pt x="0" y="3684651"/>
                  </a:lnTo>
                  <a:close/>
                </a:path>
              </a:pathLst>
            </a:custGeom>
            <a:solidFill>
              <a:srgbClr val="FFFFFF"/>
            </a:solidFill>
            <a:ln w="20319" cap="sq">
              <a:solidFill>
                <a:srgbClr val="D1DEED"/>
              </a:solidFill>
              <a:prstDash val="solid"/>
              <a:miter/>
            </a:ln>
          </p:spPr>
        </p:sp>
      </p:grpSp>
      <p:sp>
        <p:nvSpPr>
          <p:cNvPr name="TextBox 11" id="11"/>
          <p:cNvSpPr txBox="true"/>
          <p:nvPr/>
        </p:nvSpPr>
        <p:spPr>
          <a:xfrm rot="0">
            <a:off x="7340603" y="3305175"/>
            <a:ext cx="4013197" cy="505236"/>
          </a:xfrm>
          <a:prstGeom prst="rect">
            <a:avLst/>
          </a:prstGeom>
        </p:spPr>
        <p:txBody>
          <a:bodyPr anchor="t" rtlCol="false" tIns="0" lIns="0" bIns="0" rIns="0">
            <a:spAutoFit/>
          </a:bodyPr>
          <a:lstStyle/>
          <a:p>
            <a:pPr algn="ctr">
              <a:lnSpc>
                <a:spcPts val="4030"/>
              </a:lnSpc>
            </a:pPr>
            <a:r>
              <a:rPr lang="en-US" sz="2799" b="true">
                <a:solidFill>
                  <a:srgbClr val="0643A6"/>
                </a:solidFill>
                <a:latin typeface="Times New Roman Bold"/>
                <a:ea typeface="Times New Roman Bold"/>
                <a:cs typeface="Times New Roman Bold"/>
                <a:sym typeface="Times New Roman Bold"/>
              </a:rPr>
              <a:t>VALIDATION</a:t>
            </a:r>
          </a:p>
        </p:txBody>
      </p:sp>
      <p:sp>
        <p:nvSpPr>
          <p:cNvPr name="TextBox 12" id="12"/>
          <p:cNvSpPr txBox="true"/>
          <p:nvPr/>
        </p:nvSpPr>
        <p:spPr>
          <a:xfrm rot="0">
            <a:off x="7340603" y="4013197"/>
            <a:ext cx="4013197" cy="479725"/>
          </a:xfrm>
          <a:prstGeom prst="rect">
            <a:avLst/>
          </a:prstGeom>
        </p:spPr>
        <p:txBody>
          <a:bodyPr anchor="t" rtlCol="false" tIns="0" lIns="0" bIns="0" rIns="0">
            <a:spAutoFit/>
          </a:bodyPr>
          <a:lstStyle/>
          <a:p>
            <a:pPr algn="ctr">
              <a:lnSpc>
                <a:spcPts val="3885"/>
              </a:lnSpc>
            </a:pPr>
            <a:r>
              <a:rPr lang="en-US" sz="2698">
                <a:solidFill>
                  <a:srgbClr val="1B293E"/>
                </a:solidFill>
                <a:latin typeface="Times New Roman"/>
                <a:ea typeface="Times New Roman"/>
                <a:cs typeface="Times New Roman"/>
                <a:sym typeface="Times New Roman"/>
              </a:rPr>
              <a:t>01–06/2017</a:t>
            </a:r>
          </a:p>
        </p:txBody>
      </p:sp>
      <p:sp>
        <p:nvSpPr>
          <p:cNvPr name="TextBox 13" id="13"/>
          <p:cNvSpPr txBox="true"/>
          <p:nvPr/>
        </p:nvSpPr>
        <p:spPr>
          <a:xfrm rot="0">
            <a:off x="7315200" y="4759328"/>
            <a:ext cx="4064003" cy="588279"/>
          </a:xfrm>
          <a:prstGeom prst="rect">
            <a:avLst/>
          </a:prstGeom>
        </p:spPr>
        <p:txBody>
          <a:bodyPr anchor="t" rtlCol="false" tIns="0" lIns="0" bIns="0" rIns="0">
            <a:spAutoFit/>
          </a:bodyPr>
          <a:lstStyle/>
          <a:p>
            <a:pPr algn="ctr">
              <a:lnSpc>
                <a:spcPts val="4607"/>
              </a:lnSpc>
            </a:pPr>
            <a:r>
              <a:rPr lang="en-US" sz="3199" b="true">
                <a:solidFill>
                  <a:srgbClr val="0643A6"/>
                </a:solidFill>
                <a:latin typeface="Times New Roman Bold"/>
                <a:ea typeface="Times New Roman Bold"/>
                <a:cs typeface="Times New Roman Bold"/>
                <a:sym typeface="Times New Roman Bold"/>
              </a:rPr>
              <a:t>6.383.737 dòng</a:t>
            </a:r>
          </a:p>
        </p:txBody>
      </p:sp>
      <p:grpSp>
        <p:nvGrpSpPr>
          <p:cNvPr name="Group 14" id="14"/>
          <p:cNvGrpSpPr/>
          <p:nvPr/>
        </p:nvGrpSpPr>
        <p:grpSpPr>
          <a:xfrm rot="0">
            <a:off x="12727943" y="3190237"/>
            <a:ext cx="4312920" cy="2763517"/>
            <a:chOff x="0" y="0"/>
            <a:chExt cx="5750560" cy="3684689"/>
          </a:xfrm>
        </p:grpSpPr>
        <p:sp>
          <p:nvSpPr>
            <p:cNvPr name="Freeform 15" id="15"/>
            <p:cNvSpPr/>
            <p:nvPr/>
          </p:nvSpPr>
          <p:spPr>
            <a:xfrm flipH="false" flipV="false" rot="0">
              <a:off x="0" y="0"/>
              <a:ext cx="5750560" cy="3684651"/>
            </a:xfrm>
            <a:custGeom>
              <a:avLst/>
              <a:gdLst/>
              <a:ahLst/>
              <a:cxnLst/>
              <a:rect r="r" b="b" t="t" l="l"/>
              <a:pathLst>
                <a:path h="3684651" w="5750560">
                  <a:moveTo>
                    <a:pt x="0" y="0"/>
                  </a:moveTo>
                  <a:lnTo>
                    <a:pt x="5750560" y="0"/>
                  </a:lnTo>
                  <a:lnTo>
                    <a:pt x="5750560" y="3684651"/>
                  </a:lnTo>
                  <a:lnTo>
                    <a:pt x="0" y="3684651"/>
                  </a:lnTo>
                  <a:close/>
                </a:path>
              </a:pathLst>
            </a:custGeom>
            <a:solidFill>
              <a:srgbClr val="FFFFFF"/>
            </a:solidFill>
            <a:ln w="20319" cap="sq">
              <a:solidFill>
                <a:srgbClr val="D1DEED"/>
              </a:solidFill>
              <a:prstDash val="solid"/>
              <a:miter/>
            </a:ln>
          </p:spPr>
        </p:sp>
      </p:grpSp>
      <p:sp>
        <p:nvSpPr>
          <p:cNvPr name="TextBox 16" id="16"/>
          <p:cNvSpPr txBox="true"/>
          <p:nvPr/>
        </p:nvSpPr>
        <p:spPr>
          <a:xfrm rot="0">
            <a:off x="12865103" y="3305175"/>
            <a:ext cx="4013197" cy="505236"/>
          </a:xfrm>
          <a:prstGeom prst="rect">
            <a:avLst/>
          </a:prstGeom>
        </p:spPr>
        <p:txBody>
          <a:bodyPr anchor="t" rtlCol="false" tIns="0" lIns="0" bIns="0" rIns="0">
            <a:spAutoFit/>
          </a:bodyPr>
          <a:lstStyle/>
          <a:p>
            <a:pPr algn="ctr">
              <a:lnSpc>
                <a:spcPts val="4030"/>
              </a:lnSpc>
            </a:pPr>
            <a:r>
              <a:rPr lang="en-US" sz="2799" b="true">
                <a:solidFill>
                  <a:srgbClr val="0643A6"/>
                </a:solidFill>
                <a:latin typeface="Times New Roman Bold"/>
                <a:ea typeface="Times New Roman Bold"/>
                <a:cs typeface="Times New Roman Bold"/>
                <a:sym typeface="Times New Roman Bold"/>
              </a:rPr>
              <a:t>TEST</a:t>
            </a:r>
          </a:p>
        </p:txBody>
      </p:sp>
      <p:sp>
        <p:nvSpPr>
          <p:cNvPr name="TextBox 17" id="17"/>
          <p:cNvSpPr txBox="true"/>
          <p:nvPr/>
        </p:nvSpPr>
        <p:spPr>
          <a:xfrm rot="0">
            <a:off x="12865103" y="4013197"/>
            <a:ext cx="4013197" cy="479725"/>
          </a:xfrm>
          <a:prstGeom prst="rect">
            <a:avLst/>
          </a:prstGeom>
        </p:spPr>
        <p:txBody>
          <a:bodyPr anchor="t" rtlCol="false" tIns="0" lIns="0" bIns="0" rIns="0">
            <a:spAutoFit/>
          </a:bodyPr>
          <a:lstStyle/>
          <a:p>
            <a:pPr algn="ctr">
              <a:lnSpc>
                <a:spcPts val="3885"/>
              </a:lnSpc>
            </a:pPr>
            <a:r>
              <a:rPr lang="en-US" sz="2698">
                <a:solidFill>
                  <a:srgbClr val="1B293E"/>
                </a:solidFill>
                <a:latin typeface="Times New Roman"/>
                <a:ea typeface="Times New Roman"/>
                <a:cs typeface="Times New Roman"/>
                <a:sym typeface="Times New Roman"/>
              </a:rPr>
              <a:t>07–12/2017</a:t>
            </a:r>
          </a:p>
        </p:txBody>
      </p:sp>
      <p:sp>
        <p:nvSpPr>
          <p:cNvPr name="TextBox 18" id="18"/>
          <p:cNvSpPr txBox="true"/>
          <p:nvPr/>
        </p:nvSpPr>
        <p:spPr>
          <a:xfrm rot="0">
            <a:off x="12839700" y="4759328"/>
            <a:ext cx="4064003" cy="588279"/>
          </a:xfrm>
          <a:prstGeom prst="rect">
            <a:avLst/>
          </a:prstGeom>
        </p:spPr>
        <p:txBody>
          <a:bodyPr anchor="t" rtlCol="false" tIns="0" lIns="0" bIns="0" rIns="0">
            <a:spAutoFit/>
          </a:bodyPr>
          <a:lstStyle/>
          <a:p>
            <a:pPr algn="ctr">
              <a:lnSpc>
                <a:spcPts val="4607"/>
              </a:lnSpc>
            </a:pPr>
            <a:r>
              <a:rPr lang="en-US" sz="3199" b="true">
                <a:solidFill>
                  <a:srgbClr val="0643A6"/>
                </a:solidFill>
                <a:latin typeface="Times New Roman Bold"/>
                <a:ea typeface="Times New Roman Bold"/>
                <a:cs typeface="Times New Roman Bold"/>
                <a:sym typeface="Times New Roman Bold"/>
              </a:rPr>
              <a:t>6.496.358 dòng</a:t>
            </a:r>
          </a:p>
        </p:txBody>
      </p:sp>
      <p:sp>
        <p:nvSpPr>
          <p:cNvPr name="AutoShape 19" id="19"/>
          <p:cNvSpPr/>
          <p:nvPr/>
        </p:nvSpPr>
        <p:spPr>
          <a:xfrm rot="147780">
            <a:off x="5841454" y="4532309"/>
            <a:ext cx="1182195" cy="0"/>
          </a:xfrm>
          <a:prstGeom prst="line">
            <a:avLst/>
          </a:prstGeom>
          <a:ln cap="rnd" w="28575">
            <a:solidFill>
              <a:srgbClr val="0643A6"/>
            </a:solidFill>
            <a:prstDash val="solid"/>
            <a:headEnd type="none" len="sm" w="sm"/>
            <a:tailEnd type="none" len="sm" w="sm"/>
          </a:ln>
        </p:spPr>
      </p:sp>
      <p:sp>
        <p:nvSpPr>
          <p:cNvPr name="AutoShape 20" id="20"/>
          <p:cNvSpPr/>
          <p:nvPr/>
        </p:nvSpPr>
        <p:spPr>
          <a:xfrm rot="151020">
            <a:off x="11480244" y="4532309"/>
            <a:ext cx="1156811" cy="0"/>
          </a:xfrm>
          <a:prstGeom prst="line">
            <a:avLst/>
          </a:prstGeom>
          <a:ln cap="rnd" w="28575">
            <a:solidFill>
              <a:srgbClr val="0643A6"/>
            </a:solidFill>
            <a:prstDash val="solid"/>
            <a:headEnd type="none" len="sm" w="sm"/>
            <a:tailEnd type="none" len="sm" w="sm"/>
          </a:ln>
        </p:spPr>
      </p:sp>
      <p:grpSp>
        <p:nvGrpSpPr>
          <p:cNvPr name="Group 21" id="21"/>
          <p:cNvGrpSpPr/>
          <p:nvPr/>
        </p:nvGrpSpPr>
        <p:grpSpPr>
          <a:xfrm rot="0">
            <a:off x="1841497" y="6731003"/>
            <a:ext cx="14795497" cy="1714500"/>
            <a:chOff x="0" y="0"/>
            <a:chExt cx="19727329" cy="2286000"/>
          </a:xfrm>
        </p:grpSpPr>
        <p:sp>
          <p:nvSpPr>
            <p:cNvPr name="Freeform 22" id="22"/>
            <p:cNvSpPr/>
            <p:nvPr/>
          </p:nvSpPr>
          <p:spPr>
            <a:xfrm flipH="false" flipV="false" rot="0">
              <a:off x="0" y="0"/>
              <a:ext cx="19727290" cy="2286000"/>
            </a:xfrm>
            <a:custGeom>
              <a:avLst/>
              <a:gdLst/>
              <a:ahLst/>
              <a:cxnLst/>
              <a:rect r="r" b="b" t="t" l="l"/>
              <a:pathLst>
                <a:path h="2286000" w="19727290">
                  <a:moveTo>
                    <a:pt x="0" y="0"/>
                  </a:moveTo>
                  <a:lnTo>
                    <a:pt x="19727290" y="0"/>
                  </a:lnTo>
                  <a:lnTo>
                    <a:pt x="19727290" y="2286000"/>
                  </a:lnTo>
                  <a:lnTo>
                    <a:pt x="0" y="2286000"/>
                  </a:lnTo>
                  <a:close/>
                </a:path>
              </a:pathLst>
            </a:custGeom>
            <a:solidFill>
              <a:srgbClr val="F0F6FD"/>
            </a:solidFill>
          </p:spPr>
        </p:sp>
      </p:grpSp>
      <p:sp>
        <p:nvSpPr>
          <p:cNvPr name="TextBox 23" id="23"/>
          <p:cNvSpPr txBox="true"/>
          <p:nvPr/>
        </p:nvSpPr>
        <p:spPr>
          <a:xfrm rot="0">
            <a:off x="2349498" y="7267238"/>
            <a:ext cx="13589003" cy="546781"/>
          </a:xfrm>
          <a:prstGeom prst="rect">
            <a:avLst/>
          </a:prstGeom>
        </p:spPr>
        <p:txBody>
          <a:bodyPr anchor="t" rtlCol="false" tIns="0" lIns="0" bIns="0" rIns="0">
            <a:spAutoFit/>
          </a:bodyPr>
          <a:lstStyle/>
          <a:p>
            <a:pPr algn="ctr">
              <a:lnSpc>
                <a:spcPts val="4317"/>
              </a:lnSpc>
            </a:pPr>
            <a:r>
              <a:rPr lang="en-US" sz="2998" b="true">
                <a:solidFill>
                  <a:srgbClr val="1B293E"/>
                </a:solidFill>
                <a:latin typeface="Times New Roman Bold"/>
                <a:ea typeface="Times New Roman Bold"/>
                <a:cs typeface="Times New Roman Bold"/>
                <a:sym typeface="Times New Roman Bold"/>
              </a:rPr>
              <a:t>PHƯƠNG PHÁP:Naive Lag-24(Baseline) Random Forest / LightGBM</a:t>
            </a:r>
          </a:p>
        </p:txBody>
      </p:sp>
      <p:sp>
        <p:nvSpPr>
          <p:cNvPr name="Freeform 24" id="24"/>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5" id="25"/>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KẾT QUẢ PHÁT HIỆN BẤT THƯỜNG</a:t>
            </a:r>
          </a:p>
        </p:txBody>
      </p:sp>
      <p:grpSp>
        <p:nvGrpSpPr>
          <p:cNvPr name="Group 4" id="4"/>
          <p:cNvGrpSpPr/>
          <p:nvPr/>
        </p:nvGrpSpPr>
        <p:grpSpPr>
          <a:xfrm rot="0">
            <a:off x="779145" y="3230242"/>
            <a:ext cx="4042410" cy="3077204"/>
            <a:chOff x="0" y="0"/>
            <a:chExt cx="5389880" cy="4102938"/>
          </a:xfrm>
        </p:grpSpPr>
        <p:sp>
          <p:nvSpPr>
            <p:cNvPr name="Freeform 5" id="5"/>
            <p:cNvSpPr/>
            <p:nvPr/>
          </p:nvSpPr>
          <p:spPr>
            <a:xfrm flipH="false" flipV="false" rot="0">
              <a:off x="0" y="0"/>
              <a:ext cx="5389880" cy="4102989"/>
            </a:xfrm>
            <a:custGeom>
              <a:avLst/>
              <a:gdLst/>
              <a:ahLst/>
              <a:cxnLst/>
              <a:rect r="r" b="b" t="t" l="l"/>
              <a:pathLst>
                <a:path h="4102989" w="5389880">
                  <a:moveTo>
                    <a:pt x="0" y="0"/>
                  </a:moveTo>
                  <a:lnTo>
                    <a:pt x="5389880" y="0"/>
                  </a:lnTo>
                  <a:lnTo>
                    <a:pt x="5389880" y="4102989"/>
                  </a:lnTo>
                  <a:lnTo>
                    <a:pt x="0" y="4102989"/>
                  </a:lnTo>
                  <a:close/>
                </a:path>
              </a:pathLst>
            </a:custGeom>
            <a:solidFill>
              <a:srgbClr val="FFFFFF"/>
            </a:solidFill>
            <a:ln w="16509" cap="sq">
              <a:solidFill>
                <a:srgbClr val="D1DEED"/>
              </a:solidFill>
              <a:prstDash val="solid"/>
              <a:miter/>
            </a:ln>
          </p:spPr>
        </p:sp>
      </p:grpSp>
      <p:sp>
        <p:nvSpPr>
          <p:cNvPr name="TextBox 6" id="6"/>
          <p:cNvSpPr txBox="true"/>
          <p:nvPr/>
        </p:nvSpPr>
        <p:spPr>
          <a:xfrm rot="0">
            <a:off x="977903" y="3663953"/>
            <a:ext cx="3632197"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97.952</a:t>
            </a:r>
          </a:p>
        </p:txBody>
      </p:sp>
      <p:sp>
        <p:nvSpPr>
          <p:cNvPr name="TextBox 7" id="7"/>
          <p:cNvSpPr txBox="true"/>
          <p:nvPr/>
        </p:nvSpPr>
        <p:spPr>
          <a:xfrm rot="0">
            <a:off x="990600" y="5003797"/>
            <a:ext cx="3632197" cy="425211"/>
          </a:xfrm>
          <a:prstGeom prst="rect">
            <a:avLst/>
          </a:prstGeom>
        </p:spPr>
        <p:txBody>
          <a:bodyPr anchor="t" rtlCol="false" tIns="0" lIns="0" bIns="0" rIns="0">
            <a:spAutoFit/>
          </a:bodyPr>
          <a:lstStyle/>
          <a:p>
            <a:pPr algn="ctr">
              <a:lnSpc>
                <a:spcPts val="3311"/>
              </a:lnSpc>
            </a:pPr>
            <a:r>
              <a:rPr lang="en-US" sz="2299" b="true">
                <a:solidFill>
                  <a:srgbClr val="1B293E"/>
                </a:solidFill>
                <a:latin typeface="Times New Roman Bold"/>
                <a:ea typeface="Times New Roman Bold"/>
                <a:cs typeface="Times New Roman Bold"/>
                <a:sym typeface="Times New Roman Bold"/>
              </a:rPr>
              <a:t>Residual</a:t>
            </a:r>
          </a:p>
        </p:txBody>
      </p:sp>
      <p:grpSp>
        <p:nvGrpSpPr>
          <p:cNvPr name="Group 8" id="8"/>
          <p:cNvGrpSpPr/>
          <p:nvPr/>
        </p:nvGrpSpPr>
        <p:grpSpPr>
          <a:xfrm rot="0">
            <a:off x="5173342" y="3230242"/>
            <a:ext cx="4042410" cy="3077204"/>
            <a:chOff x="0" y="0"/>
            <a:chExt cx="5389880" cy="4102938"/>
          </a:xfrm>
        </p:grpSpPr>
        <p:sp>
          <p:nvSpPr>
            <p:cNvPr name="Freeform 9" id="9"/>
            <p:cNvSpPr/>
            <p:nvPr/>
          </p:nvSpPr>
          <p:spPr>
            <a:xfrm flipH="false" flipV="false" rot="0">
              <a:off x="0" y="0"/>
              <a:ext cx="5389880" cy="4102989"/>
            </a:xfrm>
            <a:custGeom>
              <a:avLst/>
              <a:gdLst/>
              <a:ahLst/>
              <a:cxnLst/>
              <a:rect r="r" b="b" t="t" l="l"/>
              <a:pathLst>
                <a:path h="4102989" w="5389880">
                  <a:moveTo>
                    <a:pt x="0" y="0"/>
                  </a:moveTo>
                  <a:lnTo>
                    <a:pt x="5389880" y="0"/>
                  </a:lnTo>
                  <a:lnTo>
                    <a:pt x="5389880" y="4102989"/>
                  </a:lnTo>
                  <a:lnTo>
                    <a:pt x="0" y="4102989"/>
                  </a:lnTo>
                  <a:close/>
                </a:path>
              </a:pathLst>
            </a:custGeom>
            <a:solidFill>
              <a:srgbClr val="FFFFFF"/>
            </a:solidFill>
            <a:ln w="16509" cap="sq">
              <a:solidFill>
                <a:srgbClr val="D1DEED"/>
              </a:solidFill>
              <a:prstDash val="solid"/>
              <a:miter/>
            </a:ln>
          </p:spPr>
        </p:sp>
      </p:grpSp>
      <p:sp>
        <p:nvSpPr>
          <p:cNvPr name="TextBox 10" id="10"/>
          <p:cNvSpPr txBox="true"/>
          <p:nvPr/>
        </p:nvSpPr>
        <p:spPr>
          <a:xfrm rot="0">
            <a:off x="5372100" y="3663953"/>
            <a:ext cx="3632197"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57.265</a:t>
            </a:r>
          </a:p>
        </p:txBody>
      </p:sp>
      <p:sp>
        <p:nvSpPr>
          <p:cNvPr name="TextBox 11" id="11"/>
          <p:cNvSpPr txBox="true"/>
          <p:nvPr/>
        </p:nvSpPr>
        <p:spPr>
          <a:xfrm rot="0">
            <a:off x="5384797" y="5003797"/>
            <a:ext cx="3632197" cy="425211"/>
          </a:xfrm>
          <a:prstGeom prst="rect">
            <a:avLst/>
          </a:prstGeom>
        </p:spPr>
        <p:txBody>
          <a:bodyPr anchor="t" rtlCol="false" tIns="0" lIns="0" bIns="0" rIns="0">
            <a:spAutoFit/>
          </a:bodyPr>
          <a:lstStyle/>
          <a:p>
            <a:pPr algn="ctr">
              <a:lnSpc>
                <a:spcPts val="3311"/>
              </a:lnSpc>
            </a:pPr>
            <a:r>
              <a:rPr lang="en-US" sz="2299" b="true">
                <a:solidFill>
                  <a:srgbClr val="1B293E"/>
                </a:solidFill>
                <a:latin typeface="Times New Roman Bold"/>
                <a:ea typeface="Times New Roman Bold"/>
                <a:cs typeface="Times New Roman Bold"/>
                <a:sym typeface="Times New Roman Bold"/>
              </a:rPr>
              <a:t>Isolation Forest</a:t>
            </a:r>
          </a:p>
        </p:txBody>
      </p:sp>
      <p:grpSp>
        <p:nvGrpSpPr>
          <p:cNvPr name="Group 12" id="12"/>
          <p:cNvGrpSpPr/>
          <p:nvPr/>
        </p:nvGrpSpPr>
        <p:grpSpPr>
          <a:xfrm rot="0">
            <a:off x="9567548" y="3230242"/>
            <a:ext cx="4042410" cy="3077204"/>
            <a:chOff x="0" y="0"/>
            <a:chExt cx="5389880" cy="4102938"/>
          </a:xfrm>
        </p:grpSpPr>
        <p:sp>
          <p:nvSpPr>
            <p:cNvPr name="Freeform 13" id="13"/>
            <p:cNvSpPr/>
            <p:nvPr/>
          </p:nvSpPr>
          <p:spPr>
            <a:xfrm flipH="false" flipV="false" rot="0">
              <a:off x="0" y="0"/>
              <a:ext cx="5389880" cy="4102989"/>
            </a:xfrm>
            <a:custGeom>
              <a:avLst/>
              <a:gdLst/>
              <a:ahLst/>
              <a:cxnLst/>
              <a:rect r="r" b="b" t="t" l="l"/>
              <a:pathLst>
                <a:path h="4102989" w="5389880">
                  <a:moveTo>
                    <a:pt x="0" y="0"/>
                  </a:moveTo>
                  <a:lnTo>
                    <a:pt x="5389880" y="0"/>
                  </a:lnTo>
                  <a:lnTo>
                    <a:pt x="5389880" y="4102989"/>
                  </a:lnTo>
                  <a:lnTo>
                    <a:pt x="0" y="4102989"/>
                  </a:lnTo>
                  <a:close/>
                </a:path>
              </a:pathLst>
            </a:custGeom>
            <a:solidFill>
              <a:srgbClr val="FFFFFF"/>
            </a:solidFill>
            <a:ln w="16509" cap="sq">
              <a:solidFill>
                <a:srgbClr val="D1DEED"/>
              </a:solidFill>
              <a:prstDash val="solid"/>
              <a:miter/>
            </a:ln>
          </p:spPr>
        </p:sp>
      </p:grpSp>
      <p:sp>
        <p:nvSpPr>
          <p:cNvPr name="TextBox 14" id="14"/>
          <p:cNvSpPr txBox="true"/>
          <p:nvPr/>
        </p:nvSpPr>
        <p:spPr>
          <a:xfrm rot="0">
            <a:off x="9766297" y="3663953"/>
            <a:ext cx="3632197"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4.925</a:t>
            </a:r>
          </a:p>
        </p:txBody>
      </p:sp>
      <p:sp>
        <p:nvSpPr>
          <p:cNvPr name="TextBox 15" id="15"/>
          <p:cNvSpPr txBox="true"/>
          <p:nvPr/>
        </p:nvSpPr>
        <p:spPr>
          <a:xfrm rot="0">
            <a:off x="9779003" y="5003797"/>
            <a:ext cx="3632197" cy="425211"/>
          </a:xfrm>
          <a:prstGeom prst="rect">
            <a:avLst/>
          </a:prstGeom>
        </p:spPr>
        <p:txBody>
          <a:bodyPr anchor="t" rtlCol="false" tIns="0" lIns="0" bIns="0" rIns="0">
            <a:spAutoFit/>
          </a:bodyPr>
          <a:lstStyle/>
          <a:p>
            <a:pPr algn="ctr">
              <a:lnSpc>
                <a:spcPts val="3311"/>
              </a:lnSpc>
            </a:pPr>
            <a:r>
              <a:rPr lang="en-US" sz="2299" b="true">
                <a:solidFill>
                  <a:srgbClr val="1B293E"/>
                </a:solidFill>
                <a:latin typeface="Times New Roman Bold"/>
                <a:ea typeface="Times New Roman Bold"/>
                <a:cs typeface="Times New Roman Bold"/>
                <a:sym typeface="Times New Roman Bold"/>
              </a:rPr>
              <a:t>Cả hai cùng cảnh báo</a:t>
            </a:r>
          </a:p>
        </p:txBody>
      </p:sp>
      <p:grpSp>
        <p:nvGrpSpPr>
          <p:cNvPr name="Group 16" id="16"/>
          <p:cNvGrpSpPr/>
          <p:nvPr/>
        </p:nvGrpSpPr>
        <p:grpSpPr>
          <a:xfrm rot="0">
            <a:off x="13961745" y="3230242"/>
            <a:ext cx="4042410" cy="3077204"/>
            <a:chOff x="0" y="0"/>
            <a:chExt cx="5389880" cy="4102938"/>
          </a:xfrm>
        </p:grpSpPr>
        <p:sp>
          <p:nvSpPr>
            <p:cNvPr name="Freeform 17" id="17"/>
            <p:cNvSpPr/>
            <p:nvPr/>
          </p:nvSpPr>
          <p:spPr>
            <a:xfrm flipH="false" flipV="false" rot="0">
              <a:off x="0" y="0"/>
              <a:ext cx="5389880" cy="4102989"/>
            </a:xfrm>
            <a:custGeom>
              <a:avLst/>
              <a:gdLst/>
              <a:ahLst/>
              <a:cxnLst/>
              <a:rect r="r" b="b" t="t" l="l"/>
              <a:pathLst>
                <a:path h="4102989" w="5389880">
                  <a:moveTo>
                    <a:pt x="0" y="0"/>
                  </a:moveTo>
                  <a:lnTo>
                    <a:pt x="5389880" y="0"/>
                  </a:lnTo>
                  <a:lnTo>
                    <a:pt x="5389880" y="4102989"/>
                  </a:lnTo>
                  <a:lnTo>
                    <a:pt x="0" y="4102989"/>
                  </a:lnTo>
                  <a:close/>
                </a:path>
              </a:pathLst>
            </a:custGeom>
            <a:solidFill>
              <a:srgbClr val="FFFFFF"/>
            </a:solidFill>
            <a:ln w="16509" cap="sq">
              <a:solidFill>
                <a:srgbClr val="D1DEED"/>
              </a:solidFill>
              <a:prstDash val="solid"/>
              <a:miter/>
            </a:ln>
          </p:spPr>
        </p:sp>
      </p:grpSp>
      <p:sp>
        <p:nvSpPr>
          <p:cNvPr name="TextBox 18" id="18"/>
          <p:cNvSpPr txBox="true"/>
          <p:nvPr/>
        </p:nvSpPr>
        <p:spPr>
          <a:xfrm rot="0">
            <a:off x="14160503" y="3663953"/>
            <a:ext cx="3632197" cy="847359"/>
          </a:xfrm>
          <a:prstGeom prst="rect">
            <a:avLst/>
          </a:prstGeom>
        </p:spPr>
        <p:txBody>
          <a:bodyPr anchor="t" rtlCol="false" tIns="0" lIns="0" bIns="0" rIns="0">
            <a:spAutoFit/>
          </a:bodyPr>
          <a:lstStyle/>
          <a:p>
            <a:pPr algn="ctr">
              <a:lnSpc>
                <a:spcPts val="6767"/>
              </a:lnSpc>
            </a:pPr>
            <a:r>
              <a:rPr lang="en-US" sz="4699" b="true">
                <a:solidFill>
                  <a:srgbClr val="0643A6"/>
                </a:solidFill>
                <a:latin typeface="Times New Roman Bold"/>
                <a:ea typeface="Times New Roman Bold"/>
                <a:cs typeface="Times New Roman Bold"/>
                <a:sym typeface="Times New Roman Bold"/>
              </a:rPr>
              <a:t>150.292</a:t>
            </a:r>
          </a:p>
        </p:txBody>
      </p:sp>
      <p:sp>
        <p:nvSpPr>
          <p:cNvPr name="TextBox 19" id="19"/>
          <p:cNvSpPr txBox="true"/>
          <p:nvPr/>
        </p:nvSpPr>
        <p:spPr>
          <a:xfrm rot="0">
            <a:off x="14173200" y="5003797"/>
            <a:ext cx="3632197" cy="425211"/>
          </a:xfrm>
          <a:prstGeom prst="rect">
            <a:avLst/>
          </a:prstGeom>
        </p:spPr>
        <p:txBody>
          <a:bodyPr anchor="t" rtlCol="false" tIns="0" lIns="0" bIns="0" rIns="0">
            <a:spAutoFit/>
          </a:bodyPr>
          <a:lstStyle/>
          <a:p>
            <a:pPr algn="ctr">
              <a:lnSpc>
                <a:spcPts val="3311"/>
              </a:lnSpc>
            </a:pPr>
            <a:r>
              <a:rPr lang="en-US" sz="2299" b="true">
                <a:solidFill>
                  <a:srgbClr val="1B293E"/>
                </a:solidFill>
                <a:latin typeface="Times New Roman Bold"/>
                <a:ea typeface="Times New Roman Bold"/>
                <a:cs typeface="Times New Roman Bold"/>
                <a:sym typeface="Times New Roman Bold"/>
              </a:rPr>
              <a:t>Ít nhất một phương pháp</a:t>
            </a:r>
          </a:p>
        </p:txBody>
      </p:sp>
      <p:grpSp>
        <p:nvGrpSpPr>
          <p:cNvPr name="Group 20" id="20"/>
          <p:cNvGrpSpPr/>
          <p:nvPr/>
        </p:nvGrpSpPr>
        <p:grpSpPr>
          <a:xfrm rot="0">
            <a:off x="1257300" y="6883403"/>
            <a:ext cx="15773400" cy="1803397"/>
            <a:chOff x="0" y="0"/>
            <a:chExt cx="21031200" cy="2404529"/>
          </a:xfrm>
        </p:grpSpPr>
        <p:sp>
          <p:nvSpPr>
            <p:cNvPr name="Freeform 21" id="21"/>
            <p:cNvSpPr/>
            <p:nvPr/>
          </p:nvSpPr>
          <p:spPr>
            <a:xfrm flipH="false" flipV="false" rot="0">
              <a:off x="0" y="0"/>
              <a:ext cx="21031200" cy="2404491"/>
            </a:xfrm>
            <a:custGeom>
              <a:avLst/>
              <a:gdLst/>
              <a:ahLst/>
              <a:cxnLst/>
              <a:rect r="r" b="b" t="t" l="l"/>
              <a:pathLst>
                <a:path h="2404491" w="21031200">
                  <a:moveTo>
                    <a:pt x="0" y="0"/>
                  </a:moveTo>
                  <a:lnTo>
                    <a:pt x="21031200" y="0"/>
                  </a:lnTo>
                  <a:lnTo>
                    <a:pt x="21031200" y="2404491"/>
                  </a:lnTo>
                  <a:lnTo>
                    <a:pt x="0" y="2404491"/>
                  </a:lnTo>
                  <a:close/>
                </a:path>
              </a:pathLst>
            </a:custGeom>
            <a:solidFill>
              <a:srgbClr val="F0F6FD"/>
            </a:solidFill>
          </p:spPr>
        </p:sp>
      </p:grpSp>
      <p:sp>
        <p:nvSpPr>
          <p:cNvPr name="TextBox 22" id="22"/>
          <p:cNvSpPr txBox="true"/>
          <p:nvPr/>
        </p:nvSpPr>
        <p:spPr>
          <a:xfrm rot="0">
            <a:off x="1549403" y="7124700"/>
            <a:ext cx="15201900" cy="479725"/>
          </a:xfrm>
          <a:prstGeom prst="rect">
            <a:avLst/>
          </a:prstGeom>
        </p:spPr>
        <p:txBody>
          <a:bodyPr anchor="t" rtlCol="false" tIns="0" lIns="0" bIns="0" rIns="0">
            <a:spAutoFit/>
          </a:bodyPr>
          <a:lstStyle/>
          <a:p>
            <a:pPr algn="ctr">
              <a:lnSpc>
                <a:spcPts val="3885"/>
              </a:lnSpc>
            </a:pPr>
            <a:r>
              <a:rPr lang="en-US" sz="2698" b="true">
                <a:solidFill>
                  <a:srgbClr val="1B293E"/>
                </a:solidFill>
                <a:latin typeface="Times New Roman Bold"/>
                <a:ea typeface="Times New Roman Bold"/>
                <a:cs typeface="Times New Roman Bold"/>
                <a:sym typeface="Times New Roman Bold"/>
              </a:rPr>
              <a:t>Mô phỏng 500 điểm: Precision 1,000 · Recall 0,730 · F1 0,844</a:t>
            </a:r>
          </a:p>
        </p:txBody>
      </p:sp>
      <p:sp>
        <p:nvSpPr>
          <p:cNvPr name="Freeform 23" id="23"/>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sp>
        <p:nvSpPr>
          <p:cNvPr name="TextBox 3" id="3"/>
          <p:cNvSpPr txBox="true"/>
          <p:nvPr/>
        </p:nvSpPr>
        <p:spPr>
          <a:xfrm rot="0">
            <a:off x="990600" y="679447"/>
            <a:ext cx="16306800" cy="1083991"/>
          </a:xfrm>
          <a:prstGeom prst="rect">
            <a:avLst/>
          </a:prstGeom>
        </p:spPr>
        <p:txBody>
          <a:bodyPr anchor="t" rtlCol="false" tIns="0" lIns="0" bIns="0" rIns="0">
            <a:spAutoFit/>
          </a:bodyPr>
          <a:lstStyle/>
          <a:p>
            <a:pPr algn="l">
              <a:lnSpc>
                <a:spcPts val="8637"/>
              </a:lnSpc>
            </a:pPr>
            <a:r>
              <a:rPr lang="en-US" sz="5998" b="true">
                <a:solidFill>
                  <a:srgbClr val="0643A6"/>
                </a:solidFill>
                <a:latin typeface="Times New Roman Bold"/>
                <a:ea typeface="Times New Roman Bold"/>
                <a:cs typeface="Times New Roman Bold"/>
                <a:sym typeface="Times New Roman Bold"/>
              </a:rPr>
              <a:t>KẾT QUẢ DỰ BÁO</a:t>
            </a:r>
          </a:p>
        </p:txBody>
      </p:sp>
      <p:sp>
        <p:nvSpPr>
          <p:cNvPr name="TextBox 4" id="4"/>
          <p:cNvSpPr txBox="true"/>
          <p:nvPr/>
        </p:nvSpPr>
        <p:spPr>
          <a:xfrm rot="0">
            <a:off x="1549403" y="2901953"/>
            <a:ext cx="9017003" cy="546781"/>
          </a:xfrm>
          <a:prstGeom prst="rect">
            <a:avLst/>
          </a:prstGeom>
        </p:spPr>
        <p:txBody>
          <a:bodyPr anchor="t" rtlCol="false" tIns="0" lIns="0" bIns="0" rIns="0">
            <a:spAutoFit/>
          </a:bodyPr>
          <a:lstStyle/>
          <a:p>
            <a:pPr algn="l">
              <a:lnSpc>
                <a:spcPts val="4317"/>
              </a:lnSpc>
            </a:pPr>
            <a:r>
              <a:rPr lang="en-US" sz="2998" b="true">
                <a:solidFill>
                  <a:srgbClr val="0643A6"/>
                </a:solidFill>
                <a:latin typeface="Times New Roman Bold"/>
                <a:ea typeface="Times New Roman Bold"/>
                <a:cs typeface="Times New Roman Bold"/>
                <a:sym typeface="Times New Roman Bold"/>
              </a:rPr>
              <a:t>WAPE TRÊN VALIDATION</a:t>
            </a:r>
          </a:p>
        </p:txBody>
      </p:sp>
      <p:grpSp>
        <p:nvGrpSpPr>
          <p:cNvPr name="Group 5" id="5"/>
          <p:cNvGrpSpPr/>
          <p:nvPr/>
        </p:nvGrpSpPr>
        <p:grpSpPr>
          <a:xfrm rot="0">
            <a:off x="1517647" y="3854453"/>
            <a:ext cx="9144000" cy="1117597"/>
            <a:chOff x="0" y="0"/>
            <a:chExt cx="12192000" cy="1490129"/>
          </a:xfrm>
        </p:grpSpPr>
        <p:sp>
          <p:nvSpPr>
            <p:cNvPr name="Freeform 6" id="6"/>
            <p:cNvSpPr/>
            <p:nvPr/>
          </p:nvSpPr>
          <p:spPr>
            <a:xfrm flipH="false" flipV="false" rot="0">
              <a:off x="0" y="0"/>
              <a:ext cx="12192000" cy="1490091"/>
            </a:xfrm>
            <a:custGeom>
              <a:avLst/>
              <a:gdLst/>
              <a:ahLst/>
              <a:cxnLst/>
              <a:rect r="r" b="b" t="t" l="l"/>
              <a:pathLst>
                <a:path h="1490091" w="12192000">
                  <a:moveTo>
                    <a:pt x="0" y="0"/>
                  </a:moveTo>
                  <a:lnTo>
                    <a:pt x="12192000" y="0"/>
                  </a:lnTo>
                  <a:lnTo>
                    <a:pt x="12192000" y="1490091"/>
                  </a:lnTo>
                  <a:lnTo>
                    <a:pt x="0" y="1490091"/>
                  </a:lnTo>
                  <a:close/>
                </a:path>
              </a:pathLst>
            </a:custGeom>
            <a:solidFill>
              <a:srgbClr val="FFFFFF"/>
            </a:solidFill>
            <a:ln w="12699" cap="sq">
              <a:solidFill>
                <a:srgbClr val="D1DEED"/>
              </a:solidFill>
              <a:prstDash val="solid"/>
              <a:miter/>
            </a:ln>
          </p:spPr>
        </p:sp>
      </p:grpSp>
      <p:sp>
        <p:nvSpPr>
          <p:cNvPr name="TextBox 7" id="7"/>
          <p:cNvSpPr txBox="true"/>
          <p:nvPr/>
        </p:nvSpPr>
        <p:spPr>
          <a:xfrm rot="0">
            <a:off x="1943100" y="4029075"/>
            <a:ext cx="5689597" cy="505236"/>
          </a:xfrm>
          <a:prstGeom prst="rect">
            <a:avLst/>
          </a:prstGeom>
        </p:spPr>
        <p:txBody>
          <a:bodyPr anchor="t" rtlCol="false" tIns="0" lIns="0" bIns="0" rIns="0">
            <a:spAutoFit/>
          </a:bodyPr>
          <a:lstStyle/>
          <a:p>
            <a:pPr algn="l">
              <a:lnSpc>
                <a:spcPts val="4030"/>
              </a:lnSpc>
            </a:pPr>
            <a:r>
              <a:rPr lang="en-US" sz="2799">
                <a:solidFill>
                  <a:srgbClr val="1B293E"/>
                </a:solidFill>
                <a:latin typeface="Times New Roman"/>
                <a:ea typeface="Times New Roman"/>
                <a:cs typeface="Times New Roman"/>
                <a:sym typeface="Times New Roman"/>
              </a:rPr>
              <a:t>Lag-24</a:t>
            </a:r>
          </a:p>
        </p:txBody>
      </p:sp>
      <p:sp>
        <p:nvSpPr>
          <p:cNvPr name="TextBox 8" id="8"/>
          <p:cNvSpPr txBox="true"/>
          <p:nvPr/>
        </p:nvSpPr>
        <p:spPr>
          <a:xfrm rot="0">
            <a:off x="8001000" y="3959228"/>
            <a:ext cx="2362200" cy="588279"/>
          </a:xfrm>
          <a:prstGeom prst="rect">
            <a:avLst/>
          </a:prstGeom>
        </p:spPr>
        <p:txBody>
          <a:bodyPr anchor="t" rtlCol="false" tIns="0" lIns="0" bIns="0" rIns="0">
            <a:spAutoFit/>
          </a:bodyPr>
          <a:lstStyle/>
          <a:p>
            <a:pPr algn="r">
              <a:lnSpc>
                <a:spcPts val="4607"/>
              </a:lnSpc>
            </a:pPr>
            <a:r>
              <a:rPr lang="en-US" sz="3199" b="true">
                <a:solidFill>
                  <a:srgbClr val="0643A6"/>
                </a:solidFill>
                <a:latin typeface="Times New Roman Bold"/>
                <a:ea typeface="Times New Roman Bold"/>
                <a:cs typeface="Times New Roman Bold"/>
                <a:sym typeface="Times New Roman Bold"/>
              </a:rPr>
              <a:t>9,903%</a:t>
            </a:r>
          </a:p>
        </p:txBody>
      </p:sp>
      <p:grpSp>
        <p:nvGrpSpPr>
          <p:cNvPr name="Group 9" id="9"/>
          <p:cNvGrpSpPr/>
          <p:nvPr/>
        </p:nvGrpSpPr>
        <p:grpSpPr>
          <a:xfrm rot="0">
            <a:off x="1517647" y="5111753"/>
            <a:ext cx="9144000" cy="1117597"/>
            <a:chOff x="0" y="0"/>
            <a:chExt cx="12192000" cy="1490129"/>
          </a:xfrm>
        </p:grpSpPr>
        <p:sp>
          <p:nvSpPr>
            <p:cNvPr name="Freeform 10" id="10"/>
            <p:cNvSpPr/>
            <p:nvPr/>
          </p:nvSpPr>
          <p:spPr>
            <a:xfrm flipH="false" flipV="false" rot="0">
              <a:off x="0" y="0"/>
              <a:ext cx="12192000" cy="1490091"/>
            </a:xfrm>
            <a:custGeom>
              <a:avLst/>
              <a:gdLst/>
              <a:ahLst/>
              <a:cxnLst/>
              <a:rect r="r" b="b" t="t" l="l"/>
              <a:pathLst>
                <a:path h="1490091" w="12192000">
                  <a:moveTo>
                    <a:pt x="0" y="0"/>
                  </a:moveTo>
                  <a:lnTo>
                    <a:pt x="12192000" y="0"/>
                  </a:lnTo>
                  <a:lnTo>
                    <a:pt x="12192000" y="1490091"/>
                  </a:lnTo>
                  <a:lnTo>
                    <a:pt x="0" y="1490091"/>
                  </a:lnTo>
                  <a:close/>
                </a:path>
              </a:pathLst>
            </a:custGeom>
            <a:solidFill>
              <a:srgbClr val="FFFFFF"/>
            </a:solidFill>
            <a:ln w="12699" cap="sq">
              <a:solidFill>
                <a:srgbClr val="D1DEED"/>
              </a:solidFill>
              <a:prstDash val="solid"/>
              <a:miter/>
            </a:ln>
          </p:spPr>
        </p:sp>
      </p:grpSp>
      <p:sp>
        <p:nvSpPr>
          <p:cNvPr name="TextBox 11" id="11"/>
          <p:cNvSpPr txBox="true"/>
          <p:nvPr/>
        </p:nvSpPr>
        <p:spPr>
          <a:xfrm rot="0">
            <a:off x="1943100" y="5286375"/>
            <a:ext cx="5689597" cy="505236"/>
          </a:xfrm>
          <a:prstGeom prst="rect">
            <a:avLst/>
          </a:prstGeom>
        </p:spPr>
        <p:txBody>
          <a:bodyPr anchor="t" rtlCol="false" tIns="0" lIns="0" bIns="0" rIns="0">
            <a:spAutoFit/>
          </a:bodyPr>
          <a:lstStyle/>
          <a:p>
            <a:pPr algn="l">
              <a:lnSpc>
                <a:spcPts val="4030"/>
              </a:lnSpc>
            </a:pPr>
            <a:r>
              <a:rPr lang="en-US" sz="2799">
                <a:solidFill>
                  <a:srgbClr val="1B293E"/>
                </a:solidFill>
                <a:latin typeface="Times New Roman"/>
                <a:ea typeface="Times New Roman"/>
                <a:cs typeface="Times New Roman"/>
                <a:sym typeface="Times New Roman"/>
              </a:rPr>
              <a:t>LightGBM</a:t>
            </a:r>
          </a:p>
        </p:txBody>
      </p:sp>
      <p:sp>
        <p:nvSpPr>
          <p:cNvPr name="TextBox 12" id="12"/>
          <p:cNvSpPr txBox="true"/>
          <p:nvPr/>
        </p:nvSpPr>
        <p:spPr>
          <a:xfrm rot="0">
            <a:off x="8001000" y="5216528"/>
            <a:ext cx="2362200" cy="588279"/>
          </a:xfrm>
          <a:prstGeom prst="rect">
            <a:avLst/>
          </a:prstGeom>
        </p:spPr>
        <p:txBody>
          <a:bodyPr anchor="t" rtlCol="false" tIns="0" lIns="0" bIns="0" rIns="0">
            <a:spAutoFit/>
          </a:bodyPr>
          <a:lstStyle/>
          <a:p>
            <a:pPr algn="r">
              <a:lnSpc>
                <a:spcPts val="4607"/>
              </a:lnSpc>
            </a:pPr>
            <a:r>
              <a:rPr lang="en-US" sz="3199" b="true">
                <a:solidFill>
                  <a:srgbClr val="0643A6"/>
                </a:solidFill>
                <a:latin typeface="Times New Roman Bold"/>
                <a:ea typeface="Times New Roman Bold"/>
                <a:cs typeface="Times New Roman Bold"/>
                <a:sym typeface="Times New Roman Bold"/>
              </a:rPr>
              <a:t>8,896%</a:t>
            </a:r>
          </a:p>
        </p:txBody>
      </p:sp>
      <p:grpSp>
        <p:nvGrpSpPr>
          <p:cNvPr name="Group 13" id="13"/>
          <p:cNvGrpSpPr/>
          <p:nvPr/>
        </p:nvGrpSpPr>
        <p:grpSpPr>
          <a:xfrm rot="0">
            <a:off x="1517647" y="6369053"/>
            <a:ext cx="9144000" cy="1117597"/>
            <a:chOff x="0" y="0"/>
            <a:chExt cx="12192000" cy="1490129"/>
          </a:xfrm>
        </p:grpSpPr>
        <p:sp>
          <p:nvSpPr>
            <p:cNvPr name="Freeform 14" id="14"/>
            <p:cNvSpPr/>
            <p:nvPr/>
          </p:nvSpPr>
          <p:spPr>
            <a:xfrm flipH="false" flipV="false" rot="0">
              <a:off x="0" y="0"/>
              <a:ext cx="12192000" cy="1490091"/>
            </a:xfrm>
            <a:custGeom>
              <a:avLst/>
              <a:gdLst/>
              <a:ahLst/>
              <a:cxnLst/>
              <a:rect r="r" b="b" t="t" l="l"/>
              <a:pathLst>
                <a:path h="1490091" w="12192000">
                  <a:moveTo>
                    <a:pt x="0" y="0"/>
                  </a:moveTo>
                  <a:lnTo>
                    <a:pt x="12192000" y="0"/>
                  </a:lnTo>
                  <a:lnTo>
                    <a:pt x="12192000" y="1490091"/>
                  </a:lnTo>
                  <a:lnTo>
                    <a:pt x="0" y="1490091"/>
                  </a:lnTo>
                  <a:close/>
                </a:path>
              </a:pathLst>
            </a:custGeom>
            <a:solidFill>
              <a:srgbClr val="F0F6FD"/>
            </a:solidFill>
            <a:ln w="12699" cap="sq">
              <a:solidFill>
                <a:srgbClr val="D1DEED"/>
              </a:solidFill>
              <a:prstDash val="solid"/>
              <a:miter/>
            </a:ln>
          </p:spPr>
        </p:sp>
      </p:grpSp>
      <p:sp>
        <p:nvSpPr>
          <p:cNvPr name="TextBox 15" id="15"/>
          <p:cNvSpPr txBox="true"/>
          <p:nvPr/>
        </p:nvSpPr>
        <p:spPr>
          <a:xfrm rot="0">
            <a:off x="1943100" y="6543675"/>
            <a:ext cx="5689597" cy="505236"/>
          </a:xfrm>
          <a:prstGeom prst="rect">
            <a:avLst/>
          </a:prstGeom>
        </p:spPr>
        <p:txBody>
          <a:bodyPr anchor="t" rtlCol="false" tIns="0" lIns="0" bIns="0" rIns="0">
            <a:spAutoFit/>
          </a:bodyPr>
          <a:lstStyle/>
          <a:p>
            <a:pPr algn="l">
              <a:lnSpc>
                <a:spcPts val="4030"/>
              </a:lnSpc>
            </a:pPr>
            <a:r>
              <a:rPr lang="en-US" sz="2799" b="true">
                <a:solidFill>
                  <a:srgbClr val="1B293E"/>
                </a:solidFill>
                <a:latin typeface="Times New Roman Bold"/>
                <a:ea typeface="Times New Roman Bold"/>
                <a:cs typeface="Times New Roman Bold"/>
                <a:sym typeface="Times New Roman Bold"/>
              </a:rPr>
              <a:t>Random Forest</a:t>
            </a:r>
          </a:p>
        </p:txBody>
      </p:sp>
      <p:sp>
        <p:nvSpPr>
          <p:cNvPr name="TextBox 16" id="16"/>
          <p:cNvSpPr txBox="true"/>
          <p:nvPr/>
        </p:nvSpPr>
        <p:spPr>
          <a:xfrm rot="0">
            <a:off x="8001000" y="6473828"/>
            <a:ext cx="2362200" cy="588279"/>
          </a:xfrm>
          <a:prstGeom prst="rect">
            <a:avLst/>
          </a:prstGeom>
        </p:spPr>
        <p:txBody>
          <a:bodyPr anchor="t" rtlCol="false" tIns="0" lIns="0" bIns="0" rIns="0">
            <a:spAutoFit/>
          </a:bodyPr>
          <a:lstStyle/>
          <a:p>
            <a:pPr algn="r">
              <a:lnSpc>
                <a:spcPts val="4607"/>
              </a:lnSpc>
            </a:pPr>
            <a:r>
              <a:rPr lang="en-US" sz="3199" b="true">
                <a:solidFill>
                  <a:srgbClr val="0643A6"/>
                </a:solidFill>
                <a:latin typeface="Times New Roman Bold"/>
                <a:ea typeface="Times New Roman Bold"/>
                <a:cs typeface="Times New Roman Bold"/>
                <a:sym typeface="Times New Roman Bold"/>
              </a:rPr>
              <a:t>7,982%</a:t>
            </a:r>
          </a:p>
        </p:txBody>
      </p:sp>
      <p:sp>
        <p:nvSpPr>
          <p:cNvPr name="TextBox 17" id="17"/>
          <p:cNvSpPr txBox="true"/>
          <p:nvPr/>
        </p:nvSpPr>
        <p:spPr>
          <a:xfrm rot="0">
            <a:off x="11556997" y="2924175"/>
            <a:ext cx="5397503" cy="505236"/>
          </a:xfrm>
          <a:prstGeom prst="rect">
            <a:avLst/>
          </a:prstGeom>
        </p:spPr>
        <p:txBody>
          <a:bodyPr anchor="t" rtlCol="false" tIns="0" lIns="0" bIns="0" rIns="0">
            <a:spAutoFit/>
          </a:bodyPr>
          <a:lstStyle/>
          <a:p>
            <a:pPr algn="l">
              <a:lnSpc>
                <a:spcPts val="4030"/>
              </a:lnSpc>
            </a:pPr>
            <a:r>
              <a:rPr lang="en-US" sz="2799" b="true">
                <a:solidFill>
                  <a:srgbClr val="0643A6"/>
                </a:solidFill>
                <a:latin typeface="Times New Roman Bold"/>
                <a:ea typeface="Times New Roman Bold"/>
                <a:cs typeface="Times New Roman Bold"/>
                <a:sym typeface="Times New Roman Bold"/>
              </a:rPr>
              <a:t>RANDOM FOREST TRÊN TEST</a:t>
            </a:r>
          </a:p>
        </p:txBody>
      </p:sp>
      <p:grpSp>
        <p:nvGrpSpPr>
          <p:cNvPr name="Group 18" id="18"/>
          <p:cNvGrpSpPr/>
          <p:nvPr/>
        </p:nvGrpSpPr>
        <p:grpSpPr>
          <a:xfrm rot="0">
            <a:off x="11420475" y="3863978"/>
            <a:ext cx="5594347" cy="3625844"/>
            <a:chOff x="0" y="0"/>
            <a:chExt cx="7459129" cy="4834458"/>
          </a:xfrm>
        </p:grpSpPr>
        <p:sp>
          <p:nvSpPr>
            <p:cNvPr name="Freeform 19" id="19"/>
            <p:cNvSpPr/>
            <p:nvPr/>
          </p:nvSpPr>
          <p:spPr>
            <a:xfrm flipH="false" flipV="false" rot="0">
              <a:off x="0" y="0"/>
              <a:ext cx="7459091" cy="4834509"/>
            </a:xfrm>
            <a:custGeom>
              <a:avLst/>
              <a:gdLst/>
              <a:ahLst/>
              <a:cxnLst/>
              <a:rect r="r" b="b" t="t" l="l"/>
              <a:pathLst>
                <a:path h="4834509" w="7459091">
                  <a:moveTo>
                    <a:pt x="0" y="0"/>
                  </a:moveTo>
                  <a:lnTo>
                    <a:pt x="7459091" y="0"/>
                  </a:lnTo>
                  <a:lnTo>
                    <a:pt x="7459091" y="4834509"/>
                  </a:lnTo>
                  <a:lnTo>
                    <a:pt x="0" y="4834509"/>
                  </a:lnTo>
                  <a:close/>
                </a:path>
              </a:pathLst>
            </a:custGeom>
            <a:solidFill>
              <a:srgbClr val="FFFFFF"/>
            </a:solidFill>
            <a:ln w="19048" cap="sq">
              <a:solidFill>
                <a:srgbClr val="D1DEED"/>
              </a:solidFill>
              <a:prstDash val="solid"/>
              <a:miter/>
            </a:ln>
          </p:spPr>
        </p:sp>
      </p:grpSp>
      <p:sp>
        <p:nvSpPr>
          <p:cNvPr name="TextBox 20" id="20"/>
          <p:cNvSpPr txBox="true"/>
          <p:nvPr/>
        </p:nvSpPr>
        <p:spPr>
          <a:xfrm rot="0">
            <a:off x="11760203" y="4025903"/>
            <a:ext cx="2031997" cy="463692"/>
          </a:xfrm>
          <a:prstGeom prst="rect">
            <a:avLst/>
          </a:prstGeom>
        </p:spPr>
        <p:txBody>
          <a:bodyPr anchor="t" rtlCol="false" tIns="0" lIns="0" bIns="0" rIns="0">
            <a:spAutoFit/>
          </a:bodyPr>
          <a:lstStyle/>
          <a:p>
            <a:pPr algn="l">
              <a:lnSpc>
                <a:spcPts val="3743"/>
              </a:lnSpc>
            </a:pPr>
            <a:r>
              <a:rPr lang="en-US" sz="2599" b="true">
                <a:solidFill>
                  <a:srgbClr val="53637A"/>
                </a:solidFill>
                <a:latin typeface="Times New Roman Bold"/>
                <a:ea typeface="Times New Roman Bold"/>
                <a:cs typeface="Times New Roman Bold"/>
                <a:sym typeface="Times New Roman Bold"/>
              </a:rPr>
              <a:t>MAE</a:t>
            </a:r>
          </a:p>
        </p:txBody>
      </p:sp>
      <p:sp>
        <p:nvSpPr>
          <p:cNvPr name="TextBox 21" id="21"/>
          <p:cNvSpPr txBox="true"/>
          <p:nvPr/>
        </p:nvSpPr>
        <p:spPr>
          <a:xfrm rot="0">
            <a:off x="13665203" y="4016378"/>
            <a:ext cx="3098797" cy="505236"/>
          </a:xfrm>
          <a:prstGeom prst="rect">
            <a:avLst/>
          </a:prstGeom>
        </p:spPr>
        <p:txBody>
          <a:bodyPr anchor="t" rtlCol="false" tIns="0" lIns="0" bIns="0" rIns="0">
            <a:spAutoFit/>
          </a:bodyPr>
          <a:lstStyle/>
          <a:p>
            <a:pPr algn="r">
              <a:lnSpc>
                <a:spcPts val="4030"/>
              </a:lnSpc>
            </a:pPr>
            <a:r>
              <a:rPr lang="en-US" sz="2799" b="true">
                <a:solidFill>
                  <a:srgbClr val="0643A6"/>
                </a:solidFill>
                <a:latin typeface="Times New Roman Bold"/>
                <a:ea typeface="Times New Roman Bold"/>
                <a:cs typeface="Times New Roman Bold"/>
                <a:sym typeface="Times New Roman Bold"/>
              </a:rPr>
              <a:t>11,484 kWh</a:t>
            </a:r>
          </a:p>
        </p:txBody>
      </p:sp>
      <p:sp>
        <p:nvSpPr>
          <p:cNvPr name="TextBox 22" id="22"/>
          <p:cNvSpPr txBox="true"/>
          <p:nvPr/>
        </p:nvSpPr>
        <p:spPr>
          <a:xfrm rot="0">
            <a:off x="11760203" y="4851397"/>
            <a:ext cx="2031997" cy="463692"/>
          </a:xfrm>
          <a:prstGeom prst="rect">
            <a:avLst/>
          </a:prstGeom>
        </p:spPr>
        <p:txBody>
          <a:bodyPr anchor="t" rtlCol="false" tIns="0" lIns="0" bIns="0" rIns="0">
            <a:spAutoFit/>
          </a:bodyPr>
          <a:lstStyle/>
          <a:p>
            <a:pPr algn="l">
              <a:lnSpc>
                <a:spcPts val="3743"/>
              </a:lnSpc>
            </a:pPr>
            <a:r>
              <a:rPr lang="en-US" sz="2599" b="true">
                <a:solidFill>
                  <a:srgbClr val="53637A"/>
                </a:solidFill>
                <a:latin typeface="Times New Roman Bold"/>
                <a:ea typeface="Times New Roman Bold"/>
                <a:cs typeface="Times New Roman Bold"/>
                <a:sym typeface="Times New Roman Bold"/>
              </a:rPr>
              <a:t>RMSE</a:t>
            </a:r>
          </a:p>
        </p:txBody>
      </p:sp>
      <p:sp>
        <p:nvSpPr>
          <p:cNvPr name="TextBox 23" id="23"/>
          <p:cNvSpPr txBox="true"/>
          <p:nvPr/>
        </p:nvSpPr>
        <p:spPr>
          <a:xfrm rot="0">
            <a:off x="13665203" y="4841872"/>
            <a:ext cx="3098797" cy="505236"/>
          </a:xfrm>
          <a:prstGeom prst="rect">
            <a:avLst/>
          </a:prstGeom>
        </p:spPr>
        <p:txBody>
          <a:bodyPr anchor="t" rtlCol="false" tIns="0" lIns="0" bIns="0" rIns="0">
            <a:spAutoFit/>
          </a:bodyPr>
          <a:lstStyle/>
          <a:p>
            <a:pPr algn="r">
              <a:lnSpc>
                <a:spcPts val="4030"/>
              </a:lnSpc>
            </a:pPr>
            <a:r>
              <a:rPr lang="en-US" sz="2799" b="true">
                <a:solidFill>
                  <a:srgbClr val="0643A6"/>
                </a:solidFill>
                <a:latin typeface="Times New Roman Bold"/>
                <a:ea typeface="Times New Roman Bold"/>
                <a:cs typeface="Times New Roman Bold"/>
                <a:sym typeface="Times New Roman Bold"/>
              </a:rPr>
              <a:t>45,603 kWh</a:t>
            </a:r>
          </a:p>
        </p:txBody>
      </p:sp>
      <p:sp>
        <p:nvSpPr>
          <p:cNvPr name="TextBox 24" id="24"/>
          <p:cNvSpPr txBox="true"/>
          <p:nvPr/>
        </p:nvSpPr>
        <p:spPr>
          <a:xfrm rot="0">
            <a:off x="11760203" y="5676900"/>
            <a:ext cx="2031997" cy="463692"/>
          </a:xfrm>
          <a:prstGeom prst="rect">
            <a:avLst/>
          </a:prstGeom>
        </p:spPr>
        <p:txBody>
          <a:bodyPr anchor="t" rtlCol="false" tIns="0" lIns="0" bIns="0" rIns="0">
            <a:spAutoFit/>
          </a:bodyPr>
          <a:lstStyle/>
          <a:p>
            <a:pPr algn="l">
              <a:lnSpc>
                <a:spcPts val="3743"/>
              </a:lnSpc>
            </a:pPr>
            <a:r>
              <a:rPr lang="en-US" sz="2599" b="true">
                <a:solidFill>
                  <a:srgbClr val="53637A"/>
                </a:solidFill>
                <a:latin typeface="Times New Roman Bold"/>
                <a:ea typeface="Times New Roman Bold"/>
                <a:cs typeface="Times New Roman Bold"/>
                <a:sym typeface="Times New Roman Bold"/>
              </a:rPr>
              <a:t>WAPE</a:t>
            </a:r>
          </a:p>
        </p:txBody>
      </p:sp>
      <p:sp>
        <p:nvSpPr>
          <p:cNvPr name="TextBox 25" id="25"/>
          <p:cNvSpPr txBox="true"/>
          <p:nvPr/>
        </p:nvSpPr>
        <p:spPr>
          <a:xfrm rot="0">
            <a:off x="13665203" y="5667375"/>
            <a:ext cx="3098797" cy="505236"/>
          </a:xfrm>
          <a:prstGeom prst="rect">
            <a:avLst/>
          </a:prstGeom>
        </p:spPr>
        <p:txBody>
          <a:bodyPr anchor="t" rtlCol="false" tIns="0" lIns="0" bIns="0" rIns="0">
            <a:spAutoFit/>
          </a:bodyPr>
          <a:lstStyle/>
          <a:p>
            <a:pPr algn="r">
              <a:lnSpc>
                <a:spcPts val="4030"/>
              </a:lnSpc>
            </a:pPr>
            <a:r>
              <a:rPr lang="en-US" sz="2799" b="true">
                <a:solidFill>
                  <a:srgbClr val="0643A6"/>
                </a:solidFill>
                <a:latin typeface="Times New Roman Bold"/>
                <a:ea typeface="Times New Roman Bold"/>
                <a:cs typeface="Times New Roman Bold"/>
                <a:sym typeface="Times New Roman Bold"/>
              </a:rPr>
              <a:t>8,379%</a:t>
            </a:r>
          </a:p>
        </p:txBody>
      </p:sp>
      <p:sp>
        <p:nvSpPr>
          <p:cNvPr name="TextBox 26" id="26"/>
          <p:cNvSpPr txBox="true"/>
          <p:nvPr/>
        </p:nvSpPr>
        <p:spPr>
          <a:xfrm rot="0">
            <a:off x="11760203" y="6502403"/>
            <a:ext cx="2031997" cy="463692"/>
          </a:xfrm>
          <a:prstGeom prst="rect">
            <a:avLst/>
          </a:prstGeom>
        </p:spPr>
        <p:txBody>
          <a:bodyPr anchor="t" rtlCol="false" tIns="0" lIns="0" bIns="0" rIns="0">
            <a:spAutoFit/>
          </a:bodyPr>
          <a:lstStyle/>
          <a:p>
            <a:pPr algn="l">
              <a:lnSpc>
                <a:spcPts val="3743"/>
              </a:lnSpc>
            </a:pPr>
            <a:r>
              <a:rPr lang="en-US" sz="2599" b="true">
                <a:solidFill>
                  <a:srgbClr val="53637A"/>
                </a:solidFill>
                <a:latin typeface="Times New Roman Bold"/>
                <a:ea typeface="Times New Roman Bold"/>
                <a:cs typeface="Times New Roman Bold"/>
                <a:sym typeface="Times New Roman Bold"/>
              </a:rPr>
              <a:t>R²</a:t>
            </a:r>
          </a:p>
        </p:txBody>
      </p:sp>
      <p:sp>
        <p:nvSpPr>
          <p:cNvPr name="TextBox 27" id="27"/>
          <p:cNvSpPr txBox="true"/>
          <p:nvPr/>
        </p:nvSpPr>
        <p:spPr>
          <a:xfrm rot="0">
            <a:off x="13665203" y="6492878"/>
            <a:ext cx="3098797" cy="505236"/>
          </a:xfrm>
          <a:prstGeom prst="rect">
            <a:avLst/>
          </a:prstGeom>
        </p:spPr>
        <p:txBody>
          <a:bodyPr anchor="t" rtlCol="false" tIns="0" lIns="0" bIns="0" rIns="0">
            <a:spAutoFit/>
          </a:bodyPr>
          <a:lstStyle/>
          <a:p>
            <a:pPr algn="r">
              <a:lnSpc>
                <a:spcPts val="4030"/>
              </a:lnSpc>
            </a:pPr>
            <a:r>
              <a:rPr lang="en-US" sz="2799" b="true">
                <a:solidFill>
                  <a:srgbClr val="0643A6"/>
                </a:solidFill>
                <a:latin typeface="Times New Roman Bold"/>
                <a:ea typeface="Times New Roman Bold"/>
                <a:cs typeface="Times New Roman Bold"/>
                <a:sym typeface="Times New Roman Bold"/>
              </a:rPr>
              <a:t>0,968</a:t>
            </a:r>
          </a:p>
        </p:txBody>
      </p:sp>
      <p:sp>
        <p:nvSpPr>
          <p:cNvPr name="Freeform 28" id="28"/>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9" id="29"/>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24354" r="-1468" b="-56033"/>
            </a:stretch>
          </a:blipFill>
        </p:spPr>
      </p:sp>
      <p:grpSp>
        <p:nvGrpSpPr>
          <p:cNvPr name="Group 3" id="3"/>
          <p:cNvGrpSpPr/>
          <p:nvPr/>
        </p:nvGrpSpPr>
        <p:grpSpPr>
          <a:xfrm rot="0">
            <a:off x="4222738" y="3032292"/>
            <a:ext cx="11379203" cy="5089665"/>
            <a:chOff x="0" y="0"/>
            <a:chExt cx="15172271" cy="6786220"/>
          </a:xfrm>
        </p:grpSpPr>
        <p:sp>
          <p:nvSpPr>
            <p:cNvPr name="Freeform 4" id="4"/>
            <p:cNvSpPr/>
            <p:nvPr/>
          </p:nvSpPr>
          <p:spPr>
            <a:xfrm flipH="false" flipV="false" rot="0">
              <a:off x="0" y="0"/>
              <a:ext cx="15172310" cy="6786170"/>
            </a:xfrm>
            <a:custGeom>
              <a:avLst/>
              <a:gdLst/>
              <a:ahLst/>
              <a:cxnLst/>
              <a:rect r="r" b="b" t="t" l="l"/>
              <a:pathLst>
                <a:path h="6786170" w="15172310">
                  <a:moveTo>
                    <a:pt x="0" y="0"/>
                  </a:moveTo>
                  <a:lnTo>
                    <a:pt x="15172310" y="0"/>
                  </a:lnTo>
                  <a:lnTo>
                    <a:pt x="15172310" y="6786170"/>
                  </a:lnTo>
                  <a:lnTo>
                    <a:pt x="0" y="6786170"/>
                  </a:lnTo>
                  <a:close/>
                </a:path>
              </a:pathLst>
            </a:custGeom>
            <a:solidFill>
              <a:srgbClr val="FFFFFF"/>
            </a:solidFill>
          </p:spPr>
        </p:sp>
      </p:grpSp>
      <p:sp>
        <p:nvSpPr>
          <p:cNvPr name="Freeform 5" id="5"/>
          <p:cNvSpPr/>
          <p:nvPr/>
        </p:nvSpPr>
        <p:spPr>
          <a:xfrm flipH="false" flipV="false" rot="0">
            <a:off x="5486400" y="4112722"/>
            <a:ext cx="7315200" cy="2061556"/>
          </a:xfrm>
          <a:custGeom>
            <a:avLst/>
            <a:gdLst/>
            <a:ahLst/>
            <a:cxnLst/>
            <a:rect r="r" b="b" t="t" l="l"/>
            <a:pathLst>
              <a:path h="2061556" w="7315200">
                <a:moveTo>
                  <a:pt x="0" y="0"/>
                </a:moveTo>
                <a:lnTo>
                  <a:pt x="7315200" y="0"/>
                </a:lnTo>
                <a:lnTo>
                  <a:pt x="7315200" y="2061556"/>
                </a:lnTo>
                <a:lnTo>
                  <a:pt x="0" y="20615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4791434" y="-196457"/>
            <a:ext cx="5652695" cy="1366924"/>
          </a:xfrm>
          <a:custGeom>
            <a:avLst/>
            <a:gdLst/>
            <a:ahLst/>
            <a:cxnLst/>
            <a:rect r="r" b="b" t="t" l="l"/>
            <a:pathLst>
              <a:path h="1366924" w="5652695">
                <a:moveTo>
                  <a:pt x="5652695" y="0"/>
                </a:moveTo>
                <a:lnTo>
                  <a:pt x="0" y="0"/>
                </a:lnTo>
                <a:lnTo>
                  <a:pt x="0" y="1366925"/>
                </a:lnTo>
                <a:lnTo>
                  <a:pt x="5652695" y="1366925"/>
                </a:lnTo>
                <a:lnTo>
                  <a:pt x="565269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2156129" y="8872350"/>
            <a:ext cx="6662470" cy="1611106"/>
          </a:xfrm>
          <a:custGeom>
            <a:avLst/>
            <a:gdLst/>
            <a:ahLst/>
            <a:cxnLst/>
            <a:rect r="r" b="b" t="t" l="l"/>
            <a:pathLst>
              <a:path h="1611106" w="6662470">
                <a:moveTo>
                  <a:pt x="6662470" y="0"/>
                </a:moveTo>
                <a:lnTo>
                  <a:pt x="0" y="0"/>
                </a:lnTo>
                <a:lnTo>
                  <a:pt x="0" y="1611107"/>
                </a:lnTo>
                <a:lnTo>
                  <a:pt x="6662470" y="1611107"/>
                </a:lnTo>
                <a:lnTo>
                  <a:pt x="666247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DAHZSRTkgh0</dc:identifier>
  <dcterms:modified xsi:type="dcterms:W3CDTF">2011-08-01T06:04:30Z</dcterms:modified>
  <cp:revision>1</cp:revision>
  <dc:title>Nhom7_BDG2_FULL_SoLieuDaCapNhat.pptx</dc:title>
</cp:coreProperties>
</file>